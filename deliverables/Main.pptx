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eaf71a-2a2b-c61c-c1f0-71ece5d1474a}">
          <p14:sldIdLst>
            <p14:sldId id="256"/>
            <p14:sldId id="257"/>
            <p14:sldId id="258"/>
            <p14:sldId id="259"/>
          </p14:sldIdLst>
        </p14:section>
        <p14:section name="Product" id="{bcbda12d-8d38-de5c-8cfe-264e4f36238c}">
          <p14:sldIdLst>
            <p14:sldId id="260"/>
            <p14:sldId id="261"/>
            <p14:sldId id="262"/>
            <p14:sldId id="263"/>
            <p14:sldId id="264"/>
          </p14:sldIdLst>
        </p14:section>
        <p14:section name="Impact" id="{0b19f482-ac94-3b4a-fd1e-1d57c92df68d}">
          <p14:sldIdLst>
            <p14:sldId id="265"/>
            <p14:sldId id="266"/>
            <p14:sldId id="267"/>
            <p14:sldId id="2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tech. VisionMate is a voice-first assistant that runs in the mobile browser for blind and low-vision users. It speaks seven Indian languages and needs no install and no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everyday gaps: printed text, screen-dependent apps, English-only tools, and slow help in an emergency. One app addresses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voice first, camera only when asked, seven languages, and guest mode so there is no sign-up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users are blind and low-vision people, plus elderly users and regional-language speakers. Guest mode removes the sign-up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tools: Vision Lens, Voice agent, Go route estimate, Translator, Emergency, and Notes and reminders. Accounts and insights sit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shows an illustrative sample result. Five focus modes, plus object search and optional 30-second scene updates. One still image per request, and every result is marked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six-button bottom bar is always in thumb reach. Press-and-hold Talk is the main control. Commands are matched locally first; anything else goes to Gemini, which returns a structured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installs like an app and works as a PWA. Be upfront about what a website cannot do. Those are native Android features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never holds provider keys. It calls Supabase Edge Functions, which call Gemini, Bhashini and Anuvaadhub. Guest data stays on the device. Routes go straight to Photon and Valhalla, only after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with printed text, no screen needed, own language, and a safety net. Free, no store install, works without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yourself before a judge does. Needs internet for AI; routes are estimates; no obstacle detection; voices vary by device; reminders may not fire after the browser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is proposed, not built: a native Android app for volume-button shortcuts and wake-word listening, on-device OCR for offline reading, and a validated navigation partner for turn-by-turn.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live demo: open Vision Lens by voice, read a menu, then show the SOS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rtlCol="0"/>
          <a:lstStyle>
            <a:lvl1pPr marL="0" indent="0" algn="l">
              <a:buNone/>
              <a:def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000" dirty="0"/>
          </a:p>
        </p:txBody>
      </p:sp>
      <p:sp>
        <p:nvSpPr>
          <p:cNvPr id="3" name="Text 0"/>
          <p:cNvSpPr/>
          <p:nvPr/>
        </p:nvSpPr>
        <p:spPr>
          <a:xfrm>
            <a:off x="457200" y="4800600"/>
            <a:ext cx="3657600" cy="228600"/>
          </a:xfrm>
          <a:prstGeom prst="rect">
            <a:avLst/>
          </a:prstGeom>
          <a:noFill/>
        </p:spPr>
        <p:txBody>
          <a:bodyPr wrap="square" lIns="0" tIns="0" rIns="0" bIns="0" rtlCol="0" anchor="ctr"/>
          <a:lstStyle/>
          <a:p>
            <a:pPr marL="0" indent="0">
              <a:buNone/>
            </a:pPr>
            <a:r>
              <a:rPr lang="en-US" sz="900" dirty="0">
                <a:solidFill>
                  <a:srgbClr val="8A7B70"/>
                </a:solidFill>
                <a:latin typeface="Calibri" panose="020F0502020204030204" pitchFamily="34" charset="0"/>
                <a:ea typeface="Calibri" panose="020F0502020204030204" pitchFamily="34" charset="-122"/>
                <a:cs typeface="Calibri" panose="020F0502020204030204" pitchFamily="34" charset="-120"/>
              </a:rPr>
              <a:t>VisionMate · Hackathon review</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R">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5577840" cy="822960"/>
          </a:xfrm>
          <a:prstGeom prst="rect">
            <a:avLst/>
          </a:prstGeom>
          <a:noFill/>
        </p:spPr>
        <p:txBody>
          <a:bodyPr wrap="square" rtlCol="0"/>
          <a:lstStyle>
            <a:lvl1pPr marL="0" indent="0" algn="l">
              <a:buNone/>
              <a:def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000" dirty="0"/>
          </a:p>
        </p:txBody>
      </p:sp>
      <p:sp>
        <p:nvSpPr>
          <p:cNvPr id="3" name="Text 0"/>
          <p:cNvSpPr/>
          <p:nvPr/>
        </p:nvSpPr>
        <p:spPr>
          <a:xfrm>
            <a:off x="457200" y="4800600"/>
            <a:ext cx="3657600" cy="228600"/>
          </a:xfrm>
          <a:prstGeom prst="rect">
            <a:avLst/>
          </a:prstGeom>
          <a:noFill/>
        </p:spPr>
        <p:txBody>
          <a:bodyPr wrap="square" lIns="0" tIns="0" rIns="0" bIns="0" rtlCol="0" anchor="ctr"/>
          <a:lstStyle/>
          <a:p>
            <a:pPr marL="0" indent="0">
              <a:buNone/>
            </a:pPr>
            <a:r>
              <a:rPr lang="en-US" sz="900" dirty="0">
                <a:solidFill>
                  <a:srgbClr val="8A7B70"/>
                </a:solidFill>
                <a:latin typeface="Calibri" panose="020F0502020204030204" pitchFamily="34" charset="0"/>
                <a:ea typeface="Calibri" panose="020F0502020204030204" pitchFamily="34" charset="-122"/>
                <a:cs typeface="Calibri" panose="020F0502020204030204" pitchFamily="34" charset="-120"/>
              </a:rPr>
              <a:t>VisionMate · Hackathon review</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L">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3566160" y="274320"/>
            <a:ext cx="5120640" cy="822960"/>
          </a:xfrm>
          <a:prstGeom prst="rect">
            <a:avLst/>
          </a:prstGeom>
          <a:noFill/>
        </p:spPr>
        <p:txBody>
          <a:bodyPr wrap="square" rtlCol="0"/>
          <a:lstStyle>
            <a:lvl1pPr marL="0" indent="0" algn="l">
              <a:buNone/>
              <a:def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000" dirty="0"/>
          </a:p>
        </p:txBody>
      </p:sp>
      <p:sp>
        <p:nvSpPr>
          <p:cNvPr id="3" name="Text 0"/>
          <p:cNvSpPr/>
          <p:nvPr/>
        </p:nvSpPr>
        <p:spPr>
          <a:xfrm>
            <a:off x="457200" y="4800600"/>
            <a:ext cx="3657600" cy="228600"/>
          </a:xfrm>
          <a:prstGeom prst="rect">
            <a:avLst/>
          </a:prstGeom>
          <a:noFill/>
        </p:spPr>
        <p:txBody>
          <a:bodyPr wrap="square" lIns="0" tIns="0" rIns="0" bIns="0" rtlCol="0" anchor="ctr"/>
          <a:lstStyle/>
          <a:p>
            <a:pPr marL="0" indent="0">
              <a:buNone/>
            </a:pPr>
            <a:r>
              <a:rPr lang="en-US" sz="900" dirty="0">
                <a:solidFill>
                  <a:srgbClr val="8A7B70"/>
                </a:solidFill>
                <a:latin typeface="Calibri" panose="020F0502020204030204" pitchFamily="34" charset="0"/>
                <a:ea typeface="Calibri" panose="020F0502020204030204" pitchFamily="34" charset="-122"/>
                <a:cs typeface="Calibri" panose="020F0502020204030204" pitchFamily="34" charset="-120"/>
              </a:rPr>
              <a:t>VisionMate · Hackathon review</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F161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4" Type="http://schemas.openxmlformats.org/officeDocument/2006/relationships/notesSlide" Target="../notesSlides/notesSlide1.xml"/><Relationship Id="rId13" Type="http://schemas.openxmlformats.org/officeDocument/2006/relationships/slideLayout" Target="../slideLayouts/slideLayout5.xml"/><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18.png"/><Relationship Id="rId3" Type="http://schemas.openxmlformats.org/officeDocument/2006/relationships/image" Target="../media/image15.png"/><Relationship Id="rId2" Type="http://schemas.openxmlformats.org/officeDocument/2006/relationships/image" Target="../media/image2.png"/><Relationship Id="rId12" Type="http://schemas.openxmlformats.org/officeDocument/2006/relationships/notesSlide" Target="../notesSlides/notesSlide3.xml"/><Relationship Id="rId11" Type="http://schemas.openxmlformats.org/officeDocument/2006/relationships/slideLayout" Target="../slideLayouts/slideLayout3.xml"/><Relationship Id="rId10" Type="http://schemas.openxmlformats.org/officeDocument/2006/relationships/image" Target="../media/image12.png"/><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2.png"/><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4.xml"/><Relationship Id="rId7" Type="http://schemas.openxmlformats.org/officeDocument/2006/relationships/image" Target="../media/image25.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png"/><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8.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image" Target="../media/image3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14.png"/><Relationship Id="rId1" Type="http://schemas.openxmlformats.org/officeDocument/2006/relationships/image" Target="../media/image37.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9.png"/><Relationship Id="rId3" Type="http://schemas.openxmlformats.org/officeDocument/2006/relationships/image" Target="../media/image7.png"/><Relationship Id="rId2" Type="http://schemas.openxmlformats.org/officeDocument/2006/relationships/image" Target="../media/image40.png"/><Relationship Id="rId10" Type="http://schemas.openxmlformats.org/officeDocument/2006/relationships/notesSlide" Target="../notesSlides/notesSlide1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12080" y="457200"/>
            <a:ext cx="4206240" cy="4206240"/>
          </a:xfrm>
          <a:prstGeom prst="ellipse">
            <a:avLst/>
          </a:prstGeom>
          <a:solidFill>
            <a:srgbClr val="C2410C">
              <a:alpha val="18000"/>
            </a:srgbClr>
          </a:solidFill>
          <a:ln w="6350">
            <a:solidFill>
              <a:srgbClr val="C2410C"/>
            </a:solidFill>
            <a:prstDash val="solid"/>
          </a:ln>
        </p:spPr>
      </p:sp>
      <p:sp>
        <p:nvSpPr>
          <p:cNvPr id="3" name="Shape 1"/>
          <p:cNvSpPr/>
          <p:nvPr/>
        </p:nvSpPr>
        <p:spPr>
          <a:xfrm>
            <a:off x="5760720" y="1005840"/>
            <a:ext cx="3108960" cy="3108960"/>
          </a:xfrm>
          <a:prstGeom prst="ellipse">
            <a:avLst/>
          </a:prstGeom>
          <a:solidFill>
            <a:srgbClr val="C2410C">
              <a:alpha val="22000"/>
            </a:srgbClr>
          </a:solidFill>
          <a:ln w="6350">
            <a:solidFill>
              <a:srgbClr val="C2410C"/>
            </a:solidFill>
            <a:prstDash val="solid"/>
          </a:ln>
        </p:spPr>
      </p:sp>
      <p:pic>
        <p:nvPicPr>
          <p:cNvPr id="4" name="Image 0" descr="logo.png"/>
          <p:cNvPicPr>
            <a:picLocks noChangeAspect="1"/>
          </p:cNvPicPr>
          <p:nvPr/>
        </p:nvPicPr>
        <p:blipFill>
          <a:blip r:embed="rId1"/>
          <a:stretch>
            <a:fillRect/>
          </a:stretch>
        </p:blipFill>
        <p:spPr>
          <a:xfrm>
            <a:off x="548640" y="502920"/>
            <a:ext cx="457200" cy="404165"/>
          </a:xfrm>
          <a:prstGeom prst="rect">
            <a:avLst/>
          </a:prstGeom>
        </p:spPr>
      </p:pic>
      <p:sp>
        <p:nvSpPr>
          <p:cNvPr id="5" name="Text 2"/>
          <p:cNvSpPr txBox="1"/>
          <p:nvPr/>
        </p:nvSpPr>
        <p:spPr>
          <a:xfrm>
            <a:off x="548640" y="1417320"/>
            <a:ext cx="4572000" cy="228600"/>
          </a:xfrm>
          <a:prstGeom prst="rect">
            <a:avLst/>
          </a:prstGeom>
          <a:noFill/>
        </p:spPr>
        <p:txBody>
          <a:bodyPr wrap="square" lIns="0" tIns="0" rIns="0" bIns="0" rtlCol="0" anchor="t"/>
          <a:lstStyle/>
          <a:p>
            <a:pPr marL="0" indent="0">
              <a:buNone/>
            </a:pPr>
            <a:r>
              <a:rPr lang="en-US" sz="1200" b="1" kern="0" spc="300" dirty="0">
                <a:solidFill>
                  <a:srgbClr val="F59E6B"/>
                </a:solidFill>
                <a:latin typeface="Calibri" panose="020F0502020204030204" pitchFamily="34" charset="0"/>
                <a:ea typeface="Calibri" panose="020F0502020204030204" pitchFamily="34" charset="-122"/>
                <a:cs typeface="Calibri" panose="020F0502020204030204" pitchFamily="34" charset="-120"/>
              </a:rPr>
              <a:t>HACKATHON REVIEW</a:t>
            </a:r>
            <a:endParaRPr lang="en-US" sz="1200" dirty="0"/>
          </a:p>
        </p:txBody>
      </p:sp>
      <p:sp>
        <p:nvSpPr>
          <p:cNvPr id="6" name="Text 3"/>
          <p:cNvSpPr txBox="1"/>
          <p:nvPr/>
        </p:nvSpPr>
        <p:spPr>
          <a:xfrm>
            <a:off x="548640" y="1691640"/>
            <a:ext cx="5029200" cy="1005840"/>
          </a:xfrm>
          <a:prstGeom prst="rect">
            <a:avLst/>
          </a:prstGeom>
          <a:noFill/>
        </p:spPr>
        <p:txBody>
          <a:bodyPr wrap="square" lIns="0" tIns="0" rIns="0" bIns="0" rtlCol="0" anchor="t"/>
          <a:lstStyle/>
          <a:p>
            <a:pPr marL="0" indent="0">
              <a:buNone/>
            </a:pPr>
            <a:r>
              <a:rPr lang="en-US" sz="5800" b="1" dirty="0">
                <a:solidFill>
                  <a:srgbClr val="FFFFFF"/>
                </a:solidFill>
                <a:latin typeface="Cambria" panose="02040503050406030204" pitchFamily="34" charset="0"/>
                <a:ea typeface="Cambria" panose="02040503050406030204" pitchFamily="34" charset="-122"/>
                <a:cs typeface="Cambria" panose="02040503050406030204" pitchFamily="34" charset="-120"/>
              </a:rPr>
              <a:t>VisionMate</a:t>
            </a:r>
            <a:endParaRPr lang="en-US" sz="5800" dirty="0"/>
          </a:p>
        </p:txBody>
      </p:sp>
      <p:sp>
        <p:nvSpPr>
          <p:cNvPr id="7" name="Text 4"/>
          <p:cNvSpPr txBox="1"/>
          <p:nvPr/>
        </p:nvSpPr>
        <p:spPr>
          <a:xfrm>
            <a:off x="548640" y="2743200"/>
            <a:ext cx="4572000" cy="731520"/>
          </a:xfrm>
          <a:prstGeom prst="rect">
            <a:avLst/>
          </a:prstGeom>
          <a:noFill/>
        </p:spPr>
        <p:txBody>
          <a:bodyPr wrap="square" lIns="0" tIns="0" rIns="0" bIns="0" rtlCol="0" anchor="t"/>
          <a:lstStyle/>
          <a:p>
            <a:pPr marL="0" indent="0">
              <a:buNone/>
            </a:pPr>
            <a:r>
              <a:rPr lang="en-US" sz="2000" dirty="0">
                <a:solidFill>
                  <a:srgbClr val="F0D6C3"/>
                </a:solidFill>
                <a:latin typeface="Calibri" panose="020F0502020204030204" pitchFamily="34" charset="0"/>
                <a:ea typeface="Calibri" panose="020F0502020204030204" pitchFamily="34" charset="-122"/>
                <a:cs typeface="Calibri" panose="020F0502020204030204" pitchFamily="34" charset="-120"/>
              </a:rPr>
              <a:t>A voice-first assistant for blind and low-vision people.</a:t>
            </a:r>
            <a:endParaRPr lang="en-US" sz="2000" dirty="0"/>
          </a:p>
        </p:txBody>
      </p:sp>
      <p:sp>
        <p:nvSpPr>
          <p:cNvPr id="8" name="Shape 5"/>
          <p:cNvSpPr/>
          <p:nvPr/>
        </p:nvSpPr>
        <p:spPr>
          <a:xfrm>
            <a:off x="548640" y="3703320"/>
            <a:ext cx="2148840" cy="347472"/>
          </a:xfrm>
          <a:prstGeom prst="roundRect">
            <a:avLst>
              <a:gd name="adj" fmla="val 50000"/>
            </a:avLst>
          </a:prstGeom>
          <a:solidFill>
            <a:srgbClr val="C2410C"/>
          </a:solidFill>
          <a:ln w="6350">
            <a:solidFill>
              <a:srgbClr val="C2410C"/>
            </a:solidFill>
            <a:prstDash val="solid"/>
          </a:ln>
        </p:spPr>
      </p:sp>
      <p:sp>
        <p:nvSpPr>
          <p:cNvPr id="9" name="Text 6"/>
          <p:cNvSpPr txBox="1"/>
          <p:nvPr/>
        </p:nvSpPr>
        <p:spPr>
          <a:xfrm>
            <a:off x="556260" y="3703320"/>
            <a:ext cx="2148840" cy="347472"/>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Mobile web app </a:t>
            </a:r>
            <a:endParaRPr lang="en-US" sz="1150" dirty="0"/>
          </a:p>
        </p:txBody>
      </p:sp>
      <p:sp>
        <p:nvSpPr>
          <p:cNvPr id="10" name="Shape 7"/>
          <p:cNvSpPr/>
          <p:nvPr/>
        </p:nvSpPr>
        <p:spPr>
          <a:xfrm>
            <a:off x="2834640" y="3703320"/>
            <a:ext cx="2148840" cy="347472"/>
          </a:xfrm>
          <a:prstGeom prst="roundRect">
            <a:avLst>
              <a:gd name="adj" fmla="val 50000"/>
            </a:avLst>
          </a:prstGeom>
          <a:solidFill>
            <a:srgbClr val="1F1612"/>
          </a:solidFill>
          <a:ln w="12700">
            <a:solidFill>
              <a:srgbClr val="F59E6B"/>
            </a:solidFill>
            <a:prstDash val="solid"/>
          </a:ln>
        </p:spPr>
      </p:sp>
      <p:sp>
        <p:nvSpPr>
          <p:cNvPr id="11" name="Text 8"/>
          <p:cNvSpPr txBox="1"/>
          <p:nvPr/>
        </p:nvSpPr>
        <p:spPr>
          <a:xfrm>
            <a:off x="2834640" y="3703320"/>
            <a:ext cx="2148840" cy="347472"/>
          </a:xfrm>
          <a:prstGeom prst="rect">
            <a:avLst/>
          </a:prstGeom>
          <a:noFill/>
        </p:spPr>
        <p:txBody>
          <a:bodyPr wrap="square" lIns="0" tIns="0" rIns="0" bIns="0" rtlCol="0" anchor="ctr"/>
          <a:lstStyle/>
          <a:p>
            <a:pPr marL="0" indent="0" algn="ctr">
              <a:buNone/>
            </a:pPr>
            <a:r>
              <a:rPr lang="en-US" sz="1150" b="1" dirty="0">
                <a:solidFill>
                  <a:srgbClr val="F59E6B"/>
                </a:solidFill>
                <a:latin typeface="Calibri" panose="020F0502020204030204" pitchFamily="34" charset="0"/>
                <a:ea typeface="Calibri" panose="020F0502020204030204" pitchFamily="34" charset="-122"/>
                <a:cs typeface="Calibri" panose="020F0502020204030204" pitchFamily="34" charset="-120"/>
              </a:rPr>
              <a:t>7 Indian languages</a:t>
            </a:r>
            <a:endParaRPr lang="en-US" sz="1150" dirty="0"/>
          </a:p>
        </p:txBody>
      </p:sp>
      <p:sp>
        <p:nvSpPr>
          <p:cNvPr id="12" name="Shape 9"/>
          <p:cNvSpPr/>
          <p:nvPr/>
        </p:nvSpPr>
        <p:spPr>
          <a:xfrm>
            <a:off x="6126480" y="347472"/>
            <a:ext cx="2286000" cy="4480560"/>
          </a:xfrm>
          <a:prstGeom prst="roundRect">
            <a:avLst>
              <a:gd name="adj" fmla="val 12800"/>
            </a:avLst>
          </a:prstGeom>
          <a:solidFill>
            <a:srgbClr val="1F1612"/>
          </a:solidFill>
          <a:ln w="6350">
            <a:solidFill>
              <a:srgbClr val="1F1612"/>
            </a:solidFill>
            <a:prstDash val="solid"/>
          </a:ln>
          <a:effectLst>
            <a:outerShdw blurRad="127000" dist="38100" dir="5400000" algn="bl" rotWithShape="0">
              <a:srgbClr val="000000">
                <a:alpha val="18000"/>
              </a:srgbClr>
            </a:outerShdw>
          </a:effectLst>
        </p:spPr>
      </p:sp>
      <p:sp>
        <p:nvSpPr>
          <p:cNvPr id="13" name="Shape 10"/>
          <p:cNvSpPr/>
          <p:nvPr/>
        </p:nvSpPr>
        <p:spPr>
          <a:xfrm>
            <a:off x="6199632" y="420624"/>
            <a:ext cx="2139696" cy="4334256"/>
          </a:xfrm>
          <a:prstGeom prst="roundRect">
            <a:avLst>
              <a:gd name="adj" fmla="val 11111"/>
            </a:avLst>
          </a:prstGeom>
          <a:solidFill>
            <a:srgbClr val="FFFAF5"/>
          </a:solidFill>
          <a:ln w="6350">
            <a:solidFill>
              <a:srgbClr val="FFFAF5"/>
            </a:solidFill>
            <a:prstDash val="solid"/>
          </a:ln>
        </p:spPr>
      </p:sp>
      <p:sp>
        <p:nvSpPr>
          <p:cNvPr id="14" name="Shape 11"/>
          <p:cNvSpPr/>
          <p:nvPr/>
        </p:nvSpPr>
        <p:spPr>
          <a:xfrm>
            <a:off x="6903720" y="475488"/>
            <a:ext cx="731520" cy="109728"/>
          </a:xfrm>
          <a:prstGeom prst="roundRect">
            <a:avLst>
              <a:gd name="adj" fmla="val 50000"/>
            </a:avLst>
          </a:prstGeom>
          <a:solidFill>
            <a:srgbClr val="1F1612"/>
          </a:solidFill>
          <a:ln w="6350">
            <a:solidFill>
              <a:srgbClr val="1F1612"/>
            </a:solidFill>
            <a:prstDash val="solid"/>
          </a:ln>
        </p:spPr>
      </p:sp>
      <p:sp>
        <p:nvSpPr>
          <p:cNvPr id="15" name="Text 12"/>
          <p:cNvSpPr txBox="1"/>
          <p:nvPr/>
        </p:nvSpPr>
        <p:spPr>
          <a:xfrm>
            <a:off x="6364224" y="786384"/>
            <a:ext cx="1865376" cy="137160"/>
          </a:xfrm>
          <a:prstGeom prst="rect">
            <a:avLst/>
          </a:prstGeom>
          <a:noFill/>
        </p:spPr>
        <p:txBody>
          <a:bodyPr wrap="square" lIns="0" tIns="0" rIns="0" bIns="0" rtlCol="0" anchor="t"/>
          <a:lstStyle/>
          <a:p>
            <a:pPr marL="0" indent="0">
              <a:buNone/>
            </a:pPr>
            <a:r>
              <a:rPr lang="en-US" sz="700" b="1" kern="0" spc="100" dirty="0">
                <a:solidFill>
                  <a:srgbClr val="C2410C"/>
                </a:solidFill>
                <a:latin typeface="Calibri" panose="020F0502020204030204" pitchFamily="34" charset="0"/>
                <a:ea typeface="Calibri" panose="020F0502020204030204" pitchFamily="34" charset="-122"/>
                <a:cs typeface="Calibri" panose="020F0502020204030204" pitchFamily="34" charset="-120"/>
              </a:rPr>
              <a:t>YOUR ASSISTANT</a:t>
            </a:r>
            <a:endParaRPr lang="en-US" sz="700" dirty="0"/>
          </a:p>
        </p:txBody>
      </p:sp>
      <p:sp>
        <p:nvSpPr>
          <p:cNvPr id="16" name="Text 13"/>
          <p:cNvSpPr txBox="1"/>
          <p:nvPr/>
        </p:nvSpPr>
        <p:spPr>
          <a:xfrm>
            <a:off x="6364224" y="950976"/>
            <a:ext cx="1865376" cy="274320"/>
          </a:xfrm>
          <a:prstGeom prst="rect">
            <a:avLst/>
          </a:prstGeom>
          <a:noFill/>
        </p:spPr>
        <p:txBody>
          <a:bodyPr wrap="square" lIns="0" tIns="0" rIns="0" bIns="0" rtlCol="0" anchor="t"/>
          <a:lstStyle/>
          <a:p>
            <a:pPr marL="0" indent="0">
              <a:buNone/>
            </a:pPr>
            <a:r>
              <a:rPr lang="en-US" sz="1500" b="1" dirty="0">
                <a:solidFill>
                  <a:srgbClr val="1F1612"/>
                </a:solidFill>
                <a:latin typeface="Cambria" panose="02040503050406030204" pitchFamily="34" charset="0"/>
                <a:ea typeface="Cambria" panose="02040503050406030204" pitchFamily="34" charset="-122"/>
                <a:cs typeface="Cambria" panose="02040503050406030204" pitchFamily="34" charset="-120"/>
              </a:rPr>
              <a:t>Hello, friend</a:t>
            </a:r>
            <a:endParaRPr lang="en-US" sz="1500" dirty="0"/>
          </a:p>
        </p:txBody>
      </p:sp>
      <p:sp>
        <p:nvSpPr>
          <p:cNvPr id="17" name="Text 14"/>
          <p:cNvSpPr txBox="1"/>
          <p:nvPr/>
        </p:nvSpPr>
        <p:spPr>
          <a:xfrm>
            <a:off x="6364224" y="1243584"/>
            <a:ext cx="1865376" cy="182880"/>
          </a:xfrm>
          <a:prstGeom prst="rect">
            <a:avLst/>
          </a:prstGeom>
          <a:noFill/>
        </p:spPr>
        <p:txBody>
          <a:bodyPr wrap="square" lIns="0" tIns="0" rIns="0" bIns="0" rtlCol="0" anchor="t"/>
          <a:lstStyle/>
          <a:p>
            <a:pPr marL="0" indent="0">
              <a:buNone/>
            </a:pPr>
            <a:r>
              <a:rPr lang="en-US" sz="800" dirty="0">
                <a:solidFill>
                  <a:srgbClr val="6E6057"/>
                </a:solidFill>
                <a:latin typeface="Calibri" panose="020F0502020204030204" pitchFamily="34" charset="0"/>
                <a:ea typeface="Calibri" panose="020F0502020204030204" pitchFamily="34" charset="-122"/>
                <a:cs typeface="Calibri" panose="020F0502020204030204" pitchFamily="34" charset="-120"/>
              </a:rPr>
              <a:t>What would you like help with?</a:t>
            </a:r>
            <a:endParaRPr lang="en-US" sz="800" dirty="0"/>
          </a:p>
        </p:txBody>
      </p:sp>
      <p:sp>
        <p:nvSpPr>
          <p:cNvPr id="18" name="Shape 15"/>
          <p:cNvSpPr/>
          <p:nvPr/>
        </p:nvSpPr>
        <p:spPr>
          <a:xfrm>
            <a:off x="6336792" y="1517904"/>
            <a:ext cx="1865376" cy="640080"/>
          </a:xfrm>
          <a:prstGeom prst="roundRect">
            <a:avLst>
              <a:gd name="adj" fmla="val 17143"/>
            </a:avLst>
          </a:prstGeom>
          <a:solidFill>
            <a:srgbClr val="C2410C"/>
          </a:solidFill>
          <a:ln w="6350">
            <a:solidFill>
              <a:srgbClr val="C2410C"/>
            </a:solidFill>
            <a:prstDash val="solid"/>
          </a:ln>
        </p:spPr>
      </p:sp>
      <p:pic>
        <p:nvPicPr>
          <p:cNvPr id="19" name="Image 1" descr="preencoded.png"/>
          <p:cNvPicPr>
            <a:picLocks noChangeAspect="1"/>
          </p:cNvPicPr>
          <p:nvPr/>
        </p:nvPicPr>
        <p:blipFill>
          <a:blip r:embed="rId2"/>
          <a:stretch>
            <a:fillRect/>
          </a:stretch>
        </p:blipFill>
        <p:spPr>
          <a:xfrm>
            <a:off x="6455664" y="1700784"/>
            <a:ext cx="256032" cy="256032"/>
          </a:xfrm>
          <a:prstGeom prst="rect">
            <a:avLst/>
          </a:prstGeom>
        </p:spPr>
      </p:pic>
      <p:sp>
        <p:nvSpPr>
          <p:cNvPr id="20" name="Text 16"/>
          <p:cNvSpPr txBox="1"/>
          <p:nvPr/>
        </p:nvSpPr>
        <p:spPr>
          <a:xfrm>
            <a:off x="6803136" y="1609344"/>
            <a:ext cx="1271016" cy="201168"/>
          </a:xfrm>
          <a:prstGeom prst="rect">
            <a:avLst/>
          </a:prstGeom>
          <a:noFill/>
        </p:spPr>
        <p:txBody>
          <a:bodyPr wrap="square" lIns="0" tIns="0" rIns="0" bIns="0" rtlCol="0" anchor="t"/>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Open Vision Lens</a:t>
            </a:r>
            <a:endParaRPr lang="en-US" sz="1000" dirty="0"/>
          </a:p>
        </p:txBody>
      </p:sp>
      <p:sp>
        <p:nvSpPr>
          <p:cNvPr id="21" name="Text 17"/>
          <p:cNvSpPr txBox="1"/>
          <p:nvPr/>
        </p:nvSpPr>
        <p:spPr>
          <a:xfrm>
            <a:off x="6803136" y="1828800"/>
            <a:ext cx="1271016" cy="201168"/>
          </a:xfrm>
          <a:prstGeom prst="rect">
            <a:avLst/>
          </a:prstGeom>
          <a:noFill/>
        </p:spPr>
        <p:txBody>
          <a:bodyPr wrap="square" lIns="0" tIns="0" rIns="0" bIns="0" rtlCol="0" anchor="t"/>
          <a:lstStyle/>
          <a:p>
            <a:pPr marL="0" indent="0">
              <a:buNone/>
            </a:pPr>
            <a:r>
              <a:rPr lang="en-US" sz="750" dirty="0">
                <a:solidFill>
                  <a:srgbClr val="FFE8D6"/>
                </a:solidFill>
                <a:latin typeface="Calibri" panose="020F0502020204030204" pitchFamily="34" charset="0"/>
                <a:ea typeface="Calibri" panose="020F0502020204030204" pitchFamily="34" charset="-122"/>
                <a:cs typeface="Calibri" panose="020F0502020204030204" pitchFamily="34" charset="-120"/>
              </a:rPr>
              <a:t>Read a menu, label or document</a:t>
            </a:r>
            <a:endParaRPr lang="en-US" sz="750" dirty="0"/>
          </a:p>
        </p:txBody>
      </p:sp>
      <p:sp>
        <p:nvSpPr>
          <p:cNvPr id="22" name="Shape 18"/>
          <p:cNvSpPr/>
          <p:nvPr/>
        </p:nvSpPr>
        <p:spPr>
          <a:xfrm>
            <a:off x="6336792" y="2295144"/>
            <a:ext cx="886968" cy="658368"/>
          </a:xfrm>
          <a:prstGeom prst="roundRect">
            <a:avLst>
              <a:gd name="adj" fmla="val 13889"/>
            </a:avLst>
          </a:prstGeom>
          <a:solidFill>
            <a:srgbClr val="FFF3E8"/>
          </a:solidFill>
          <a:ln w="6350">
            <a:solidFill>
              <a:srgbClr val="F0D6C3"/>
            </a:solidFill>
            <a:prstDash val="solid"/>
          </a:ln>
        </p:spPr>
      </p:sp>
      <p:pic>
        <p:nvPicPr>
          <p:cNvPr id="23" name="Image 2" descr="preencoded.png"/>
          <p:cNvPicPr>
            <a:picLocks noChangeAspect="1"/>
          </p:cNvPicPr>
          <p:nvPr/>
        </p:nvPicPr>
        <p:blipFill>
          <a:blip r:embed="rId3"/>
          <a:stretch>
            <a:fillRect/>
          </a:stretch>
        </p:blipFill>
        <p:spPr>
          <a:xfrm>
            <a:off x="6428232" y="2404872"/>
            <a:ext cx="201168" cy="201168"/>
          </a:xfrm>
          <a:prstGeom prst="rect">
            <a:avLst/>
          </a:prstGeom>
        </p:spPr>
      </p:pic>
      <p:sp>
        <p:nvSpPr>
          <p:cNvPr id="24" name="Text 19"/>
          <p:cNvSpPr txBox="1"/>
          <p:nvPr/>
        </p:nvSpPr>
        <p:spPr>
          <a:xfrm>
            <a:off x="6428232" y="2679192"/>
            <a:ext cx="749808" cy="201168"/>
          </a:xfrm>
          <a:prstGeom prst="rect">
            <a:avLst/>
          </a:prstGeom>
          <a:noFill/>
        </p:spPr>
        <p:txBody>
          <a:bodyPr wrap="square" lIns="0" tIns="0" rIns="0" bIns="0" rtlCol="0" anchor="t"/>
          <a:lstStyle/>
          <a:p>
            <a:pPr marL="0" indent="0">
              <a:buNone/>
            </a:pPr>
            <a:r>
              <a:rPr lang="en-US" sz="850" b="1" dirty="0">
                <a:solidFill>
                  <a:srgbClr val="1F1612"/>
                </a:solidFill>
                <a:latin typeface="Calibri" panose="020F0502020204030204" pitchFamily="34" charset="0"/>
                <a:ea typeface="Calibri" panose="020F0502020204030204" pitchFamily="34" charset="-122"/>
                <a:cs typeface="Calibri" panose="020F0502020204030204" pitchFamily="34" charset="-120"/>
              </a:rPr>
              <a:t>Vision Lens</a:t>
            </a:r>
            <a:endParaRPr lang="en-US" sz="850" dirty="0"/>
          </a:p>
        </p:txBody>
      </p:sp>
      <p:sp>
        <p:nvSpPr>
          <p:cNvPr id="25" name="Shape 20"/>
          <p:cNvSpPr/>
          <p:nvPr/>
        </p:nvSpPr>
        <p:spPr>
          <a:xfrm>
            <a:off x="7315200" y="2295144"/>
            <a:ext cx="886968" cy="658368"/>
          </a:xfrm>
          <a:prstGeom prst="roundRect">
            <a:avLst>
              <a:gd name="adj" fmla="val 13889"/>
            </a:avLst>
          </a:prstGeom>
          <a:solidFill>
            <a:srgbClr val="FFF3E8"/>
          </a:solidFill>
          <a:ln w="6350">
            <a:solidFill>
              <a:srgbClr val="F0D6C3"/>
            </a:solidFill>
            <a:prstDash val="solid"/>
          </a:ln>
        </p:spPr>
      </p:sp>
      <p:pic>
        <p:nvPicPr>
          <p:cNvPr id="26" name="Image 3" descr="preencoded.png"/>
          <p:cNvPicPr>
            <a:picLocks noChangeAspect="1"/>
          </p:cNvPicPr>
          <p:nvPr/>
        </p:nvPicPr>
        <p:blipFill>
          <a:blip r:embed="rId4"/>
          <a:stretch>
            <a:fillRect/>
          </a:stretch>
        </p:blipFill>
        <p:spPr>
          <a:xfrm>
            <a:off x="7406640" y="2404872"/>
            <a:ext cx="201168" cy="201168"/>
          </a:xfrm>
          <a:prstGeom prst="rect">
            <a:avLst/>
          </a:prstGeom>
        </p:spPr>
      </p:pic>
      <p:sp>
        <p:nvSpPr>
          <p:cNvPr id="27" name="Text 21"/>
          <p:cNvSpPr txBox="1"/>
          <p:nvPr/>
        </p:nvSpPr>
        <p:spPr>
          <a:xfrm>
            <a:off x="7406640" y="2679192"/>
            <a:ext cx="749808" cy="201168"/>
          </a:xfrm>
          <a:prstGeom prst="rect">
            <a:avLst/>
          </a:prstGeom>
          <a:noFill/>
        </p:spPr>
        <p:txBody>
          <a:bodyPr wrap="square" lIns="0" tIns="0" rIns="0" bIns="0" rtlCol="0" anchor="t"/>
          <a:lstStyle/>
          <a:p>
            <a:pPr marL="0" indent="0">
              <a:buNone/>
            </a:pPr>
            <a:r>
              <a:rPr lang="en-US" sz="850" b="1" dirty="0">
                <a:solidFill>
                  <a:srgbClr val="1F1612"/>
                </a:solidFill>
                <a:latin typeface="Calibri" panose="020F0502020204030204" pitchFamily="34" charset="0"/>
                <a:ea typeface="Calibri" panose="020F0502020204030204" pitchFamily="34" charset="-122"/>
                <a:cs typeface="Calibri" panose="020F0502020204030204" pitchFamily="34" charset="-120"/>
              </a:rPr>
              <a:t>Ask anything</a:t>
            </a:r>
            <a:endParaRPr lang="en-US" sz="850" dirty="0"/>
          </a:p>
        </p:txBody>
      </p:sp>
      <p:sp>
        <p:nvSpPr>
          <p:cNvPr id="28" name="Shape 22"/>
          <p:cNvSpPr/>
          <p:nvPr/>
        </p:nvSpPr>
        <p:spPr>
          <a:xfrm>
            <a:off x="6336792" y="3044952"/>
            <a:ext cx="886968" cy="658368"/>
          </a:xfrm>
          <a:prstGeom prst="roundRect">
            <a:avLst>
              <a:gd name="adj" fmla="val 13889"/>
            </a:avLst>
          </a:prstGeom>
          <a:solidFill>
            <a:srgbClr val="FFF3E8"/>
          </a:solidFill>
          <a:ln w="6350">
            <a:solidFill>
              <a:srgbClr val="F0D6C3"/>
            </a:solidFill>
            <a:prstDash val="solid"/>
          </a:ln>
        </p:spPr>
      </p:sp>
      <p:pic>
        <p:nvPicPr>
          <p:cNvPr id="29" name="Image 4" descr="preencoded.png"/>
          <p:cNvPicPr>
            <a:picLocks noChangeAspect="1"/>
          </p:cNvPicPr>
          <p:nvPr/>
        </p:nvPicPr>
        <p:blipFill>
          <a:blip r:embed="rId5"/>
          <a:stretch>
            <a:fillRect/>
          </a:stretch>
        </p:blipFill>
        <p:spPr>
          <a:xfrm>
            <a:off x="6428232" y="3154680"/>
            <a:ext cx="201168" cy="201168"/>
          </a:xfrm>
          <a:prstGeom prst="rect">
            <a:avLst/>
          </a:prstGeom>
        </p:spPr>
      </p:pic>
      <p:sp>
        <p:nvSpPr>
          <p:cNvPr id="30" name="Text 23"/>
          <p:cNvSpPr txBox="1"/>
          <p:nvPr/>
        </p:nvSpPr>
        <p:spPr>
          <a:xfrm>
            <a:off x="6428232" y="3429000"/>
            <a:ext cx="749808" cy="201168"/>
          </a:xfrm>
          <a:prstGeom prst="rect">
            <a:avLst/>
          </a:prstGeom>
          <a:noFill/>
        </p:spPr>
        <p:txBody>
          <a:bodyPr wrap="square" lIns="0" tIns="0" rIns="0" bIns="0" rtlCol="0" anchor="t"/>
          <a:lstStyle/>
          <a:p>
            <a:pPr marL="0" indent="0">
              <a:buNone/>
            </a:pPr>
            <a:r>
              <a:rPr lang="en-US" sz="850" b="1" dirty="0">
                <a:solidFill>
                  <a:srgbClr val="1F1612"/>
                </a:solidFill>
                <a:latin typeface="Calibri" panose="020F0502020204030204" pitchFamily="34" charset="0"/>
                <a:ea typeface="Calibri" panose="020F0502020204030204" pitchFamily="34" charset="-122"/>
                <a:cs typeface="Calibri" panose="020F0502020204030204" pitchFamily="34" charset="-120"/>
              </a:rPr>
              <a:t>Translate</a:t>
            </a:r>
            <a:endParaRPr lang="en-US" sz="850" dirty="0"/>
          </a:p>
        </p:txBody>
      </p:sp>
      <p:sp>
        <p:nvSpPr>
          <p:cNvPr id="31" name="Shape 24"/>
          <p:cNvSpPr/>
          <p:nvPr/>
        </p:nvSpPr>
        <p:spPr>
          <a:xfrm>
            <a:off x="7315200" y="3044952"/>
            <a:ext cx="886968" cy="658368"/>
          </a:xfrm>
          <a:prstGeom prst="roundRect">
            <a:avLst>
              <a:gd name="adj" fmla="val 13889"/>
            </a:avLst>
          </a:prstGeom>
          <a:solidFill>
            <a:srgbClr val="FDECEA"/>
          </a:solidFill>
          <a:ln w="6350">
            <a:solidFill>
              <a:srgbClr val="F0D6C3"/>
            </a:solidFill>
            <a:prstDash val="solid"/>
          </a:ln>
        </p:spPr>
      </p:sp>
      <p:pic>
        <p:nvPicPr>
          <p:cNvPr id="32" name="Image 5" descr="preencoded.png"/>
          <p:cNvPicPr>
            <a:picLocks noChangeAspect="1"/>
          </p:cNvPicPr>
          <p:nvPr/>
        </p:nvPicPr>
        <p:blipFill>
          <a:blip r:embed="rId6"/>
          <a:stretch>
            <a:fillRect/>
          </a:stretch>
        </p:blipFill>
        <p:spPr>
          <a:xfrm>
            <a:off x="7406640" y="3154680"/>
            <a:ext cx="201168" cy="201168"/>
          </a:xfrm>
          <a:prstGeom prst="rect">
            <a:avLst/>
          </a:prstGeom>
        </p:spPr>
      </p:pic>
      <p:sp>
        <p:nvSpPr>
          <p:cNvPr id="33" name="Text 25"/>
          <p:cNvSpPr txBox="1"/>
          <p:nvPr/>
        </p:nvSpPr>
        <p:spPr>
          <a:xfrm>
            <a:off x="7406640" y="3429000"/>
            <a:ext cx="749808" cy="201168"/>
          </a:xfrm>
          <a:prstGeom prst="rect">
            <a:avLst/>
          </a:prstGeom>
          <a:noFill/>
        </p:spPr>
        <p:txBody>
          <a:bodyPr wrap="square" lIns="0" tIns="0" rIns="0" bIns="0" rtlCol="0" anchor="t"/>
          <a:lstStyle/>
          <a:p>
            <a:pPr marL="0" indent="0">
              <a:buNone/>
            </a:pPr>
            <a:r>
              <a:rPr lang="en-US" sz="850" b="1" dirty="0">
                <a:solidFill>
                  <a:srgbClr val="1F1612"/>
                </a:solidFill>
                <a:latin typeface="Calibri" panose="020F0502020204030204" pitchFamily="34" charset="0"/>
                <a:ea typeface="Calibri" panose="020F0502020204030204" pitchFamily="34" charset="-122"/>
                <a:cs typeface="Calibri" panose="020F0502020204030204" pitchFamily="34" charset="-120"/>
              </a:rPr>
              <a:t>Emergency</a:t>
            </a:r>
            <a:endParaRPr lang="en-US" sz="850" dirty="0"/>
          </a:p>
        </p:txBody>
      </p:sp>
      <p:sp>
        <p:nvSpPr>
          <p:cNvPr id="34" name="Shape 26"/>
          <p:cNvSpPr/>
          <p:nvPr/>
        </p:nvSpPr>
        <p:spPr>
          <a:xfrm>
            <a:off x="6336792" y="3849624"/>
            <a:ext cx="1865376" cy="457200"/>
          </a:xfrm>
          <a:prstGeom prst="roundRect">
            <a:avLst>
              <a:gd name="adj" fmla="val 20000"/>
            </a:avLst>
          </a:prstGeom>
          <a:solidFill>
            <a:srgbClr val="FFFFFF"/>
          </a:solidFill>
          <a:ln w="6350">
            <a:solidFill>
              <a:srgbClr val="F0D6C3"/>
            </a:solidFill>
            <a:prstDash val="solid"/>
          </a:ln>
        </p:spPr>
      </p:sp>
      <p:sp>
        <p:nvSpPr>
          <p:cNvPr id="35" name="Text 27"/>
          <p:cNvSpPr txBox="1"/>
          <p:nvPr/>
        </p:nvSpPr>
        <p:spPr>
          <a:xfrm>
            <a:off x="6382512" y="4032504"/>
            <a:ext cx="530352" cy="182880"/>
          </a:xfrm>
          <a:prstGeom prst="rect">
            <a:avLst/>
          </a:prstGeom>
          <a:noFill/>
        </p:spPr>
        <p:txBody>
          <a:bodyPr wrap="square" lIns="0" tIns="0" rIns="0" bIns="0" rtlCol="0" anchor="t"/>
          <a:lstStyle/>
          <a:p>
            <a:pPr marL="0" indent="0" algn="ctr">
              <a:buNone/>
            </a:pPr>
            <a:r>
              <a:rPr lang="en-US" sz="700" dirty="0">
                <a:solidFill>
                  <a:srgbClr val="6E6057"/>
                </a:solidFill>
                <a:latin typeface="Calibri" panose="020F0502020204030204" pitchFamily="34" charset="0"/>
                <a:ea typeface="Calibri" panose="020F0502020204030204" pitchFamily="34" charset="-122"/>
                <a:cs typeface="Calibri" panose="020F0502020204030204" pitchFamily="34" charset="-120"/>
              </a:rPr>
              <a:t>Image reads</a:t>
            </a:r>
            <a:endParaRPr lang="en-US" sz="700" dirty="0"/>
          </a:p>
        </p:txBody>
      </p:sp>
      <p:sp>
        <p:nvSpPr>
          <p:cNvPr id="36" name="Text 28"/>
          <p:cNvSpPr txBox="1"/>
          <p:nvPr/>
        </p:nvSpPr>
        <p:spPr>
          <a:xfrm>
            <a:off x="6336792" y="3858768"/>
            <a:ext cx="621792" cy="182880"/>
          </a:xfrm>
          <a:prstGeom prst="rect">
            <a:avLst/>
          </a:prstGeom>
          <a:noFill/>
        </p:spPr>
        <p:txBody>
          <a:bodyPr wrap="square" lIns="0" tIns="0" rIns="0" bIns="0" rtlCol="0" anchor="t"/>
          <a:lstStyle/>
          <a:p>
            <a:pPr marL="0" indent="0" algn="ctr">
              <a:buNone/>
            </a:pPr>
            <a:r>
              <a:rPr lang="en-US" sz="1000" b="1" dirty="0">
                <a:solidFill>
                  <a:srgbClr val="C2410C"/>
                </a:solidFill>
                <a:latin typeface="Calibri" panose="020F0502020204030204" pitchFamily="34" charset="0"/>
                <a:ea typeface="Calibri" panose="020F0502020204030204" pitchFamily="34" charset="-122"/>
                <a:cs typeface="Calibri" panose="020F0502020204030204" pitchFamily="34" charset="-120"/>
              </a:rPr>
              <a:t>0</a:t>
            </a:r>
            <a:endParaRPr lang="en-US" sz="1000" dirty="0"/>
          </a:p>
        </p:txBody>
      </p:sp>
      <p:sp>
        <p:nvSpPr>
          <p:cNvPr id="37" name="Text 29"/>
          <p:cNvSpPr txBox="1"/>
          <p:nvPr/>
        </p:nvSpPr>
        <p:spPr>
          <a:xfrm>
            <a:off x="7004304" y="4032504"/>
            <a:ext cx="530352" cy="182880"/>
          </a:xfrm>
          <a:prstGeom prst="rect">
            <a:avLst/>
          </a:prstGeom>
          <a:noFill/>
        </p:spPr>
        <p:txBody>
          <a:bodyPr wrap="square" lIns="0" tIns="0" rIns="0" bIns="0" rtlCol="0" anchor="t"/>
          <a:lstStyle/>
          <a:p>
            <a:pPr marL="0" indent="0" algn="ctr">
              <a:buNone/>
            </a:pPr>
            <a:r>
              <a:rPr lang="en-US" sz="700" dirty="0">
                <a:solidFill>
                  <a:srgbClr val="6E6057"/>
                </a:solidFill>
                <a:latin typeface="Calibri" panose="020F0502020204030204" pitchFamily="34" charset="0"/>
                <a:ea typeface="Calibri" panose="020F0502020204030204" pitchFamily="34" charset="-122"/>
                <a:cs typeface="Calibri" panose="020F0502020204030204" pitchFamily="34" charset="-120"/>
              </a:rPr>
              <a:t>Saved notes</a:t>
            </a:r>
            <a:endParaRPr lang="en-US" sz="700" dirty="0"/>
          </a:p>
        </p:txBody>
      </p:sp>
      <p:sp>
        <p:nvSpPr>
          <p:cNvPr id="38" name="Text 30"/>
          <p:cNvSpPr txBox="1"/>
          <p:nvPr/>
        </p:nvSpPr>
        <p:spPr>
          <a:xfrm>
            <a:off x="6958584" y="3858768"/>
            <a:ext cx="621792" cy="182880"/>
          </a:xfrm>
          <a:prstGeom prst="rect">
            <a:avLst/>
          </a:prstGeom>
          <a:noFill/>
        </p:spPr>
        <p:txBody>
          <a:bodyPr wrap="square" lIns="0" tIns="0" rIns="0" bIns="0" rtlCol="0" anchor="t"/>
          <a:lstStyle/>
          <a:p>
            <a:pPr marL="0" indent="0" algn="ctr">
              <a:buNone/>
            </a:pPr>
            <a:r>
              <a:rPr lang="en-US" sz="1000" b="1" dirty="0">
                <a:solidFill>
                  <a:srgbClr val="C2410C"/>
                </a:solidFill>
                <a:latin typeface="Calibri" panose="020F0502020204030204" pitchFamily="34" charset="0"/>
                <a:ea typeface="Calibri" panose="020F0502020204030204" pitchFamily="34" charset="-122"/>
                <a:cs typeface="Calibri" panose="020F0502020204030204" pitchFamily="34" charset="-120"/>
              </a:rPr>
              <a:t>0</a:t>
            </a:r>
            <a:endParaRPr lang="en-US" sz="1000" dirty="0"/>
          </a:p>
        </p:txBody>
      </p:sp>
      <p:sp>
        <p:nvSpPr>
          <p:cNvPr id="39" name="Text 31"/>
          <p:cNvSpPr txBox="1"/>
          <p:nvPr/>
        </p:nvSpPr>
        <p:spPr>
          <a:xfrm>
            <a:off x="7626096" y="4032504"/>
            <a:ext cx="530352" cy="182880"/>
          </a:xfrm>
          <a:prstGeom prst="rect">
            <a:avLst/>
          </a:prstGeom>
          <a:noFill/>
        </p:spPr>
        <p:txBody>
          <a:bodyPr wrap="square" lIns="0" tIns="0" rIns="0" bIns="0" rtlCol="0" anchor="t"/>
          <a:lstStyle/>
          <a:p>
            <a:pPr marL="0" indent="0" algn="ctr">
              <a:buNone/>
            </a:pPr>
            <a:r>
              <a:rPr lang="en-US" sz="700" dirty="0">
                <a:solidFill>
                  <a:srgbClr val="6E6057"/>
                </a:solidFill>
                <a:latin typeface="Calibri" panose="020F0502020204030204" pitchFamily="34" charset="0"/>
                <a:ea typeface="Calibri" panose="020F0502020204030204" pitchFamily="34" charset="-122"/>
                <a:cs typeface="Calibri" panose="020F0502020204030204" pitchFamily="34" charset="-120"/>
              </a:rPr>
              <a:t>Chat messages</a:t>
            </a:r>
            <a:endParaRPr lang="en-US" sz="700" dirty="0"/>
          </a:p>
        </p:txBody>
      </p:sp>
      <p:sp>
        <p:nvSpPr>
          <p:cNvPr id="40" name="Text 32"/>
          <p:cNvSpPr txBox="1"/>
          <p:nvPr/>
        </p:nvSpPr>
        <p:spPr>
          <a:xfrm>
            <a:off x="7580376" y="3858768"/>
            <a:ext cx="621792" cy="182880"/>
          </a:xfrm>
          <a:prstGeom prst="rect">
            <a:avLst/>
          </a:prstGeom>
          <a:noFill/>
        </p:spPr>
        <p:txBody>
          <a:bodyPr wrap="square" lIns="0" tIns="0" rIns="0" bIns="0" rtlCol="0" anchor="t"/>
          <a:lstStyle/>
          <a:p>
            <a:pPr marL="0" indent="0" algn="ctr">
              <a:buNone/>
            </a:pPr>
            <a:r>
              <a:rPr lang="en-US" sz="1000" b="1" dirty="0">
                <a:solidFill>
                  <a:srgbClr val="C2410C"/>
                </a:solidFill>
                <a:latin typeface="Calibri" panose="020F0502020204030204" pitchFamily="34" charset="0"/>
                <a:ea typeface="Calibri" panose="020F0502020204030204" pitchFamily="34" charset="-122"/>
                <a:cs typeface="Calibri" panose="020F0502020204030204" pitchFamily="34" charset="-120"/>
              </a:rPr>
              <a:t>0</a:t>
            </a:r>
            <a:endParaRPr lang="en-US" sz="1000" dirty="0"/>
          </a:p>
        </p:txBody>
      </p:sp>
      <p:sp>
        <p:nvSpPr>
          <p:cNvPr id="41" name="Shape 33"/>
          <p:cNvSpPr/>
          <p:nvPr/>
        </p:nvSpPr>
        <p:spPr>
          <a:xfrm>
            <a:off x="6291072" y="4334256"/>
            <a:ext cx="1956816" cy="0"/>
          </a:xfrm>
          <a:prstGeom prst="line">
            <a:avLst/>
          </a:prstGeom>
          <a:noFill/>
          <a:ln w="9525">
            <a:solidFill>
              <a:srgbClr val="F0D6C3"/>
            </a:solidFill>
            <a:prstDash val="solid"/>
          </a:ln>
        </p:spPr>
      </p:sp>
      <p:pic>
        <p:nvPicPr>
          <p:cNvPr id="42" name="Image 6" descr="preencoded.png"/>
          <p:cNvPicPr>
            <a:picLocks noChangeAspect="1"/>
          </p:cNvPicPr>
          <p:nvPr/>
        </p:nvPicPr>
        <p:blipFill>
          <a:blip r:embed="rId7"/>
          <a:stretch>
            <a:fillRect/>
          </a:stretch>
        </p:blipFill>
        <p:spPr>
          <a:xfrm>
            <a:off x="6371844" y="4462272"/>
            <a:ext cx="164592" cy="164592"/>
          </a:xfrm>
          <a:prstGeom prst="rect">
            <a:avLst/>
          </a:prstGeom>
        </p:spPr>
      </p:pic>
      <p:sp>
        <p:nvSpPr>
          <p:cNvPr id="43" name="Shape 34"/>
          <p:cNvSpPr/>
          <p:nvPr/>
        </p:nvSpPr>
        <p:spPr>
          <a:xfrm>
            <a:off x="6643116" y="4407408"/>
            <a:ext cx="274320" cy="274320"/>
          </a:xfrm>
          <a:prstGeom prst="ellipse">
            <a:avLst/>
          </a:prstGeom>
          <a:solidFill>
            <a:srgbClr val="FFF3E8"/>
          </a:solidFill>
          <a:ln w="6350">
            <a:solidFill>
              <a:srgbClr val="FFF3E8"/>
            </a:solidFill>
            <a:prstDash val="solid"/>
          </a:ln>
        </p:spPr>
      </p:sp>
      <p:pic>
        <p:nvPicPr>
          <p:cNvPr id="44" name="Image 7" descr="preencoded.png"/>
          <p:cNvPicPr>
            <a:picLocks noChangeAspect="1"/>
          </p:cNvPicPr>
          <p:nvPr/>
        </p:nvPicPr>
        <p:blipFill>
          <a:blip r:embed="rId8"/>
          <a:stretch>
            <a:fillRect/>
          </a:stretch>
        </p:blipFill>
        <p:spPr>
          <a:xfrm>
            <a:off x="6697980" y="4462272"/>
            <a:ext cx="164592" cy="164592"/>
          </a:xfrm>
          <a:prstGeom prst="rect">
            <a:avLst/>
          </a:prstGeom>
        </p:spPr>
      </p:pic>
      <p:pic>
        <p:nvPicPr>
          <p:cNvPr id="45" name="Image 8" descr="preencoded.png"/>
          <p:cNvPicPr>
            <a:picLocks noChangeAspect="1"/>
          </p:cNvPicPr>
          <p:nvPr/>
        </p:nvPicPr>
        <p:blipFill>
          <a:blip r:embed="rId9"/>
          <a:stretch>
            <a:fillRect/>
          </a:stretch>
        </p:blipFill>
        <p:spPr>
          <a:xfrm>
            <a:off x="7024116" y="4462272"/>
            <a:ext cx="164592" cy="164592"/>
          </a:xfrm>
          <a:prstGeom prst="rect">
            <a:avLst/>
          </a:prstGeom>
        </p:spPr>
      </p:pic>
      <p:pic>
        <p:nvPicPr>
          <p:cNvPr id="46" name="Image 9" descr="preencoded.png"/>
          <p:cNvPicPr>
            <a:picLocks noChangeAspect="1"/>
          </p:cNvPicPr>
          <p:nvPr/>
        </p:nvPicPr>
        <p:blipFill>
          <a:blip r:embed="rId10"/>
          <a:stretch>
            <a:fillRect/>
          </a:stretch>
        </p:blipFill>
        <p:spPr>
          <a:xfrm>
            <a:off x="7350252" y="4462272"/>
            <a:ext cx="164592" cy="164592"/>
          </a:xfrm>
          <a:prstGeom prst="rect">
            <a:avLst/>
          </a:prstGeom>
        </p:spPr>
      </p:pic>
      <p:pic>
        <p:nvPicPr>
          <p:cNvPr id="47" name="Image 10" descr="preencoded.png"/>
          <p:cNvPicPr>
            <a:picLocks noChangeAspect="1"/>
          </p:cNvPicPr>
          <p:nvPr/>
        </p:nvPicPr>
        <p:blipFill>
          <a:blip r:embed="rId11"/>
          <a:stretch>
            <a:fillRect/>
          </a:stretch>
        </p:blipFill>
        <p:spPr>
          <a:xfrm>
            <a:off x="7676388" y="4462272"/>
            <a:ext cx="164592" cy="164592"/>
          </a:xfrm>
          <a:prstGeom prst="rect">
            <a:avLst/>
          </a:prstGeom>
        </p:spPr>
      </p:pic>
      <p:pic>
        <p:nvPicPr>
          <p:cNvPr id="48" name="Image 11" descr="preencoded.png"/>
          <p:cNvPicPr>
            <a:picLocks noChangeAspect="1"/>
          </p:cNvPicPr>
          <p:nvPr/>
        </p:nvPicPr>
        <p:blipFill>
          <a:blip r:embed="rId12"/>
          <a:stretch>
            <a:fillRect/>
          </a:stretch>
        </p:blipFill>
        <p:spPr>
          <a:xfrm>
            <a:off x="8002524" y="4462272"/>
            <a:ext cx="164592" cy="164592"/>
          </a:xfrm>
          <a:prstGeom prst="rect">
            <a:avLst/>
          </a:prstGeom>
        </p:spPr>
      </p:pic>
      <p:sp>
        <p:nvSpPr>
          <p:cNvPr id="49" name="Text Box 48"/>
          <p:cNvSpPr txBox="1"/>
          <p:nvPr/>
        </p:nvSpPr>
        <p:spPr>
          <a:xfrm>
            <a:off x="2668270" y="1173480"/>
            <a:ext cx="3048000" cy="368300"/>
          </a:xfrm>
          <a:prstGeom prst="rect">
            <a:avLst/>
          </a:prstGeom>
          <a:noFill/>
        </p:spPr>
        <p:txBody>
          <a:bodyPr wrap="squar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The world assumes you can see</a:t>
            </a:r>
            <a:endParaRPr lang="en-US" sz="3000" dirty="0"/>
          </a:p>
        </p:txBody>
      </p:sp>
      <p:sp>
        <p:nvSpPr>
          <p:cNvPr id="3" name="Shape 1"/>
          <p:cNvSpPr/>
          <p:nvPr/>
        </p:nvSpPr>
        <p:spPr>
          <a:xfrm>
            <a:off x="457200" y="1280160"/>
            <a:ext cx="1920240" cy="2606040"/>
          </a:xfrm>
          <a:prstGeom prst="roundRect">
            <a:avLst>
              <a:gd name="adj" fmla="val 6667"/>
            </a:avLst>
          </a:prstGeom>
          <a:solidFill>
            <a:srgbClr val="FFF3E8"/>
          </a:solidFill>
          <a:ln w="9525">
            <a:solidFill>
              <a:srgbClr val="F0D6C3"/>
            </a:solidFill>
            <a:prstDash val="solid"/>
          </a:ln>
        </p:spPr>
      </p:sp>
      <p:sp>
        <p:nvSpPr>
          <p:cNvPr id="4" name="Shape 2"/>
          <p:cNvSpPr/>
          <p:nvPr/>
        </p:nvSpPr>
        <p:spPr>
          <a:xfrm>
            <a:off x="640080" y="1463040"/>
            <a:ext cx="594360" cy="594360"/>
          </a:xfrm>
          <a:prstGeom prst="ellipse">
            <a:avLst/>
          </a:prstGeom>
          <a:solidFill>
            <a:srgbClr val="C2410C"/>
          </a:solidFill>
          <a:ln w="6350">
            <a:solidFill>
              <a:srgbClr val="C2410C"/>
            </a:solidFill>
            <a:prstDash val="solid"/>
          </a:ln>
        </p:spPr>
      </p:sp>
      <p:pic>
        <p:nvPicPr>
          <p:cNvPr id="5" name="Image 0" descr="preencoded.png"/>
          <p:cNvPicPr>
            <a:picLocks noChangeAspect="1"/>
          </p:cNvPicPr>
          <p:nvPr/>
        </p:nvPicPr>
        <p:blipFill>
          <a:blip r:embed="rId1"/>
          <a:stretch>
            <a:fillRect/>
          </a:stretch>
        </p:blipFill>
        <p:spPr>
          <a:xfrm>
            <a:off x="788670" y="1611630"/>
            <a:ext cx="297180" cy="297180"/>
          </a:xfrm>
          <a:prstGeom prst="rect">
            <a:avLst/>
          </a:prstGeom>
        </p:spPr>
      </p:pic>
      <p:sp>
        <p:nvSpPr>
          <p:cNvPr id="6" name="Text 3"/>
          <p:cNvSpPr txBox="1"/>
          <p:nvPr/>
        </p:nvSpPr>
        <p:spPr>
          <a:xfrm>
            <a:off x="640080" y="2240280"/>
            <a:ext cx="16002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Printed text</a:t>
            </a:r>
            <a:endParaRPr lang="en-US" sz="1600" dirty="0"/>
          </a:p>
        </p:txBody>
      </p:sp>
      <p:sp>
        <p:nvSpPr>
          <p:cNvPr id="7" name="Text 4"/>
          <p:cNvSpPr txBox="1"/>
          <p:nvPr/>
        </p:nvSpPr>
        <p:spPr>
          <a:xfrm>
            <a:off x="640080" y="2606040"/>
            <a:ext cx="1600200" cy="1097280"/>
          </a:xfrm>
          <a:prstGeom prst="rect">
            <a:avLst/>
          </a:prstGeom>
          <a:noFill/>
        </p:spPr>
        <p:txBody>
          <a:bodyPr wrap="square" lIns="0" tIns="0" rIns="0" bIns="0" rtlCol="0" anchor="t"/>
          <a:lstStyle/>
          <a:p>
            <a:pPr marL="0" indent="0">
              <a:buNone/>
            </a:pPr>
            <a:r>
              <a:rPr lang="en-US" sz="1400" dirty="0">
                <a:solidFill>
                  <a:srgbClr val="6E6057"/>
                </a:solidFill>
                <a:latin typeface="Calibri" panose="020F0502020204030204" pitchFamily="34" charset="0"/>
                <a:ea typeface="Calibri" panose="020F0502020204030204" pitchFamily="34" charset="-122"/>
                <a:cs typeface="Calibri" panose="020F0502020204030204" pitchFamily="34" charset="-120"/>
              </a:rPr>
              <a:t>Menus, labels and medicine boxes stay unreadable.</a:t>
            </a:r>
            <a:endParaRPr lang="en-US" sz="1400" dirty="0"/>
          </a:p>
        </p:txBody>
      </p:sp>
      <p:sp>
        <p:nvSpPr>
          <p:cNvPr id="8" name="Shape 5"/>
          <p:cNvSpPr/>
          <p:nvPr/>
        </p:nvSpPr>
        <p:spPr>
          <a:xfrm>
            <a:off x="2560320" y="1280160"/>
            <a:ext cx="1920240" cy="2606040"/>
          </a:xfrm>
          <a:prstGeom prst="roundRect">
            <a:avLst>
              <a:gd name="adj" fmla="val 6667"/>
            </a:avLst>
          </a:prstGeom>
          <a:solidFill>
            <a:srgbClr val="FFF3E8"/>
          </a:solidFill>
          <a:ln w="9525">
            <a:solidFill>
              <a:srgbClr val="F0D6C3"/>
            </a:solidFill>
            <a:prstDash val="solid"/>
          </a:ln>
        </p:spPr>
      </p:sp>
      <p:sp>
        <p:nvSpPr>
          <p:cNvPr id="9" name="Shape 6"/>
          <p:cNvSpPr/>
          <p:nvPr/>
        </p:nvSpPr>
        <p:spPr>
          <a:xfrm>
            <a:off x="2743200" y="1463040"/>
            <a:ext cx="594360" cy="594360"/>
          </a:xfrm>
          <a:prstGeom prst="ellipse">
            <a:avLst/>
          </a:prstGeom>
          <a:solidFill>
            <a:srgbClr val="C2410C"/>
          </a:solidFill>
          <a:ln w="6350">
            <a:solidFill>
              <a:srgbClr val="C2410C"/>
            </a:solidFill>
            <a:prstDash val="solid"/>
          </a:ln>
        </p:spPr>
      </p:sp>
      <p:pic>
        <p:nvPicPr>
          <p:cNvPr id="10" name="Image 1" descr="preencoded.png"/>
          <p:cNvPicPr>
            <a:picLocks noChangeAspect="1"/>
          </p:cNvPicPr>
          <p:nvPr/>
        </p:nvPicPr>
        <p:blipFill>
          <a:blip r:embed="rId2"/>
          <a:stretch>
            <a:fillRect/>
          </a:stretch>
        </p:blipFill>
        <p:spPr>
          <a:xfrm>
            <a:off x="2891790" y="1611630"/>
            <a:ext cx="297180" cy="297180"/>
          </a:xfrm>
          <a:prstGeom prst="rect">
            <a:avLst/>
          </a:prstGeom>
        </p:spPr>
      </p:pic>
      <p:sp>
        <p:nvSpPr>
          <p:cNvPr id="11" name="Text 7"/>
          <p:cNvSpPr txBox="1"/>
          <p:nvPr/>
        </p:nvSpPr>
        <p:spPr>
          <a:xfrm>
            <a:off x="2743200" y="2240280"/>
            <a:ext cx="16002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Screen-first apps</a:t>
            </a:r>
            <a:endParaRPr lang="en-US" sz="1600" dirty="0"/>
          </a:p>
        </p:txBody>
      </p:sp>
      <p:sp>
        <p:nvSpPr>
          <p:cNvPr id="12" name="Text 8"/>
          <p:cNvSpPr txBox="1"/>
          <p:nvPr/>
        </p:nvSpPr>
        <p:spPr>
          <a:xfrm>
            <a:off x="2743200" y="2606040"/>
            <a:ext cx="1600200" cy="1097280"/>
          </a:xfrm>
          <a:prstGeom prst="rect">
            <a:avLst/>
          </a:prstGeom>
          <a:noFill/>
        </p:spPr>
        <p:txBody>
          <a:bodyPr wrap="square" lIns="0" tIns="0" rIns="0" bIns="0" rtlCol="0" anchor="t"/>
          <a:lstStyle/>
          <a:p>
            <a:pPr marL="0" indent="0">
              <a:buNone/>
            </a:pPr>
            <a:r>
              <a:rPr lang="en-US" sz="1400" dirty="0">
                <a:solidFill>
                  <a:srgbClr val="6E6057"/>
                </a:solidFill>
                <a:latin typeface="Calibri" panose="020F0502020204030204" pitchFamily="34" charset="0"/>
                <a:ea typeface="Calibri" panose="020F0502020204030204" pitchFamily="34" charset="-122"/>
                <a:cs typeface="Calibri" panose="020F0502020204030204" pitchFamily="34" charset="-120"/>
              </a:rPr>
              <a:t>Most apps depend on seeing the screen.</a:t>
            </a:r>
            <a:endParaRPr lang="en-US" sz="1400" dirty="0"/>
          </a:p>
        </p:txBody>
      </p:sp>
      <p:sp>
        <p:nvSpPr>
          <p:cNvPr id="13" name="Shape 9"/>
          <p:cNvSpPr/>
          <p:nvPr/>
        </p:nvSpPr>
        <p:spPr>
          <a:xfrm>
            <a:off x="4663440" y="1280160"/>
            <a:ext cx="1920240" cy="2606040"/>
          </a:xfrm>
          <a:prstGeom prst="roundRect">
            <a:avLst>
              <a:gd name="adj" fmla="val 6667"/>
            </a:avLst>
          </a:prstGeom>
          <a:solidFill>
            <a:srgbClr val="FFF3E8"/>
          </a:solidFill>
          <a:ln w="9525">
            <a:solidFill>
              <a:srgbClr val="F0D6C3"/>
            </a:solidFill>
            <a:prstDash val="solid"/>
          </a:ln>
        </p:spPr>
      </p:sp>
      <p:sp>
        <p:nvSpPr>
          <p:cNvPr id="14" name="Shape 10"/>
          <p:cNvSpPr/>
          <p:nvPr/>
        </p:nvSpPr>
        <p:spPr>
          <a:xfrm>
            <a:off x="4846320" y="1463040"/>
            <a:ext cx="594360" cy="594360"/>
          </a:xfrm>
          <a:prstGeom prst="ellipse">
            <a:avLst/>
          </a:prstGeom>
          <a:solidFill>
            <a:srgbClr val="C2410C"/>
          </a:solidFill>
          <a:ln w="6350">
            <a:solidFill>
              <a:srgbClr val="C2410C"/>
            </a:solidFill>
            <a:prstDash val="solid"/>
          </a:ln>
        </p:spPr>
      </p:sp>
      <p:pic>
        <p:nvPicPr>
          <p:cNvPr id="15" name="Image 2" descr="preencoded.png"/>
          <p:cNvPicPr>
            <a:picLocks noChangeAspect="1"/>
          </p:cNvPicPr>
          <p:nvPr/>
        </p:nvPicPr>
        <p:blipFill>
          <a:blip r:embed="rId3"/>
          <a:stretch>
            <a:fillRect/>
          </a:stretch>
        </p:blipFill>
        <p:spPr>
          <a:xfrm>
            <a:off x="4994910" y="1611630"/>
            <a:ext cx="297180" cy="297180"/>
          </a:xfrm>
          <a:prstGeom prst="rect">
            <a:avLst/>
          </a:prstGeom>
        </p:spPr>
      </p:pic>
      <p:sp>
        <p:nvSpPr>
          <p:cNvPr id="16" name="Text 11"/>
          <p:cNvSpPr txBox="1"/>
          <p:nvPr/>
        </p:nvSpPr>
        <p:spPr>
          <a:xfrm>
            <a:off x="4846320" y="2240280"/>
            <a:ext cx="16002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English only</a:t>
            </a:r>
            <a:endParaRPr lang="en-US" sz="1600" dirty="0"/>
          </a:p>
        </p:txBody>
      </p:sp>
      <p:sp>
        <p:nvSpPr>
          <p:cNvPr id="17" name="Text 12"/>
          <p:cNvSpPr txBox="1"/>
          <p:nvPr/>
        </p:nvSpPr>
        <p:spPr>
          <a:xfrm>
            <a:off x="4846320" y="2606040"/>
            <a:ext cx="1600200" cy="1097280"/>
          </a:xfrm>
          <a:prstGeom prst="rect">
            <a:avLst/>
          </a:prstGeom>
          <a:noFill/>
        </p:spPr>
        <p:txBody>
          <a:bodyPr wrap="square" lIns="0" tIns="0" rIns="0" bIns="0" rtlCol="0" anchor="t"/>
          <a:lstStyle/>
          <a:p>
            <a:pPr marL="0" indent="0">
              <a:buNone/>
            </a:pPr>
            <a:r>
              <a:rPr lang="en-US" sz="1400" dirty="0">
                <a:solidFill>
                  <a:srgbClr val="6E6057"/>
                </a:solidFill>
                <a:latin typeface="Calibri" panose="020F0502020204030204" pitchFamily="34" charset="0"/>
                <a:ea typeface="Calibri" panose="020F0502020204030204" pitchFamily="34" charset="-122"/>
                <a:cs typeface="Calibri" panose="020F0502020204030204" pitchFamily="34" charset="-120"/>
              </a:rPr>
              <a:t>Many users need Hindi, Tamil, Telugu and more.</a:t>
            </a:r>
            <a:endParaRPr lang="en-US" sz="1400" dirty="0"/>
          </a:p>
        </p:txBody>
      </p:sp>
      <p:sp>
        <p:nvSpPr>
          <p:cNvPr id="18" name="Shape 13"/>
          <p:cNvSpPr/>
          <p:nvPr/>
        </p:nvSpPr>
        <p:spPr>
          <a:xfrm>
            <a:off x="6766560" y="1280160"/>
            <a:ext cx="1920240" cy="2606040"/>
          </a:xfrm>
          <a:prstGeom prst="roundRect">
            <a:avLst>
              <a:gd name="adj" fmla="val 6667"/>
            </a:avLst>
          </a:prstGeom>
          <a:solidFill>
            <a:srgbClr val="FFF3E8"/>
          </a:solidFill>
          <a:ln w="9525">
            <a:solidFill>
              <a:srgbClr val="F0D6C3"/>
            </a:solidFill>
            <a:prstDash val="solid"/>
          </a:ln>
        </p:spPr>
      </p:sp>
      <p:sp>
        <p:nvSpPr>
          <p:cNvPr id="19" name="Shape 14"/>
          <p:cNvSpPr/>
          <p:nvPr/>
        </p:nvSpPr>
        <p:spPr>
          <a:xfrm>
            <a:off x="6949440" y="1463040"/>
            <a:ext cx="594360" cy="594360"/>
          </a:xfrm>
          <a:prstGeom prst="ellipse">
            <a:avLst/>
          </a:prstGeom>
          <a:solidFill>
            <a:srgbClr val="C2410C"/>
          </a:solidFill>
          <a:ln w="6350">
            <a:solidFill>
              <a:srgbClr val="C2410C"/>
            </a:solidFill>
            <a:prstDash val="solid"/>
          </a:ln>
        </p:spPr>
      </p:sp>
      <p:pic>
        <p:nvPicPr>
          <p:cNvPr id="20" name="Image 3" descr="preencoded.png"/>
          <p:cNvPicPr>
            <a:picLocks noChangeAspect="1"/>
          </p:cNvPicPr>
          <p:nvPr/>
        </p:nvPicPr>
        <p:blipFill>
          <a:blip r:embed="rId4"/>
          <a:stretch>
            <a:fillRect/>
          </a:stretch>
        </p:blipFill>
        <p:spPr>
          <a:xfrm>
            <a:off x="7098030" y="1611630"/>
            <a:ext cx="297180" cy="297180"/>
          </a:xfrm>
          <a:prstGeom prst="rect">
            <a:avLst/>
          </a:prstGeom>
        </p:spPr>
      </p:pic>
      <p:sp>
        <p:nvSpPr>
          <p:cNvPr id="21" name="Text 15"/>
          <p:cNvSpPr txBox="1"/>
          <p:nvPr/>
        </p:nvSpPr>
        <p:spPr>
          <a:xfrm>
            <a:off x="6949440" y="2240280"/>
            <a:ext cx="16002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Slow help</a:t>
            </a:r>
            <a:endParaRPr lang="en-US" sz="1600" dirty="0"/>
          </a:p>
        </p:txBody>
      </p:sp>
      <p:sp>
        <p:nvSpPr>
          <p:cNvPr id="22" name="Text 16"/>
          <p:cNvSpPr txBox="1"/>
          <p:nvPr/>
        </p:nvSpPr>
        <p:spPr>
          <a:xfrm>
            <a:off x="6949440" y="2606040"/>
            <a:ext cx="1600200" cy="1097280"/>
          </a:xfrm>
          <a:prstGeom prst="rect">
            <a:avLst/>
          </a:prstGeom>
          <a:noFill/>
        </p:spPr>
        <p:txBody>
          <a:bodyPr wrap="square" lIns="0" tIns="0" rIns="0" bIns="0" rtlCol="0" anchor="t"/>
          <a:lstStyle/>
          <a:p>
            <a:pPr marL="0" indent="0">
              <a:buNone/>
            </a:pPr>
            <a:r>
              <a:rPr lang="en-US" sz="1400" dirty="0">
                <a:solidFill>
                  <a:srgbClr val="6E6057"/>
                </a:solidFill>
                <a:latin typeface="Calibri" panose="020F0502020204030204" pitchFamily="34" charset="0"/>
                <a:ea typeface="Calibri" panose="020F0502020204030204" pitchFamily="34" charset="-122"/>
                <a:cs typeface="Calibri" panose="020F0502020204030204" pitchFamily="34" charset="-120"/>
              </a:rPr>
              <a:t>Reaching someone you trust takes too many steps.</a:t>
            </a:r>
            <a:endParaRPr lang="en-US" sz="1400" dirty="0"/>
          </a:p>
        </p:txBody>
      </p:sp>
      <p:sp>
        <p:nvSpPr>
          <p:cNvPr id="23" name="Shape 17"/>
          <p:cNvSpPr/>
          <p:nvPr/>
        </p:nvSpPr>
        <p:spPr>
          <a:xfrm>
            <a:off x="457200" y="4069080"/>
            <a:ext cx="8229600" cy="548640"/>
          </a:xfrm>
          <a:prstGeom prst="roundRect">
            <a:avLst>
              <a:gd name="adj" fmla="val 20000"/>
            </a:avLst>
          </a:prstGeom>
          <a:solidFill>
            <a:srgbClr val="C2410C"/>
          </a:solidFill>
          <a:ln w="6350">
            <a:solidFill>
              <a:srgbClr val="C2410C"/>
            </a:solidFill>
            <a:prstDash val="solid"/>
          </a:ln>
        </p:spPr>
      </p:sp>
      <p:sp>
        <p:nvSpPr>
          <p:cNvPr id="24" name="Text 18"/>
          <p:cNvSpPr txBox="1"/>
          <p:nvPr/>
        </p:nvSpPr>
        <p:spPr>
          <a:xfrm>
            <a:off x="685800" y="4069080"/>
            <a:ext cx="7772400" cy="54864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VisionMate answers all four in one free web app.</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557784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Meet VisionMate</a:t>
            </a:r>
            <a:endParaRPr lang="en-US" sz="3000" dirty="0"/>
          </a:p>
        </p:txBody>
      </p:sp>
      <p:sp>
        <p:nvSpPr>
          <p:cNvPr id="3" name="Text 1"/>
          <p:cNvSpPr txBox="1"/>
          <p:nvPr/>
        </p:nvSpPr>
        <p:spPr>
          <a:xfrm>
            <a:off x="457200" y="1188720"/>
            <a:ext cx="5486400" cy="640080"/>
          </a:xfrm>
          <a:prstGeom prst="rect">
            <a:avLst/>
          </a:prstGeom>
          <a:noFill/>
        </p:spPr>
        <p:txBody>
          <a:bodyPr wrap="square" lIns="0" tIns="0" rIns="0" bIns="0" rtlCol="0" anchor="t"/>
          <a:lstStyle/>
          <a:p>
            <a:pPr marL="0" indent="0">
              <a:buNone/>
            </a:pPr>
            <a:r>
              <a:rPr lang="en-US" sz="2000" b="1" dirty="0">
                <a:solidFill>
                  <a:srgbClr val="9A3412"/>
                </a:solidFill>
                <a:latin typeface="Cambria" panose="02040503050406030204" pitchFamily="34" charset="0"/>
                <a:ea typeface="Cambria" panose="02040503050406030204" pitchFamily="34" charset="-122"/>
                <a:cs typeface="Cambria" panose="02040503050406030204" pitchFamily="34" charset="-120"/>
              </a:rPr>
              <a:t>Talk to it. It listens, looks and answers out loud.</a:t>
            </a:r>
            <a:endParaRPr lang="en-US" sz="2000" dirty="0"/>
          </a:p>
        </p:txBody>
      </p:sp>
      <p:sp>
        <p:nvSpPr>
          <p:cNvPr id="4" name="Shape 2"/>
          <p:cNvSpPr/>
          <p:nvPr/>
        </p:nvSpPr>
        <p:spPr>
          <a:xfrm>
            <a:off x="457200" y="2011680"/>
            <a:ext cx="457200" cy="457200"/>
          </a:xfrm>
          <a:prstGeom prst="ellipse">
            <a:avLst/>
          </a:prstGeom>
          <a:solidFill>
            <a:srgbClr val="C2410C"/>
          </a:solidFill>
          <a:ln w="6350">
            <a:solidFill>
              <a:srgbClr val="C2410C"/>
            </a:solidFill>
            <a:prstDash val="solid"/>
          </a:ln>
        </p:spPr>
      </p:sp>
      <p:pic>
        <p:nvPicPr>
          <p:cNvPr id="5" name="Image 0" descr="preencoded.png"/>
          <p:cNvPicPr>
            <a:picLocks noChangeAspect="1"/>
          </p:cNvPicPr>
          <p:nvPr/>
        </p:nvPicPr>
        <p:blipFill>
          <a:blip r:embed="rId1"/>
          <a:stretch>
            <a:fillRect/>
          </a:stretch>
        </p:blipFill>
        <p:spPr>
          <a:xfrm>
            <a:off x="571500" y="2125980"/>
            <a:ext cx="228600" cy="228600"/>
          </a:xfrm>
          <a:prstGeom prst="rect">
            <a:avLst/>
          </a:prstGeom>
        </p:spPr>
      </p:pic>
      <p:sp>
        <p:nvSpPr>
          <p:cNvPr id="6" name="Text 3"/>
          <p:cNvSpPr txBox="1"/>
          <p:nvPr/>
        </p:nvSpPr>
        <p:spPr>
          <a:xfrm>
            <a:off x="1097280" y="1984248"/>
            <a:ext cx="4846320" cy="256032"/>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Voice first</a:t>
            </a:r>
            <a:endParaRPr lang="en-US" sz="1500" dirty="0"/>
          </a:p>
        </p:txBody>
      </p:sp>
      <p:sp>
        <p:nvSpPr>
          <p:cNvPr id="7" name="Text 4"/>
          <p:cNvSpPr txBox="1"/>
          <p:nvPr/>
        </p:nvSpPr>
        <p:spPr>
          <a:xfrm>
            <a:off x="1097280" y="2240280"/>
            <a:ext cx="4937760" cy="36576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Press and hold to talk, or type. Every reply is spoken.</a:t>
            </a:r>
            <a:endParaRPr lang="en-US" sz="1300" dirty="0"/>
          </a:p>
        </p:txBody>
      </p:sp>
      <p:sp>
        <p:nvSpPr>
          <p:cNvPr id="8" name="Shape 5"/>
          <p:cNvSpPr/>
          <p:nvPr/>
        </p:nvSpPr>
        <p:spPr>
          <a:xfrm>
            <a:off x="457200" y="2670048"/>
            <a:ext cx="457200" cy="457200"/>
          </a:xfrm>
          <a:prstGeom prst="ellipse">
            <a:avLst/>
          </a:prstGeom>
          <a:solidFill>
            <a:srgbClr val="C2410C"/>
          </a:solidFill>
          <a:ln w="6350">
            <a:solidFill>
              <a:srgbClr val="C2410C"/>
            </a:solidFill>
            <a:prstDash val="solid"/>
          </a:ln>
        </p:spPr>
      </p:sp>
      <p:pic>
        <p:nvPicPr>
          <p:cNvPr id="9" name="Image 1" descr="preencoded.png"/>
          <p:cNvPicPr>
            <a:picLocks noChangeAspect="1"/>
          </p:cNvPicPr>
          <p:nvPr/>
        </p:nvPicPr>
        <p:blipFill>
          <a:blip r:embed="rId2"/>
          <a:stretch>
            <a:fillRect/>
          </a:stretch>
        </p:blipFill>
        <p:spPr>
          <a:xfrm>
            <a:off x="571500" y="2784348"/>
            <a:ext cx="228600" cy="228600"/>
          </a:xfrm>
          <a:prstGeom prst="rect">
            <a:avLst/>
          </a:prstGeom>
        </p:spPr>
      </p:pic>
      <p:sp>
        <p:nvSpPr>
          <p:cNvPr id="10" name="Text 6"/>
          <p:cNvSpPr txBox="1"/>
          <p:nvPr/>
        </p:nvSpPr>
        <p:spPr>
          <a:xfrm>
            <a:off x="1097280" y="2642616"/>
            <a:ext cx="4846320" cy="256032"/>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Camera on request</a:t>
            </a:r>
            <a:endParaRPr lang="en-US" sz="1500" dirty="0"/>
          </a:p>
        </p:txBody>
      </p:sp>
      <p:sp>
        <p:nvSpPr>
          <p:cNvPr id="11" name="Text 7"/>
          <p:cNvSpPr txBox="1"/>
          <p:nvPr/>
        </p:nvSpPr>
        <p:spPr>
          <a:xfrm>
            <a:off x="1097280" y="2898648"/>
            <a:ext cx="4937760" cy="36576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Point at a menu or label; one photo is read aloud.</a:t>
            </a:r>
            <a:endParaRPr lang="en-US" sz="1300" dirty="0"/>
          </a:p>
        </p:txBody>
      </p:sp>
      <p:sp>
        <p:nvSpPr>
          <p:cNvPr id="12" name="Shape 8"/>
          <p:cNvSpPr/>
          <p:nvPr/>
        </p:nvSpPr>
        <p:spPr>
          <a:xfrm>
            <a:off x="457200" y="3328416"/>
            <a:ext cx="457200" cy="457200"/>
          </a:xfrm>
          <a:prstGeom prst="ellipse">
            <a:avLst/>
          </a:prstGeom>
          <a:solidFill>
            <a:srgbClr val="C2410C"/>
          </a:solidFill>
          <a:ln w="6350">
            <a:solidFill>
              <a:srgbClr val="C2410C"/>
            </a:solidFill>
            <a:prstDash val="solid"/>
          </a:ln>
        </p:spPr>
      </p:sp>
      <p:pic>
        <p:nvPicPr>
          <p:cNvPr id="13" name="Image 2" descr="preencoded.png"/>
          <p:cNvPicPr>
            <a:picLocks noChangeAspect="1"/>
          </p:cNvPicPr>
          <p:nvPr/>
        </p:nvPicPr>
        <p:blipFill>
          <a:blip r:embed="rId3"/>
          <a:stretch>
            <a:fillRect/>
          </a:stretch>
        </p:blipFill>
        <p:spPr>
          <a:xfrm>
            <a:off x="571500" y="3442716"/>
            <a:ext cx="228600" cy="228600"/>
          </a:xfrm>
          <a:prstGeom prst="rect">
            <a:avLst/>
          </a:prstGeom>
        </p:spPr>
      </p:pic>
      <p:sp>
        <p:nvSpPr>
          <p:cNvPr id="14" name="Text 9"/>
          <p:cNvSpPr txBox="1"/>
          <p:nvPr/>
        </p:nvSpPr>
        <p:spPr>
          <a:xfrm>
            <a:off x="1097280" y="3300984"/>
            <a:ext cx="4846320" cy="256032"/>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Seven languages</a:t>
            </a:r>
            <a:endParaRPr lang="en-US" sz="1500" dirty="0"/>
          </a:p>
        </p:txBody>
      </p:sp>
      <p:sp>
        <p:nvSpPr>
          <p:cNvPr id="15" name="Text 10"/>
          <p:cNvSpPr txBox="1"/>
          <p:nvPr/>
        </p:nvSpPr>
        <p:spPr>
          <a:xfrm>
            <a:off x="1097280" y="3557016"/>
            <a:ext cx="4937760" cy="36576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English, Hindi, Tamil, Telugu, Kannada, Malayalam, Punjabi.</a:t>
            </a:r>
            <a:endParaRPr lang="en-US" sz="1300" dirty="0"/>
          </a:p>
        </p:txBody>
      </p:sp>
      <p:sp>
        <p:nvSpPr>
          <p:cNvPr id="16" name="Shape 11"/>
          <p:cNvSpPr/>
          <p:nvPr/>
        </p:nvSpPr>
        <p:spPr>
          <a:xfrm>
            <a:off x="457200" y="3986784"/>
            <a:ext cx="457200" cy="457200"/>
          </a:xfrm>
          <a:prstGeom prst="ellipse">
            <a:avLst/>
          </a:prstGeom>
          <a:solidFill>
            <a:srgbClr val="C2410C"/>
          </a:solidFill>
          <a:ln w="6350">
            <a:solidFill>
              <a:srgbClr val="C2410C"/>
            </a:solidFill>
            <a:prstDash val="solid"/>
          </a:ln>
        </p:spPr>
      </p:sp>
      <p:pic>
        <p:nvPicPr>
          <p:cNvPr id="17" name="Image 3" descr="preencoded.png"/>
          <p:cNvPicPr>
            <a:picLocks noChangeAspect="1"/>
          </p:cNvPicPr>
          <p:nvPr/>
        </p:nvPicPr>
        <p:blipFill>
          <a:blip r:embed="rId4"/>
          <a:stretch>
            <a:fillRect/>
          </a:stretch>
        </p:blipFill>
        <p:spPr>
          <a:xfrm>
            <a:off x="571500" y="4101084"/>
            <a:ext cx="228600" cy="228600"/>
          </a:xfrm>
          <a:prstGeom prst="rect">
            <a:avLst/>
          </a:prstGeom>
        </p:spPr>
      </p:pic>
      <p:sp>
        <p:nvSpPr>
          <p:cNvPr id="18" name="Text 12"/>
          <p:cNvSpPr txBox="1"/>
          <p:nvPr/>
        </p:nvSpPr>
        <p:spPr>
          <a:xfrm>
            <a:off x="1097280" y="3959352"/>
            <a:ext cx="4846320" cy="256032"/>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Guest friendly</a:t>
            </a:r>
            <a:endParaRPr lang="en-US" sz="1500" dirty="0"/>
          </a:p>
        </p:txBody>
      </p:sp>
      <p:sp>
        <p:nvSpPr>
          <p:cNvPr id="19" name="Text 13"/>
          <p:cNvSpPr txBox="1"/>
          <p:nvPr/>
        </p:nvSpPr>
        <p:spPr>
          <a:xfrm>
            <a:off x="1097280" y="4215384"/>
            <a:ext cx="4937760" cy="36576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Works instantly, no account needed.</a:t>
            </a:r>
            <a:endParaRPr lang="en-US" sz="1300" dirty="0"/>
          </a:p>
        </p:txBody>
      </p:sp>
      <p:sp>
        <p:nvSpPr>
          <p:cNvPr id="20" name="Shape 14"/>
          <p:cNvSpPr/>
          <p:nvPr/>
        </p:nvSpPr>
        <p:spPr>
          <a:xfrm>
            <a:off x="6400800" y="274320"/>
            <a:ext cx="2286000" cy="4434840"/>
          </a:xfrm>
          <a:prstGeom prst="roundRect">
            <a:avLst>
              <a:gd name="adj" fmla="val 12800"/>
            </a:avLst>
          </a:prstGeom>
          <a:solidFill>
            <a:srgbClr val="1F1612"/>
          </a:solidFill>
          <a:ln w="6350">
            <a:solidFill>
              <a:srgbClr val="1F1612"/>
            </a:solidFill>
            <a:prstDash val="solid"/>
          </a:ln>
          <a:effectLst>
            <a:outerShdw blurRad="127000" dist="38100" dir="5400000" algn="bl" rotWithShape="0">
              <a:srgbClr val="000000">
                <a:alpha val="18000"/>
              </a:srgbClr>
            </a:outerShdw>
          </a:effectLst>
        </p:spPr>
      </p:sp>
      <p:sp>
        <p:nvSpPr>
          <p:cNvPr id="21" name="Shape 15"/>
          <p:cNvSpPr/>
          <p:nvPr/>
        </p:nvSpPr>
        <p:spPr>
          <a:xfrm>
            <a:off x="6473952" y="347472"/>
            <a:ext cx="2139696" cy="4288536"/>
          </a:xfrm>
          <a:prstGeom prst="roundRect">
            <a:avLst>
              <a:gd name="adj" fmla="val 11111"/>
            </a:avLst>
          </a:prstGeom>
          <a:solidFill>
            <a:srgbClr val="FFFAF5"/>
          </a:solidFill>
          <a:ln w="6350">
            <a:solidFill>
              <a:srgbClr val="FFFAF5"/>
            </a:solidFill>
            <a:prstDash val="solid"/>
          </a:ln>
        </p:spPr>
      </p:sp>
      <p:sp>
        <p:nvSpPr>
          <p:cNvPr id="22" name="Shape 16"/>
          <p:cNvSpPr/>
          <p:nvPr/>
        </p:nvSpPr>
        <p:spPr>
          <a:xfrm>
            <a:off x="7178040" y="402336"/>
            <a:ext cx="731520" cy="109728"/>
          </a:xfrm>
          <a:prstGeom prst="roundRect">
            <a:avLst>
              <a:gd name="adj" fmla="val 50000"/>
            </a:avLst>
          </a:prstGeom>
          <a:solidFill>
            <a:srgbClr val="1F1612"/>
          </a:solidFill>
          <a:ln w="6350">
            <a:solidFill>
              <a:srgbClr val="1F1612"/>
            </a:solidFill>
            <a:prstDash val="solid"/>
          </a:ln>
        </p:spPr>
      </p:sp>
      <p:sp>
        <p:nvSpPr>
          <p:cNvPr id="23" name="Text 17"/>
          <p:cNvSpPr txBox="1"/>
          <p:nvPr/>
        </p:nvSpPr>
        <p:spPr>
          <a:xfrm>
            <a:off x="6638544" y="713232"/>
            <a:ext cx="1865376" cy="137160"/>
          </a:xfrm>
          <a:prstGeom prst="rect">
            <a:avLst/>
          </a:prstGeom>
          <a:noFill/>
        </p:spPr>
        <p:txBody>
          <a:bodyPr wrap="square" lIns="0" tIns="0" rIns="0" bIns="0" rtlCol="0" anchor="t"/>
          <a:lstStyle/>
          <a:p>
            <a:pPr marL="0" indent="0">
              <a:buNone/>
            </a:pPr>
            <a:r>
              <a:rPr lang="en-US" sz="700" b="1" kern="0" spc="100" dirty="0">
                <a:solidFill>
                  <a:srgbClr val="C2410C"/>
                </a:solidFill>
                <a:latin typeface="Calibri" panose="020F0502020204030204" pitchFamily="34" charset="0"/>
                <a:ea typeface="Calibri" panose="020F0502020204030204" pitchFamily="34" charset="-122"/>
                <a:cs typeface="Calibri" panose="020F0502020204030204" pitchFamily="34" charset="-120"/>
              </a:rPr>
              <a:t>VOICE AGENT</a:t>
            </a:r>
            <a:endParaRPr lang="en-US" sz="700" dirty="0"/>
          </a:p>
        </p:txBody>
      </p:sp>
      <p:sp>
        <p:nvSpPr>
          <p:cNvPr id="24" name="Text 18"/>
          <p:cNvSpPr txBox="1"/>
          <p:nvPr/>
        </p:nvSpPr>
        <p:spPr>
          <a:xfrm>
            <a:off x="6638544" y="859536"/>
            <a:ext cx="1865376" cy="228600"/>
          </a:xfrm>
          <a:prstGeom prst="rect">
            <a:avLst/>
          </a:prstGeom>
          <a:noFill/>
        </p:spPr>
        <p:txBody>
          <a:bodyPr wrap="square" lIns="0" tIns="0" rIns="0" bIns="0" rtlCol="0" anchor="t"/>
          <a:lstStyle/>
          <a:p>
            <a:pPr marL="0" indent="0">
              <a:buNone/>
            </a:pPr>
            <a:r>
              <a:rPr lang="en-US" sz="1050" b="1" dirty="0">
                <a:solidFill>
                  <a:srgbClr val="1F1612"/>
                </a:solidFill>
                <a:latin typeface="Cambria" panose="02040503050406030204" pitchFamily="34" charset="0"/>
                <a:ea typeface="Cambria" panose="02040503050406030204" pitchFamily="34" charset="-122"/>
                <a:cs typeface="Cambria" panose="02040503050406030204" pitchFamily="34" charset="-120"/>
              </a:rPr>
              <a:t>Tell me what’s on your mind.</a:t>
            </a:r>
            <a:endParaRPr lang="en-US" sz="1050" dirty="0"/>
          </a:p>
        </p:txBody>
      </p:sp>
      <p:sp>
        <p:nvSpPr>
          <p:cNvPr id="25" name="Shape 19"/>
          <p:cNvSpPr/>
          <p:nvPr/>
        </p:nvSpPr>
        <p:spPr>
          <a:xfrm>
            <a:off x="6611112" y="1216152"/>
            <a:ext cx="1865376" cy="1920240"/>
          </a:xfrm>
          <a:prstGeom prst="roundRect">
            <a:avLst>
              <a:gd name="adj" fmla="val 4902"/>
            </a:avLst>
          </a:prstGeom>
          <a:solidFill>
            <a:srgbClr val="FFFFFF"/>
          </a:solidFill>
          <a:ln w="9525">
            <a:solidFill>
              <a:srgbClr val="F0D6C3"/>
            </a:solidFill>
            <a:prstDash val="solid"/>
          </a:ln>
        </p:spPr>
      </p:sp>
      <p:sp>
        <p:nvSpPr>
          <p:cNvPr id="26" name="Shape 20"/>
          <p:cNvSpPr/>
          <p:nvPr/>
        </p:nvSpPr>
        <p:spPr>
          <a:xfrm>
            <a:off x="6702552" y="1307592"/>
            <a:ext cx="1499616" cy="457200"/>
          </a:xfrm>
          <a:prstGeom prst="roundRect">
            <a:avLst>
              <a:gd name="adj" fmla="val 16000"/>
            </a:avLst>
          </a:prstGeom>
          <a:solidFill>
            <a:srgbClr val="FFF3E8"/>
          </a:solidFill>
          <a:ln w="6350">
            <a:solidFill>
              <a:srgbClr val="FFF3E8"/>
            </a:solidFill>
            <a:prstDash val="solid"/>
          </a:ln>
        </p:spPr>
      </p:sp>
      <p:sp>
        <p:nvSpPr>
          <p:cNvPr id="27" name="Text 21"/>
          <p:cNvSpPr txBox="1"/>
          <p:nvPr/>
        </p:nvSpPr>
        <p:spPr>
          <a:xfrm>
            <a:off x="6766560" y="1353312"/>
            <a:ext cx="1362456" cy="365760"/>
          </a:xfrm>
          <a:prstGeom prst="rect">
            <a:avLst/>
          </a:prstGeom>
          <a:noFill/>
        </p:spPr>
        <p:txBody>
          <a:bodyPr wrap="square" lIns="0" tIns="0" rIns="0" bIns="0" rtlCol="0" anchor="t"/>
          <a:lstStyle/>
          <a:p>
            <a:pPr marL="0" indent="0">
              <a:buNone/>
            </a:pPr>
            <a:r>
              <a:rPr lang="en-US" sz="750" dirty="0">
                <a:solidFill>
                  <a:srgbClr val="1F1612"/>
                </a:solidFill>
                <a:latin typeface="Calibri" panose="020F0502020204030204" pitchFamily="34" charset="0"/>
                <a:ea typeface="Calibri" panose="020F0502020204030204" pitchFamily="34" charset="-122"/>
                <a:cs typeface="Calibri" panose="020F0502020204030204" pitchFamily="34" charset="-120"/>
              </a:rPr>
              <a:t>Hi. I can save notes and open Vision Lens.</a:t>
            </a:r>
            <a:endParaRPr lang="en-US" sz="750" dirty="0"/>
          </a:p>
        </p:txBody>
      </p:sp>
      <p:sp>
        <p:nvSpPr>
          <p:cNvPr id="28" name="Shape 22"/>
          <p:cNvSpPr/>
          <p:nvPr/>
        </p:nvSpPr>
        <p:spPr>
          <a:xfrm>
            <a:off x="7114032" y="1856232"/>
            <a:ext cx="1271016" cy="274320"/>
          </a:xfrm>
          <a:prstGeom prst="roundRect">
            <a:avLst>
              <a:gd name="adj" fmla="val 26667"/>
            </a:avLst>
          </a:prstGeom>
          <a:solidFill>
            <a:srgbClr val="C2410C"/>
          </a:solidFill>
          <a:ln w="6350">
            <a:solidFill>
              <a:srgbClr val="C2410C"/>
            </a:solidFill>
            <a:prstDash val="solid"/>
          </a:ln>
        </p:spPr>
      </p:sp>
      <p:sp>
        <p:nvSpPr>
          <p:cNvPr id="29" name="Text 23"/>
          <p:cNvSpPr txBox="1"/>
          <p:nvPr/>
        </p:nvSpPr>
        <p:spPr>
          <a:xfrm>
            <a:off x="7114032" y="1911096"/>
            <a:ext cx="1271016" cy="164592"/>
          </a:xfrm>
          <a:prstGeom prst="rect">
            <a:avLst/>
          </a:prstGeom>
          <a:noFill/>
        </p:spPr>
        <p:txBody>
          <a:bodyPr wrap="square" lIns="0" tIns="0" rIns="0" bIns="0" rtlCol="0" anchor="t"/>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Read this menu</a:t>
            </a:r>
            <a:endParaRPr lang="en-US" sz="800" dirty="0"/>
          </a:p>
        </p:txBody>
      </p:sp>
      <p:sp>
        <p:nvSpPr>
          <p:cNvPr id="30" name="Shape 24"/>
          <p:cNvSpPr/>
          <p:nvPr/>
        </p:nvSpPr>
        <p:spPr>
          <a:xfrm>
            <a:off x="6702552" y="2221992"/>
            <a:ext cx="1499616" cy="822960"/>
          </a:xfrm>
          <a:prstGeom prst="roundRect">
            <a:avLst>
              <a:gd name="adj" fmla="val 8889"/>
            </a:avLst>
          </a:prstGeom>
          <a:solidFill>
            <a:srgbClr val="FFF3E8"/>
          </a:solidFill>
          <a:ln w="6350">
            <a:solidFill>
              <a:srgbClr val="FFF3E8"/>
            </a:solidFill>
            <a:prstDash val="solid"/>
          </a:ln>
        </p:spPr>
      </p:sp>
      <p:sp>
        <p:nvSpPr>
          <p:cNvPr id="31" name="Text 25"/>
          <p:cNvSpPr txBox="1"/>
          <p:nvPr/>
        </p:nvSpPr>
        <p:spPr>
          <a:xfrm>
            <a:off x="6766560" y="2267712"/>
            <a:ext cx="1362456" cy="731520"/>
          </a:xfrm>
          <a:prstGeom prst="rect">
            <a:avLst/>
          </a:prstGeom>
          <a:noFill/>
        </p:spPr>
        <p:txBody>
          <a:bodyPr wrap="square" lIns="0" tIns="0" rIns="0" bIns="0" rtlCol="0" anchor="t"/>
          <a:lstStyle/>
          <a:p>
            <a:pPr marL="0" indent="0">
              <a:buNone/>
            </a:pPr>
            <a:r>
              <a:rPr lang="en-US" sz="750" dirty="0">
                <a:solidFill>
                  <a:srgbClr val="1F1612"/>
                </a:solidFill>
                <a:latin typeface="Calibri" panose="020F0502020204030204" pitchFamily="34" charset="0"/>
                <a:ea typeface="Calibri" panose="020F0502020204030204" pitchFamily="34" charset="-122"/>
                <a:cs typeface="Calibri" panose="020F0502020204030204" pitchFamily="34" charset="-120"/>
              </a:rPr>
              <a:t>Opening Vision Lens. I only analyze a photo when you ask.</a:t>
            </a:r>
            <a:endParaRPr lang="en-US" sz="750" dirty="0"/>
          </a:p>
        </p:txBody>
      </p:sp>
      <p:sp>
        <p:nvSpPr>
          <p:cNvPr id="32" name="Text 26"/>
          <p:cNvSpPr txBox="1"/>
          <p:nvPr/>
        </p:nvSpPr>
        <p:spPr>
          <a:xfrm>
            <a:off x="6638544" y="3182112"/>
            <a:ext cx="1865376" cy="164592"/>
          </a:xfrm>
          <a:prstGeom prst="rect">
            <a:avLst/>
          </a:prstGeom>
          <a:noFill/>
        </p:spPr>
        <p:txBody>
          <a:bodyPr wrap="square" lIns="0" tIns="0" rIns="0" bIns="0" rtlCol="0" anchor="t"/>
          <a:lstStyle/>
          <a:p>
            <a:pPr marL="0" indent="0">
              <a:buNone/>
            </a:pPr>
            <a:r>
              <a:rPr lang="en-US" sz="700" i="1" dirty="0">
                <a:solidFill>
                  <a:srgbClr val="6E6057"/>
                </a:solidFill>
                <a:latin typeface="Calibri" panose="020F0502020204030204" pitchFamily="34" charset="0"/>
                <a:ea typeface="Calibri" panose="020F0502020204030204" pitchFamily="34" charset="-122"/>
                <a:cs typeface="Calibri" panose="020F0502020204030204" pitchFamily="34" charset="-120"/>
              </a:rPr>
              <a:t>Listening: read this menu</a:t>
            </a:r>
            <a:endParaRPr lang="en-US" sz="700" dirty="0"/>
          </a:p>
        </p:txBody>
      </p:sp>
      <p:sp>
        <p:nvSpPr>
          <p:cNvPr id="33" name="Shape 27"/>
          <p:cNvSpPr/>
          <p:nvPr/>
        </p:nvSpPr>
        <p:spPr>
          <a:xfrm>
            <a:off x="6611112" y="3383280"/>
            <a:ext cx="1865376" cy="548640"/>
          </a:xfrm>
          <a:prstGeom prst="roundRect">
            <a:avLst>
              <a:gd name="adj" fmla="val 23333"/>
            </a:avLst>
          </a:prstGeom>
          <a:solidFill>
            <a:srgbClr val="C2410C"/>
          </a:solidFill>
          <a:ln w="6350">
            <a:solidFill>
              <a:srgbClr val="C2410C"/>
            </a:solidFill>
            <a:prstDash val="solid"/>
          </a:ln>
          <a:effectLst>
            <a:outerShdw blurRad="127000" dist="38100" dir="5400000" algn="bl" rotWithShape="0">
              <a:srgbClr val="000000">
                <a:alpha val="18000"/>
              </a:srgbClr>
            </a:outerShdw>
          </a:effectLst>
        </p:spPr>
      </p:sp>
      <p:pic>
        <p:nvPicPr>
          <p:cNvPr id="34" name="Image 4" descr="preencoded.png"/>
          <p:cNvPicPr>
            <a:picLocks noChangeAspect="1"/>
          </p:cNvPicPr>
          <p:nvPr/>
        </p:nvPicPr>
        <p:blipFill>
          <a:blip r:embed="rId1"/>
          <a:stretch>
            <a:fillRect/>
          </a:stretch>
        </p:blipFill>
        <p:spPr>
          <a:xfrm>
            <a:off x="6748272" y="3547872"/>
            <a:ext cx="219456" cy="219456"/>
          </a:xfrm>
          <a:prstGeom prst="rect">
            <a:avLst/>
          </a:prstGeom>
        </p:spPr>
      </p:pic>
      <p:sp>
        <p:nvSpPr>
          <p:cNvPr id="35" name="Text 28"/>
          <p:cNvSpPr txBox="1"/>
          <p:nvPr/>
        </p:nvSpPr>
        <p:spPr>
          <a:xfrm>
            <a:off x="7040880" y="3547872"/>
            <a:ext cx="1316736" cy="228600"/>
          </a:xfrm>
          <a:prstGeom prst="rect">
            <a:avLst/>
          </a:prstGeom>
          <a:noFill/>
        </p:spPr>
        <p:txBody>
          <a:bodyPr wrap="square" lIns="0" tIns="0" rIns="0" bIns="0" rtlCol="0" anchor="ctr"/>
          <a:lstStyle/>
          <a:p>
            <a:pPr marL="0" indent="0">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Press and hold to talk</a:t>
            </a:r>
            <a:endParaRPr lang="en-US" sz="950" dirty="0"/>
          </a:p>
        </p:txBody>
      </p:sp>
      <p:sp>
        <p:nvSpPr>
          <p:cNvPr id="36" name="Shape 29"/>
          <p:cNvSpPr/>
          <p:nvPr/>
        </p:nvSpPr>
        <p:spPr>
          <a:xfrm>
            <a:off x="6611112" y="3986784"/>
            <a:ext cx="1865376" cy="237744"/>
          </a:xfrm>
          <a:prstGeom prst="roundRect">
            <a:avLst>
              <a:gd name="adj" fmla="val 23077"/>
            </a:avLst>
          </a:prstGeom>
          <a:solidFill>
            <a:srgbClr val="FFFFFF"/>
          </a:solidFill>
          <a:ln w="9525">
            <a:solidFill>
              <a:srgbClr val="F0D6C3"/>
            </a:solidFill>
            <a:prstDash val="solid"/>
          </a:ln>
        </p:spPr>
      </p:sp>
      <p:sp>
        <p:nvSpPr>
          <p:cNvPr id="37" name="Text 30"/>
          <p:cNvSpPr txBox="1"/>
          <p:nvPr/>
        </p:nvSpPr>
        <p:spPr>
          <a:xfrm>
            <a:off x="6702552" y="4032504"/>
            <a:ext cx="1682496" cy="146304"/>
          </a:xfrm>
          <a:prstGeom prst="rect">
            <a:avLst/>
          </a:prstGeom>
          <a:noFill/>
        </p:spPr>
        <p:txBody>
          <a:bodyPr wrap="square" lIns="0" tIns="0" rIns="0" bIns="0" rtlCol="0" anchor="t"/>
          <a:lstStyle/>
          <a:p>
            <a:pPr marL="0" indent="0">
              <a:buNone/>
            </a:pPr>
            <a:r>
              <a:rPr lang="en-US" sz="700" dirty="0">
                <a:solidFill>
                  <a:srgbClr val="8A7B70"/>
                </a:solidFill>
                <a:latin typeface="Calibri" panose="020F0502020204030204" pitchFamily="34" charset="0"/>
                <a:ea typeface="Calibri" panose="020F0502020204030204" pitchFamily="34" charset="-122"/>
                <a:cs typeface="Calibri" panose="020F0502020204030204" pitchFamily="34" charset="-120"/>
              </a:rPr>
              <a:t>Type a message…</a:t>
            </a:r>
            <a:endParaRPr lang="en-US" sz="700" dirty="0"/>
          </a:p>
        </p:txBody>
      </p:sp>
      <p:sp>
        <p:nvSpPr>
          <p:cNvPr id="38" name="Shape 31"/>
          <p:cNvSpPr/>
          <p:nvPr/>
        </p:nvSpPr>
        <p:spPr>
          <a:xfrm>
            <a:off x="6565392" y="4215384"/>
            <a:ext cx="1956816" cy="0"/>
          </a:xfrm>
          <a:prstGeom prst="line">
            <a:avLst/>
          </a:prstGeom>
          <a:noFill/>
          <a:ln w="9525">
            <a:solidFill>
              <a:srgbClr val="F0D6C3"/>
            </a:solidFill>
            <a:prstDash val="solid"/>
          </a:ln>
        </p:spPr>
      </p:sp>
      <p:pic>
        <p:nvPicPr>
          <p:cNvPr id="39" name="Image 5" descr="preencoded.png"/>
          <p:cNvPicPr>
            <a:picLocks noChangeAspect="1"/>
          </p:cNvPicPr>
          <p:nvPr/>
        </p:nvPicPr>
        <p:blipFill>
          <a:blip r:embed="rId5"/>
          <a:stretch>
            <a:fillRect/>
          </a:stretch>
        </p:blipFill>
        <p:spPr>
          <a:xfrm>
            <a:off x="6646164" y="4343400"/>
            <a:ext cx="164592" cy="164592"/>
          </a:xfrm>
          <a:prstGeom prst="rect">
            <a:avLst/>
          </a:prstGeom>
        </p:spPr>
      </p:pic>
      <p:pic>
        <p:nvPicPr>
          <p:cNvPr id="40" name="Image 6" descr="preencoded.png"/>
          <p:cNvPicPr>
            <a:picLocks noChangeAspect="1"/>
          </p:cNvPicPr>
          <p:nvPr/>
        </p:nvPicPr>
        <p:blipFill>
          <a:blip r:embed="rId6"/>
          <a:stretch>
            <a:fillRect/>
          </a:stretch>
        </p:blipFill>
        <p:spPr>
          <a:xfrm>
            <a:off x="6972300" y="4343400"/>
            <a:ext cx="164592" cy="164592"/>
          </a:xfrm>
          <a:prstGeom prst="rect">
            <a:avLst/>
          </a:prstGeom>
        </p:spPr>
      </p:pic>
      <p:pic>
        <p:nvPicPr>
          <p:cNvPr id="41" name="Image 7" descr="preencoded.png"/>
          <p:cNvPicPr>
            <a:picLocks noChangeAspect="1"/>
          </p:cNvPicPr>
          <p:nvPr/>
        </p:nvPicPr>
        <p:blipFill>
          <a:blip r:embed="rId7"/>
          <a:stretch>
            <a:fillRect/>
          </a:stretch>
        </p:blipFill>
        <p:spPr>
          <a:xfrm>
            <a:off x="7298436" y="4343400"/>
            <a:ext cx="164592" cy="164592"/>
          </a:xfrm>
          <a:prstGeom prst="rect">
            <a:avLst/>
          </a:prstGeom>
        </p:spPr>
      </p:pic>
      <p:pic>
        <p:nvPicPr>
          <p:cNvPr id="42" name="Image 8" descr="preencoded.png"/>
          <p:cNvPicPr>
            <a:picLocks noChangeAspect="1"/>
          </p:cNvPicPr>
          <p:nvPr/>
        </p:nvPicPr>
        <p:blipFill>
          <a:blip r:embed="rId8"/>
          <a:stretch>
            <a:fillRect/>
          </a:stretch>
        </p:blipFill>
        <p:spPr>
          <a:xfrm>
            <a:off x="7624572" y="4343400"/>
            <a:ext cx="164592" cy="164592"/>
          </a:xfrm>
          <a:prstGeom prst="rect">
            <a:avLst/>
          </a:prstGeom>
        </p:spPr>
      </p:pic>
      <p:sp>
        <p:nvSpPr>
          <p:cNvPr id="43" name="Shape 32"/>
          <p:cNvSpPr/>
          <p:nvPr/>
        </p:nvSpPr>
        <p:spPr>
          <a:xfrm>
            <a:off x="7895844" y="4288536"/>
            <a:ext cx="274320" cy="274320"/>
          </a:xfrm>
          <a:prstGeom prst="ellipse">
            <a:avLst/>
          </a:prstGeom>
          <a:solidFill>
            <a:srgbClr val="FFF3E8"/>
          </a:solidFill>
          <a:ln w="6350">
            <a:solidFill>
              <a:srgbClr val="FFF3E8"/>
            </a:solidFill>
            <a:prstDash val="solid"/>
          </a:ln>
        </p:spPr>
      </p:sp>
      <p:pic>
        <p:nvPicPr>
          <p:cNvPr id="44" name="Image 9" descr="preencoded.png"/>
          <p:cNvPicPr>
            <a:picLocks noChangeAspect="1"/>
          </p:cNvPicPr>
          <p:nvPr/>
        </p:nvPicPr>
        <p:blipFill>
          <a:blip r:embed="rId9"/>
          <a:stretch>
            <a:fillRect/>
          </a:stretch>
        </p:blipFill>
        <p:spPr>
          <a:xfrm>
            <a:off x="7950708" y="4343400"/>
            <a:ext cx="164592" cy="164592"/>
          </a:xfrm>
          <a:prstGeom prst="rect">
            <a:avLst/>
          </a:prstGeom>
        </p:spPr>
      </p:pic>
      <p:pic>
        <p:nvPicPr>
          <p:cNvPr id="45" name="Image 10" descr="preencoded.png"/>
          <p:cNvPicPr>
            <a:picLocks noChangeAspect="1"/>
          </p:cNvPicPr>
          <p:nvPr/>
        </p:nvPicPr>
        <p:blipFill>
          <a:blip r:embed="rId10"/>
          <a:stretch>
            <a:fillRect/>
          </a:stretch>
        </p:blipFill>
        <p:spPr>
          <a:xfrm>
            <a:off x="8276844" y="4343400"/>
            <a:ext cx="164592" cy="164592"/>
          </a:xfrm>
          <a:prstGeom prst="rect">
            <a:avLst/>
          </a:prstGeom>
        </p:spPr>
      </p:pic>
      <p:sp>
        <p:nvSpPr>
          <p:cNvPr id="46"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Built for people who listen first</a:t>
            </a:r>
            <a:endParaRPr lang="en-US" sz="3000" dirty="0"/>
          </a:p>
        </p:txBody>
      </p:sp>
      <p:sp>
        <p:nvSpPr>
          <p:cNvPr id="3" name="Shape 1"/>
          <p:cNvSpPr/>
          <p:nvPr/>
        </p:nvSpPr>
        <p:spPr>
          <a:xfrm>
            <a:off x="457200" y="1280160"/>
            <a:ext cx="3017520" cy="3337560"/>
          </a:xfrm>
          <a:prstGeom prst="roundRect">
            <a:avLst>
              <a:gd name="adj" fmla="val 4848"/>
            </a:avLst>
          </a:prstGeom>
          <a:solidFill>
            <a:srgbClr val="1F1612"/>
          </a:solidFill>
          <a:ln w="6350">
            <a:solidFill>
              <a:srgbClr val="1F1612"/>
            </a:solidFill>
            <a:prstDash val="solid"/>
          </a:ln>
        </p:spPr>
      </p:sp>
      <p:sp>
        <p:nvSpPr>
          <p:cNvPr id="4" name="Shape 2"/>
          <p:cNvSpPr/>
          <p:nvPr/>
        </p:nvSpPr>
        <p:spPr>
          <a:xfrm>
            <a:off x="731520" y="1554480"/>
            <a:ext cx="640080" cy="640080"/>
          </a:xfrm>
          <a:prstGeom prst="ellipse">
            <a:avLst/>
          </a:prstGeom>
          <a:solidFill>
            <a:srgbClr val="C2410C"/>
          </a:solidFill>
          <a:ln w="6350">
            <a:solidFill>
              <a:srgbClr val="C2410C"/>
            </a:solidFill>
            <a:prstDash val="solid"/>
          </a:ln>
        </p:spPr>
      </p:sp>
      <p:pic>
        <p:nvPicPr>
          <p:cNvPr id="5" name="Image 0" descr="preencoded.png"/>
          <p:cNvPicPr>
            <a:picLocks noChangeAspect="1"/>
          </p:cNvPicPr>
          <p:nvPr/>
        </p:nvPicPr>
        <p:blipFill>
          <a:blip r:embed="rId1"/>
          <a:stretch>
            <a:fillRect/>
          </a:stretch>
        </p:blipFill>
        <p:spPr>
          <a:xfrm>
            <a:off x="891540" y="1714500"/>
            <a:ext cx="320040" cy="320040"/>
          </a:xfrm>
          <a:prstGeom prst="rect">
            <a:avLst/>
          </a:prstGeom>
        </p:spPr>
      </p:pic>
      <p:sp>
        <p:nvSpPr>
          <p:cNvPr id="6" name="Text 3"/>
          <p:cNvSpPr txBox="1"/>
          <p:nvPr/>
        </p:nvSpPr>
        <p:spPr>
          <a:xfrm>
            <a:off x="731520" y="2377440"/>
            <a:ext cx="2560320" cy="1463040"/>
          </a:xfrm>
          <a:prstGeom prst="rect">
            <a:avLst/>
          </a:prstGeom>
          <a:noFill/>
        </p:spPr>
        <p:txBody>
          <a:bodyPr wrap="square" lIns="0" tIns="0" rIns="0" bIns="0" rtlCol="0" anchor="t"/>
          <a:lstStyle/>
          <a:p>
            <a:pPr marL="0" indent="0">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No account.</a:t>
            </a:r>
            <a:endParaRPr lang="en-US" sz="2200" dirty="0"/>
          </a:p>
          <a:p>
            <a:pPr marL="0" indent="0">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No install.</a:t>
            </a:r>
            <a:endParaRPr lang="en-US" sz="2200" dirty="0"/>
          </a:p>
          <a:p>
            <a:pPr marL="0" indent="0">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No sighted help needed.</a:t>
            </a:r>
            <a:endParaRPr lang="en-US" sz="2200" dirty="0"/>
          </a:p>
        </p:txBody>
      </p:sp>
      <p:sp>
        <p:nvSpPr>
          <p:cNvPr id="7" name="Text 4"/>
          <p:cNvSpPr txBox="1"/>
          <p:nvPr/>
        </p:nvSpPr>
        <p:spPr>
          <a:xfrm>
            <a:off x="731520" y="3931920"/>
            <a:ext cx="2560320" cy="457200"/>
          </a:xfrm>
          <a:prstGeom prst="rect">
            <a:avLst/>
          </a:prstGeom>
          <a:noFill/>
        </p:spPr>
        <p:txBody>
          <a:bodyPr wrap="square" lIns="0" tIns="0" rIns="0" bIns="0" rtlCol="0" anchor="t"/>
          <a:lstStyle/>
          <a:p>
            <a:pPr marL="0" indent="0">
              <a:buNone/>
            </a:pPr>
            <a:r>
              <a:rPr lang="en-US" sz="1400" dirty="0">
                <a:solidFill>
                  <a:srgbClr val="F0D6C3"/>
                </a:solidFill>
                <a:latin typeface="Calibri" panose="020F0502020204030204" pitchFamily="34" charset="0"/>
                <a:ea typeface="Calibri" panose="020F0502020204030204" pitchFamily="34" charset="-122"/>
                <a:cs typeface="Calibri" panose="020F0502020204030204" pitchFamily="34" charset="-120"/>
              </a:rPr>
              <a:t>Open the page and start talking.</a:t>
            </a:r>
            <a:endParaRPr lang="en-US" sz="1400" dirty="0"/>
          </a:p>
        </p:txBody>
      </p:sp>
      <p:sp>
        <p:nvSpPr>
          <p:cNvPr id="8" name="Shape 5"/>
          <p:cNvSpPr/>
          <p:nvPr/>
        </p:nvSpPr>
        <p:spPr>
          <a:xfrm>
            <a:off x="3749040" y="1280160"/>
            <a:ext cx="4937760" cy="749808"/>
          </a:xfrm>
          <a:prstGeom prst="roundRect">
            <a:avLst>
              <a:gd name="adj" fmla="val 14634"/>
            </a:avLst>
          </a:prstGeom>
          <a:solidFill>
            <a:srgbClr val="FFF3E8"/>
          </a:solidFill>
          <a:ln w="6350">
            <a:solidFill>
              <a:srgbClr val="F0D6C3"/>
            </a:solidFill>
            <a:prstDash val="solid"/>
          </a:ln>
        </p:spPr>
      </p:sp>
      <p:sp>
        <p:nvSpPr>
          <p:cNvPr id="9" name="Shape 6"/>
          <p:cNvSpPr/>
          <p:nvPr/>
        </p:nvSpPr>
        <p:spPr>
          <a:xfrm>
            <a:off x="3913632" y="1408176"/>
            <a:ext cx="493776" cy="493776"/>
          </a:xfrm>
          <a:prstGeom prst="ellipse">
            <a:avLst/>
          </a:prstGeom>
          <a:solidFill>
            <a:srgbClr val="C2410C"/>
          </a:solidFill>
          <a:ln w="6350">
            <a:solidFill>
              <a:srgbClr val="C2410C"/>
            </a:solidFill>
            <a:prstDash val="solid"/>
          </a:ln>
        </p:spPr>
      </p:sp>
      <p:pic>
        <p:nvPicPr>
          <p:cNvPr id="10" name="Image 1" descr="preencoded.png"/>
          <p:cNvPicPr>
            <a:picLocks noChangeAspect="1"/>
          </p:cNvPicPr>
          <p:nvPr/>
        </p:nvPicPr>
        <p:blipFill>
          <a:blip r:embed="rId2"/>
          <a:stretch>
            <a:fillRect/>
          </a:stretch>
        </p:blipFill>
        <p:spPr>
          <a:xfrm>
            <a:off x="4037076" y="1531620"/>
            <a:ext cx="246888" cy="246888"/>
          </a:xfrm>
          <a:prstGeom prst="rect">
            <a:avLst/>
          </a:prstGeom>
        </p:spPr>
      </p:pic>
      <p:sp>
        <p:nvSpPr>
          <p:cNvPr id="11" name="Text 7"/>
          <p:cNvSpPr txBox="1"/>
          <p:nvPr/>
        </p:nvSpPr>
        <p:spPr>
          <a:xfrm>
            <a:off x="4572000" y="1353312"/>
            <a:ext cx="3931920" cy="274320"/>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Blind users</a:t>
            </a:r>
            <a:endParaRPr lang="en-US" sz="1500" dirty="0"/>
          </a:p>
        </p:txBody>
      </p:sp>
      <p:sp>
        <p:nvSpPr>
          <p:cNvPr id="12" name="Text 8"/>
          <p:cNvSpPr txBox="1"/>
          <p:nvPr/>
        </p:nvSpPr>
        <p:spPr>
          <a:xfrm>
            <a:off x="4572000" y="1645920"/>
            <a:ext cx="3931920" cy="32004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Primary audience: hear text, scenes and answers.</a:t>
            </a:r>
            <a:endParaRPr lang="en-US" sz="1300" dirty="0"/>
          </a:p>
        </p:txBody>
      </p:sp>
      <p:sp>
        <p:nvSpPr>
          <p:cNvPr id="13" name="Shape 9"/>
          <p:cNvSpPr/>
          <p:nvPr/>
        </p:nvSpPr>
        <p:spPr>
          <a:xfrm>
            <a:off x="3749040" y="2130552"/>
            <a:ext cx="4937760" cy="749808"/>
          </a:xfrm>
          <a:prstGeom prst="roundRect">
            <a:avLst>
              <a:gd name="adj" fmla="val 14634"/>
            </a:avLst>
          </a:prstGeom>
          <a:solidFill>
            <a:srgbClr val="FFF3E8"/>
          </a:solidFill>
          <a:ln w="6350">
            <a:solidFill>
              <a:srgbClr val="F0D6C3"/>
            </a:solidFill>
            <a:prstDash val="solid"/>
          </a:ln>
        </p:spPr>
      </p:sp>
      <p:sp>
        <p:nvSpPr>
          <p:cNvPr id="14" name="Shape 10"/>
          <p:cNvSpPr/>
          <p:nvPr/>
        </p:nvSpPr>
        <p:spPr>
          <a:xfrm>
            <a:off x="3913632" y="2258568"/>
            <a:ext cx="493776" cy="493776"/>
          </a:xfrm>
          <a:prstGeom prst="ellipse">
            <a:avLst/>
          </a:prstGeom>
          <a:solidFill>
            <a:srgbClr val="C2410C"/>
          </a:solidFill>
          <a:ln w="6350">
            <a:solidFill>
              <a:srgbClr val="C2410C"/>
            </a:solidFill>
            <a:prstDash val="solid"/>
          </a:ln>
        </p:spPr>
      </p:sp>
      <p:pic>
        <p:nvPicPr>
          <p:cNvPr id="15" name="Image 2" descr="preencoded.png"/>
          <p:cNvPicPr>
            <a:picLocks noChangeAspect="1"/>
          </p:cNvPicPr>
          <p:nvPr/>
        </p:nvPicPr>
        <p:blipFill>
          <a:blip r:embed="rId3"/>
          <a:stretch>
            <a:fillRect/>
          </a:stretch>
        </p:blipFill>
        <p:spPr>
          <a:xfrm>
            <a:off x="4037076" y="2382012"/>
            <a:ext cx="246888" cy="246888"/>
          </a:xfrm>
          <a:prstGeom prst="rect">
            <a:avLst/>
          </a:prstGeom>
        </p:spPr>
      </p:pic>
      <p:sp>
        <p:nvSpPr>
          <p:cNvPr id="16" name="Text 11"/>
          <p:cNvSpPr txBox="1"/>
          <p:nvPr/>
        </p:nvSpPr>
        <p:spPr>
          <a:xfrm>
            <a:off x="4572000" y="2203704"/>
            <a:ext cx="3931920" cy="274320"/>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Low-vision users</a:t>
            </a:r>
            <a:endParaRPr lang="en-US" sz="1500" dirty="0"/>
          </a:p>
        </p:txBody>
      </p:sp>
      <p:sp>
        <p:nvSpPr>
          <p:cNvPr id="17" name="Text 12"/>
          <p:cNvSpPr txBox="1"/>
          <p:nvPr/>
        </p:nvSpPr>
        <p:spPr>
          <a:xfrm>
            <a:off x="4572000" y="2496312"/>
            <a:ext cx="3931920" cy="32004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Large buttons, high contrast, spoken feedback.</a:t>
            </a:r>
            <a:endParaRPr lang="en-US" sz="1300" dirty="0"/>
          </a:p>
        </p:txBody>
      </p:sp>
      <p:sp>
        <p:nvSpPr>
          <p:cNvPr id="18" name="Shape 13"/>
          <p:cNvSpPr/>
          <p:nvPr/>
        </p:nvSpPr>
        <p:spPr>
          <a:xfrm>
            <a:off x="3749040" y="2980944"/>
            <a:ext cx="4937760" cy="749808"/>
          </a:xfrm>
          <a:prstGeom prst="roundRect">
            <a:avLst>
              <a:gd name="adj" fmla="val 14634"/>
            </a:avLst>
          </a:prstGeom>
          <a:solidFill>
            <a:srgbClr val="FFF3E8"/>
          </a:solidFill>
          <a:ln w="6350">
            <a:solidFill>
              <a:srgbClr val="F0D6C3"/>
            </a:solidFill>
            <a:prstDash val="solid"/>
          </a:ln>
        </p:spPr>
      </p:sp>
      <p:sp>
        <p:nvSpPr>
          <p:cNvPr id="19" name="Shape 14"/>
          <p:cNvSpPr/>
          <p:nvPr/>
        </p:nvSpPr>
        <p:spPr>
          <a:xfrm>
            <a:off x="3913632" y="3108960"/>
            <a:ext cx="493776" cy="493776"/>
          </a:xfrm>
          <a:prstGeom prst="ellipse">
            <a:avLst/>
          </a:prstGeom>
          <a:solidFill>
            <a:srgbClr val="C2410C"/>
          </a:solidFill>
          <a:ln w="6350">
            <a:solidFill>
              <a:srgbClr val="C2410C"/>
            </a:solidFill>
            <a:prstDash val="solid"/>
          </a:ln>
        </p:spPr>
      </p:sp>
      <p:pic>
        <p:nvPicPr>
          <p:cNvPr id="20" name="Image 3" descr="preencoded.png"/>
          <p:cNvPicPr>
            <a:picLocks noChangeAspect="1"/>
          </p:cNvPicPr>
          <p:nvPr/>
        </p:nvPicPr>
        <p:blipFill>
          <a:blip r:embed="rId4"/>
          <a:stretch>
            <a:fillRect/>
          </a:stretch>
        </p:blipFill>
        <p:spPr>
          <a:xfrm>
            <a:off x="4037076" y="3232404"/>
            <a:ext cx="246888" cy="246888"/>
          </a:xfrm>
          <a:prstGeom prst="rect">
            <a:avLst/>
          </a:prstGeom>
        </p:spPr>
      </p:pic>
      <p:sp>
        <p:nvSpPr>
          <p:cNvPr id="21" name="Text 15"/>
          <p:cNvSpPr txBox="1"/>
          <p:nvPr/>
        </p:nvSpPr>
        <p:spPr>
          <a:xfrm>
            <a:off x="4572000" y="3054096"/>
            <a:ext cx="3931920" cy="274320"/>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Elderly users</a:t>
            </a:r>
            <a:endParaRPr lang="en-US" sz="1500" dirty="0"/>
          </a:p>
        </p:txBody>
      </p:sp>
      <p:sp>
        <p:nvSpPr>
          <p:cNvPr id="22" name="Text 16"/>
          <p:cNvSpPr txBox="1"/>
          <p:nvPr/>
        </p:nvSpPr>
        <p:spPr>
          <a:xfrm>
            <a:off x="4572000" y="3346704"/>
            <a:ext cx="3931920" cy="32004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Simple screens, one clear action at a time.</a:t>
            </a:r>
            <a:endParaRPr lang="en-US" sz="1300" dirty="0"/>
          </a:p>
        </p:txBody>
      </p:sp>
      <p:sp>
        <p:nvSpPr>
          <p:cNvPr id="23" name="Shape 17"/>
          <p:cNvSpPr/>
          <p:nvPr/>
        </p:nvSpPr>
        <p:spPr>
          <a:xfrm>
            <a:off x="3749040" y="3831336"/>
            <a:ext cx="4937760" cy="749808"/>
          </a:xfrm>
          <a:prstGeom prst="roundRect">
            <a:avLst>
              <a:gd name="adj" fmla="val 14634"/>
            </a:avLst>
          </a:prstGeom>
          <a:solidFill>
            <a:srgbClr val="FFF3E8"/>
          </a:solidFill>
          <a:ln w="6350">
            <a:solidFill>
              <a:srgbClr val="F0D6C3"/>
            </a:solidFill>
            <a:prstDash val="solid"/>
          </a:ln>
        </p:spPr>
      </p:sp>
      <p:sp>
        <p:nvSpPr>
          <p:cNvPr id="24" name="Shape 18"/>
          <p:cNvSpPr/>
          <p:nvPr/>
        </p:nvSpPr>
        <p:spPr>
          <a:xfrm>
            <a:off x="3913632" y="3959352"/>
            <a:ext cx="493776" cy="493776"/>
          </a:xfrm>
          <a:prstGeom prst="ellipse">
            <a:avLst/>
          </a:prstGeom>
          <a:solidFill>
            <a:srgbClr val="C2410C"/>
          </a:solidFill>
          <a:ln w="6350">
            <a:solidFill>
              <a:srgbClr val="C2410C"/>
            </a:solidFill>
            <a:prstDash val="solid"/>
          </a:ln>
        </p:spPr>
      </p:sp>
      <p:pic>
        <p:nvPicPr>
          <p:cNvPr id="25" name="Image 4" descr="preencoded.png"/>
          <p:cNvPicPr>
            <a:picLocks noChangeAspect="1"/>
          </p:cNvPicPr>
          <p:nvPr/>
        </p:nvPicPr>
        <p:blipFill>
          <a:blip r:embed="rId5"/>
          <a:stretch>
            <a:fillRect/>
          </a:stretch>
        </p:blipFill>
        <p:spPr>
          <a:xfrm>
            <a:off x="4037076" y="4082796"/>
            <a:ext cx="246888" cy="246888"/>
          </a:xfrm>
          <a:prstGeom prst="rect">
            <a:avLst/>
          </a:prstGeom>
        </p:spPr>
      </p:pic>
      <p:sp>
        <p:nvSpPr>
          <p:cNvPr id="26" name="Text 19"/>
          <p:cNvSpPr txBox="1"/>
          <p:nvPr/>
        </p:nvSpPr>
        <p:spPr>
          <a:xfrm>
            <a:off x="4572000" y="3904488"/>
            <a:ext cx="3931920" cy="274320"/>
          </a:xfrm>
          <a:prstGeom prst="rect">
            <a:avLst/>
          </a:prstGeom>
          <a:noFill/>
        </p:spPr>
        <p:txBody>
          <a:bodyPr wrap="square" lIns="0" tIns="0" rIns="0" bIns="0" rtlCol="0" anchor="t"/>
          <a:lstStyle/>
          <a:p>
            <a:pPr marL="0" indent="0">
              <a:buNone/>
            </a:pPr>
            <a:r>
              <a:rPr lang="en-US" sz="1500" b="1" dirty="0">
                <a:solidFill>
                  <a:srgbClr val="1F1612"/>
                </a:solidFill>
                <a:latin typeface="Calibri" panose="020F0502020204030204" pitchFamily="34" charset="0"/>
                <a:ea typeface="Calibri" panose="020F0502020204030204" pitchFamily="34" charset="-122"/>
                <a:cs typeface="Calibri" panose="020F0502020204030204" pitchFamily="34" charset="-120"/>
              </a:rPr>
              <a:t>Regional-language speakers</a:t>
            </a:r>
            <a:endParaRPr lang="en-US" sz="1500" dirty="0"/>
          </a:p>
        </p:txBody>
      </p:sp>
      <p:sp>
        <p:nvSpPr>
          <p:cNvPr id="27" name="Text 20"/>
          <p:cNvSpPr txBox="1"/>
          <p:nvPr/>
        </p:nvSpPr>
        <p:spPr>
          <a:xfrm>
            <a:off x="4572000" y="4197096"/>
            <a:ext cx="3931920" cy="32004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Seven Indian languages for speech and translation.</a:t>
            </a:r>
            <a:endParaRPr lang="en-US" sz="1300" dirty="0"/>
          </a:p>
        </p:txBody>
      </p:sp>
      <p:sp>
        <p:nvSpPr>
          <p:cNvPr id="28"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Everything in one app</a:t>
            </a:r>
            <a:endParaRPr lang="en-US" sz="3000" dirty="0"/>
          </a:p>
        </p:txBody>
      </p:sp>
      <p:sp>
        <p:nvSpPr>
          <p:cNvPr id="3" name="Shape 1"/>
          <p:cNvSpPr/>
          <p:nvPr/>
        </p:nvSpPr>
        <p:spPr>
          <a:xfrm>
            <a:off x="457200" y="128016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4" name="Shape 2"/>
          <p:cNvSpPr/>
          <p:nvPr/>
        </p:nvSpPr>
        <p:spPr>
          <a:xfrm>
            <a:off x="640080" y="1463040"/>
            <a:ext cx="457200" cy="457200"/>
          </a:xfrm>
          <a:prstGeom prst="ellipse">
            <a:avLst/>
          </a:prstGeom>
          <a:solidFill>
            <a:srgbClr val="C2410C"/>
          </a:solidFill>
          <a:ln w="6350">
            <a:solidFill>
              <a:srgbClr val="C2410C"/>
            </a:solidFill>
            <a:prstDash val="solid"/>
          </a:ln>
        </p:spPr>
      </p:sp>
      <p:pic>
        <p:nvPicPr>
          <p:cNvPr id="5" name="Image 0" descr="preencoded.png"/>
          <p:cNvPicPr>
            <a:picLocks noChangeAspect="1"/>
          </p:cNvPicPr>
          <p:nvPr/>
        </p:nvPicPr>
        <p:blipFill>
          <a:blip r:embed="rId1"/>
          <a:stretch>
            <a:fillRect/>
          </a:stretch>
        </p:blipFill>
        <p:spPr>
          <a:xfrm>
            <a:off x="754380" y="1577340"/>
            <a:ext cx="228600" cy="228600"/>
          </a:xfrm>
          <a:prstGeom prst="rect">
            <a:avLst/>
          </a:prstGeom>
        </p:spPr>
      </p:pic>
      <p:sp>
        <p:nvSpPr>
          <p:cNvPr id="6" name="Text 3"/>
          <p:cNvSpPr txBox="1"/>
          <p:nvPr/>
        </p:nvSpPr>
        <p:spPr>
          <a:xfrm>
            <a:off x="1234440" y="153619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Vision Lens</a:t>
            </a:r>
            <a:endParaRPr lang="en-US" sz="1600" dirty="0"/>
          </a:p>
        </p:txBody>
      </p:sp>
      <p:sp>
        <p:nvSpPr>
          <p:cNvPr id="7" name="Text 4"/>
          <p:cNvSpPr txBox="1"/>
          <p:nvPr/>
        </p:nvSpPr>
        <p:spPr>
          <a:xfrm>
            <a:off x="640080" y="210312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Reads menus, labels and documents; describes scenes.</a:t>
            </a:r>
            <a:endParaRPr lang="en-US" sz="1350" dirty="0"/>
          </a:p>
        </p:txBody>
      </p:sp>
      <p:sp>
        <p:nvSpPr>
          <p:cNvPr id="8" name="Shape 5"/>
          <p:cNvSpPr/>
          <p:nvPr/>
        </p:nvSpPr>
        <p:spPr>
          <a:xfrm>
            <a:off x="3246120" y="128016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9" name="Shape 6"/>
          <p:cNvSpPr/>
          <p:nvPr/>
        </p:nvSpPr>
        <p:spPr>
          <a:xfrm>
            <a:off x="3429000" y="1463040"/>
            <a:ext cx="457200" cy="457200"/>
          </a:xfrm>
          <a:prstGeom prst="ellipse">
            <a:avLst/>
          </a:prstGeom>
          <a:solidFill>
            <a:srgbClr val="C2410C"/>
          </a:solidFill>
          <a:ln w="6350">
            <a:solidFill>
              <a:srgbClr val="C2410C"/>
            </a:solidFill>
            <a:prstDash val="solid"/>
          </a:ln>
        </p:spPr>
      </p:sp>
      <p:pic>
        <p:nvPicPr>
          <p:cNvPr id="10" name="Image 1" descr="preencoded.png"/>
          <p:cNvPicPr>
            <a:picLocks noChangeAspect="1"/>
          </p:cNvPicPr>
          <p:nvPr/>
        </p:nvPicPr>
        <p:blipFill>
          <a:blip r:embed="rId2"/>
          <a:stretch>
            <a:fillRect/>
          </a:stretch>
        </p:blipFill>
        <p:spPr>
          <a:xfrm>
            <a:off x="3543300" y="1577340"/>
            <a:ext cx="228600" cy="228600"/>
          </a:xfrm>
          <a:prstGeom prst="rect">
            <a:avLst/>
          </a:prstGeom>
        </p:spPr>
      </p:pic>
      <p:sp>
        <p:nvSpPr>
          <p:cNvPr id="11" name="Text 7"/>
          <p:cNvSpPr txBox="1"/>
          <p:nvPr/>
        </p:nvSpPr>
        <p:spPr>
          <a:xfrm>
            <a:off x="4023360" y="153619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Voice agent</a:t>
            </a:r>
            <a:endParaRPr lang="en-US" sz="1600" dirty="0"/>
          </a:p>
        </p:txBody>
      </p:sp>
      <p:sp>
        <p:nvSpPr>
          <p:cNvPr id="12" name="Text 8"/>
          <p:cNvSpPr txBox="1"/>
          <p:nvPr/>
        </p:nvSpPr>
        <p:spPr>
          <a:xfrm>
            <a:off x="3429000" y="210312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Spoken commands and spoken answers.</a:t>
            </a:r>
            <a:endParaRPr lang="en-US" sz="1350" dirty="0"/>
          </a:p>
        </p:txBody>
      </p:sp>
      <p:sp>
        <p:nvSpPr>
          <p:cNvPr id="13" name="Shape 9"/>
          <p:cNvSpPr/>
          <p:nvPr/>
        </p:nvSpPr>
        <p:spPr>
          <a:xfrm>
            <a:off x="6035040" y="128016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14" name="Shape 10"/>
          <p:cNvSpPr/>
          <p:nvPr/>
        </p:nvSpPr>
        <p:spPr>
          <a:xfrm>
            <a:off x="6217920" y="1463040"/>
            <a:ext cx="457200" cy="457200"/>
          </a:xfrm>
          <a:prstGeom prst="ellipse">
            <a:avLst/>
          </a:prstGeom>
          <a:solidFill>
            <a:srgbClr val="C2410C"/>
          </a:solidFill>
          <a:ln w="6350">
            <a:solidFill>
              <a:srgbClr val="C2410C"/>
            </a:solidFill>
            <a:prstDash val="solid"/>
          </a:ln>
        </p:spPr>
      </p:sp>
      <p:pic>
        <p:nvPicPr>
          <p:cNvPr id="15" name="Image 2" descr="preencoded.png"/>
          <p:cNvPicPr>
            <a:picLocks noChangeAspect="1"/>
          </p:cNvPicPr>
          <p:nvPr/>
        </p:nvPicPr>
        <p:blipFill>
          <a:blip r:embed="rId3"/>
          <a:stretch>
            <a:fillRect/>
          </a:stretch>
        </p:blipFill>
        <p:spPr>
          <a:xfrm>
            <a:off x="6332220" y="1577340"/>
            <a:ext cx="228600" cy="228600"/>
          </a:xfrm>
          <a:prstGeom prst="rect">
            <a:avLst/>
          </a:prstGeom>
        </p:spPr>
      </p:pic>
      <p:sp>
        <p:nvSpPr>
          <p:cNvPr id="16" name="Text 11"/>
          <p:cNvSpPr txBox="1"/>
          <p:nvPr/>
        </p:nvSpPr>
        <p:spPr>
          <a:xfrm>
            <a:off x="6812280" y="153619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Go</a:t>
            </a:r>
            <a:endParaRPr lang="en-US" sz="1600" dirty="0"/>
          </a:p>
        </p:txBody>
      </p:sp>
      <p:sp>
        <p:nvSpPr>
          <p:cNvPr id="17" name="Text 12"/>
          <p:cNvSpPr txBox="1"/>
          <p:nvPr/>
        </p:nvSpPr>
        <p:spPr>
          <a:xfrm>
            <a:off x="6217920" y="210312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Walking distance and time to a destination.</a:t>
            </a:r>
            <a:endParaRPr lang="en-US" sz="1350" dirty="0"/>
          </a:p>
        </p:txBody>
      </p:sp>
      <p:sp>
        <p:nvSpPr>
          <p:cNvPr id="18" name="Shape 13"/>
          <p:cNvSpPr/>
          <p:nvPr/>
        </p:nvSpPr>
        <p:spPr>
          <a:xfrm>
            <a:off x="457200" y="297180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19" name="Shape 14"/>
          <p:cNvSpPr/>
          <p:nvPr/>
        </p:nvSpPr>
        <p:spPr>
          <a:xfrm>
            <a:off x="640080" y="3154680"/>
            <a:ext cx="457200" cy="457200"/>
          </a:xfrm>
          <a:prstGeom prst="ellipse">
            <a:avLst/>
          </a:prstGeom>
          <a:solidFill>
            <a:srgbClr val="C2410C"/>
          </a:solidFill>
          <a:ln w="6350">
            <a:solidFill>
              <a:srgbClr val="C2410C"/>
            </a:solidFill>
            <a:prstDash val="solid"/>
          </a:ln>
        </p:spPr>
      </p:sp>
      <p:pic>
        <p:nvPicPr>
          <p:cNvPr id="20" name="Image 3" descr="preencoded.png"/>
          <p:cNvPicPr>
            <a:picLocks noChangeAspect="1"/>
          </p:cNvPicPr>
          <p:nvPr/>
        </p:nvPicPr>
        <p:blipFill>
          <a:blip r:embed="rId4"/>
          <a:stretch>
            <a:fillRect/>
          </a:stretch>
        </p:blipFill>
        <p:spPr>
          <a:xfrm>
            <a:off x="754380" y="3268980"/>
            <a:ext cx="228600" cy="228600"/>
          </a:xfrm>
          <a:prstGeom prst="rect">
            <a:avLst/>
          </a:prstGeom>
        </p:spPr>
      </p:pic>
      <p:sp>
        <p:nvSpPr>
          <p:cNvPr id="21" name="Text 15"/>
          <p:cNvSpPr txBox="1"/>
          <p:nvPr/>
        </p:nvSpPr>
        <p:spPr>
          <a:xfrm>
            <a:off x="1234440" y="322783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Translator</a:t>
            </a:r>
            <a:endParaRPr lang="en-US" sz="1600" dirty="0"/>
          </a:p>
        </p:txBody>
      </p:sp>
      <p:sp>
        <p:nvSpPr>
          <p:cNvPr id="22" name="Text 16"/>
          <p:cNvSpPr txBox="1"/>
          <p:nvPr/>
        </p:nvSpPr>
        <p:spPr>
          <a:xfrm>
            <a:off x="640080" y="379476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Text and dictation across seven languages.</a:t>
            </a:r>
            <a:endParaRPr lang="en-US" sz="1350" dirty="0"/>
          </a:p>
        </p:txBody>
      </p:sp>
      <p:sp>
        <p:nvSpPr>
          <p:cNvPr id="23" name="Shape 17"/>
          <p:cNvSpPr/>
          <p:nvPr/>
        </p:nvSpPr>
        <p:spPr>
          <a:xfrm>
            <a:off x="3246120" y="297180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24" name="Shape 18"/>
          <p:cNvSpPr/>
          <p:nvPr/>
        </p:nvSpPr>
        <p:spPr>
          <a:xfrm>
            <a:off x="3429000" y="3154680"/>
            <a:ext cx="457200" cy="457200"/>
          </a:xfrm>
          <a:prstGeom prst="ellipse">
            <a:avLst/>
          </a:prstGeom>
          <a:solidFill>
            <a:srgbClr val="B42318"/>
          </a:solidFill>
          <a:ln w="6350">
            <a:solidFill>
              <a:srgbClr val="B42318"/>
            </a:solidFill>
            <a:prstDash val="solid"/>
          </a:ln>
        </p:spPr>
      </p:sp>
      <p:pic>
        <p:nvPicPr>
          <p:cNvPr id="25" name="Image 4" descr="preencoded.png"/>
          <p:cNvPicPr>
            <a:picLocks noChangeAspect="1"/>
          </p:cNvPicPr>
          <p:nvPr/>
        </p:nvPicPr>
        <p:blipFill>
          <a:blip r:embed="rId5"/>
          <a:stretch>
            <a:fillRect/>
          </a:stretch>
        </p:blipFill>
        <p:spPr>
          <a:xfrm>
            <a:off x="3543300" y="3268980"/>
            <a:ext cx="228600" cy="228600"/>
          </a:xfrm>
          <a:prstGeom prst="rect">
            <a:avLst/>
          </a:prstGeom>
        </p:spPr>
      </p:pic>
      <p:sp>
        <p:nvSpPr>
          <p:cNvPr id="26" name="Text 19"/>
          <p:cNvSpPr txBox="1"/>
          <p:nvPr/>
        </p:nvSpPr>
        <p:spPr>
          <a:xfrm>
            <a:off x="4023360" y="322783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Emergency</a:t>
            </a:r>
            <a:endParaRPr lang="en-US" sz="1600" dirty="0"/>
          </a:p>
        </p:txBody>
      </p:sp>
      <p:sp>
        <p:nvSpPr>
          <p:cNvPr id="27" name="Text 20"/>
          <p:cNvSpPr txBox="1"/>
          <p:nvPr/>
        </p:nvSpPr>
        <p:spPr>
          <a:xfrm>
            <a:off x="3429000" y="379476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SOS, call a trusted contact, share location.</a:t>
            </a:r>
            <a:endParaRPr lang="en-US" sz="1350" dirty="0"/>
          </a:p>
        </p:txBody>
      </p:sp>
      <p:sp>
        <p:nvSpPr>
          <p:cNvPr id="28" name="Shape 21"/>
          <p:cNvSpPr/>
          <p:nvPr/>
        </p:nvSpPr>
        <p:spPr>
          <a:xfrm>
            <a:off x="6035040" y="2971800"/>
            <a:ext cx="2651760" cy="1554480"/>
          </a:xfrm>
          <a:prstGeom prst="roundRect">
            <a:avLst>
              <a:gd name="adj" fmla="val 823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29" name="Shape 22"/>
          <p:cNvSpPr/>
          <p:nvPr/>
        </p:nvSpPr>
        <p:spPr>
          <a:xfrm>
            <a:off x="6217920" y="3154680"/>
            <a:ext cx="457200" cy="457200"/>
          </a:xfrm>
          <a:prstGeom prst="ellipse">
            <a:avLst/>
          </a:prstGeom>
          <a:solidFill>
            <a:srgbClr val="C2410C"/>
          </a:solidFill>
          <a:ln w="6350">
            <a:solidFill>
              <a:srgbClr val="C2410C"/>
            </a:solidFill>
            <a:prstDash val="solid"/>
          </a:ln>
        </p:spPr>
      </p:sp>
      <p:pic>
        <p:nvPicPr>
          <p:cNvPr id="30" name="Image 5" descr="preencoded.png"/>
          <p:cNvPicPr>
            <a:picLocks noChangeAspect="1"/>
          </p:cNvPicPr>
          <p:nvPr/>
        </p:nvPicPr>
        <p:blipFill>
          <a:blip r:embed="rId6"/>
          <a:stretch>
            <a:fillRect/>
          </a:stretch>
        </p:blipFill>
        <p:spPr>
          <a:xfrm>
            <a:off x="6332220" y="3268980"/>
            <a:ext cx="228600" cy="228600"/>
          </a:xfrm>
          <a:prstGeom prst="rect">
            <a:avLst/>
          </a:prstGeom>
        </p:spPr>
      </p:pic>
      <p:sp>
        <p:nvSpPr>
          <p:cNvPr id="31" name="Text 23"/>
          <p:cNvSpPr txBox="1"/>
          <p:nvPr/>
        </p:nvSpPr>
        <p:spPr>
          <a:xfrm>
            <a:off x="6812280" y="3227832"/>
            <a:ext cx="1783080" cy="320040"/>
          </a:xfrm>
          <a:prstGeom prst="rect">
            <a:avLst/>
          </a:prstGeom>
          <a:noFill/>
        </p:spPr>
        <p:txBody>
          <a:bodyPr wrap="square" lIns="0" tIns="0" rIns="0" bIns="0" rtlCol="0" anchor="ctr"/>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Notes &amp; reminders</a:t>
            </a:r>
            <a:endParaRPr lang="en-US" sz="1600" dirty="0"/>
          </a:p>
        </p:txBody>
      </p:sp>
      <p:sp>
        <p:nvSpPr>
          <p:cNvPr id="32" name="Text 24"/>
          <p:cNvSpPr txBox="1"/>
          <p:nvPr/>
        </p:nvSpPr>
        <p:spPr>
          <a:xfrm>
            <a:off x="6217920" y="3794760"/>
            <a:ext cx="2331720" cy="64008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Save notes, set timers, store contacts.</a:t>
            </a:r>
            <a:endParaRPr lang="en-US" sz="1350" dirty="0"/>
          </a:p>
        </p:txBody>
      </p:sp>
      <p:sp>
        <p:nvSpPr>
          <p:cNvPr id="33"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3566160" y="274320"/>
            <a:ext cx="512064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Vision Lens: point, ask, listen</a:t>
            </a:r>
            <a:endParaRPr lang="en-US" sz="3000" dirty="0"/>
          </a:p>
        </p:txBody>
      </p:sp>
      <p:sp>
        <p:nvSpPr>
          <p:cNvPr id="3" name="Shape 1"/>
          <p:cNvSpPr/>
          <p:nvPr/>
        </p:nvSpPr>
        <p:spPr>
          <a:xfrm>
            <a:off x="548640" y="274320"/>
            <a:ext cx="2286000" cy="4434840"/>
          </a:xfrm>
          <a:prstGeom prst="roundRect">
            <a:avLst>
              <a:gd name="adj" fmla="val 12800"/>
            </a:avLst>
          </a:prstGeom>
          <a:solidFill>
            <a:srgbClr val="1F1612"/>
          </a:solidFill>
          <a:ln w="6350">
            <a:solidFill>
              <a:srgbClr val="1F1612"/>
            </a:solidFill>
            <a:prstDash val="solid"/>
          </a:ln>
          <a:effectLst>
            <a:outerShdw blurRad="127000" dist="38100" dir="5400000" algn="bl" rotWithShape="0">
              <a:srgbClr val="000000">
                <a:alpha val="18000"/>
              </a:srgbClr>
            </a:outerShdw>
          </a:effectLst>
        </p:spPr>
      </p:sp>
      <p:sp>
        <p:nvSpPr>
          <p:cNvPr id="4" name="Shape 2"/>
          <p:cNvSpPr/>
          <p:nvPr/>
        </p:nvSpPr>
        <p:spPr>
          <a:xfrm>
            <a:off x="621792" y="347472"/>
            <a:ext cx="2139696" cy="4288536"/>
          </a:xfrm>
          <a:prstGeom prst="roundRect">
            <a:avLst>
              <a:gd name="adj" fmla="val 11111"/>
            </a:avLst>
          </a:prstGeom>
          <a:solidFill>
            <a:srgbClr val="FFFAF5"/>
          </a:solidFill>
          <a:ln w="6350">
            <a:solidFill>
              <a:srgbClr val="FFFAF5"/>
            </a:solidFill>
            <a:prstDash val="solid"/>
          </a:ln>
        </p:spPr>
      </p:sp>
      <p:sp>
        <p:nvSpPr>
          <p:cNvPr id="5" name="Shape 3"/>
          <p:cNvSpPr/>
          <p:nvPr/>
        </p:nvSpPr>
        <p:spPr>
          <a:xfrm>
            <a:off x="1325880" y="402336"/>
            <a:ext cx="731520" cy="109728"/>
          </a:xfrm>
          <a:prstGeom prst="roundRect">
            <a:avLst>
              <a:gd name="adj" fmla="val 50000"/>
            </a:avLst>
          </a:prstGeom>
          <a:solidFill>
            <a:srgbClr val="1F1612"/>
          </a:solidFill>
          <a:ln w="6350">
            <a:solidFill>
              <a:srgbClr val="1F1612"/>
            </a:solidFill>
            <a:prstDash val="solid"/>
          </a:ln>
        </p:spPr>
      </p:sp>
      <p:sp>
        <p:nvSpPr>
          <p:cNvPr id="6" name="Text 4"/>
          <p:cNvSpPr txBox="1"/>
          <p:nvPr/>
        </p:nvSpPr>
        <p:spPr>
          <a:xfrm>
            <a:off x="786384" y="713232"/>
            <a:ext cx="1865376" cy="137160"/>
          </a:xfrm>
          <a:prstGeom prst="rect">
            <a:avLst/>
          </a:prstGeom>
          <a:noFill/>
        </p:spPr>
        <p:txBody>
          <a:bodyPr wrap="square" lIns="0" tIns="0" rIns="0" bIns="0" rtlCol="0" anchor="t"/>
          <a:lstStyle/>
          <a:p>
            <a:pPr marL="0" indent="0">
              <a:buNone/>
            </a:pPr>
            <a:r>
              <a:rPr lang="en-US" sz="700" b="1" kern="0" spc="100" dirty="0">
                <a:solidFill>
                  <a:srgbClr val="C2410C"/>
                </a:solidFill>
                <a:latin typeface="Calibri" panose="020F0502020204030204" pitchFamily="34" charset="0"/>
                <a:ea typeface="Calibri" panose="020F0502020204030204" pitchFamily="34" charset="-122"/>
                <a:cs typeface="Calibri" panose="020F0502020204030204" pitchFamily="34" charset="-120"/>
              </a:rPr>
              <a:t>VISION ASSIST</a:t>
            </a:r>
            <a:endParaRPr lang="en-US" sz="700" dirty="0"/>
          </a:p>
        </p:txBody>
      </p:sp>
      <p:sp>
        <p:nvSpPr>
          <p:cNvPr id="7" name="Text 5"/>
          <p:cNvSpPr txBox="1"/>
          <p:nvPr/>
        </p:nvSpPr>
        <p:spPr>
          <a:xfrm>
            <a:off x="786384" y="859536"/>
            <a:ext cx="1865376" cy="228600"/>
          </a:xfrm>
          <a:prstGeom prst="rect">
            <a:avLst/>
          </a:prstGeom>
          <a:noFill/>
        </p:spPr>
        <p:txBody>
          <a:bodyPr wrap="square" lIns="0" tIns="0" rIns="0" bIns="0" rtlCol="0" anchor="t"/>
          <a:lstStyle/>
          <a:p>
            <a:pPr marL="0" indent="0">
              <a:buNone/>
            </a:pPr>
            <a:r>
              <a:rPr lang="en-US" sz="1100" b="1" dirty="0">
                <a:solidFill>
                  <a:srgbClr val="1F1612"/>
                </a:solidFill>
                <a:latin typeface="Cambria" panose="02040503050406030204" pitchFamily="34" charset="0"/>
                <a:ea typeface="Cambria" panose="02040503050406030204" pitchFamily="34" charset="-122"/>
                <a:cs typeface="Cambria" panose="02040503050406030204" pitchFamily="34" charset="-120"/>
              </a:rPr>
              <a:t>What should I help with?</a:t>
            </a:r>
            <a:endParaRPr lang="en-US" sz="1100" dirty="0"/>
          </a:p>
        </p:txBody>
      </p:sp>
      <p:sp>
        <p:nvSpPr>
          <p:cNvPr id="8" name="Shape 6"/>
          <p:cNvSpPr/>
          <p:nvPr/>
        </p:nvSpPr>
        <p:spPr>
          <a:xfrm>
            <a:off x="758952" y="1170432"/>
            <a:ext cx="1865376" cy="1371600"/>
          </a:xfrm>
          <a:prstGeom prst="roundRect">
            <a:avLst>
              <a:gd name="adj" fmla="val 8000"/>
            </a:avLst>
          </a:prstGeom>
          <a:solidFill>
            <a:srgbClr val="2B211B"/>
          </a:solidFill>
          <a:ln w="6350">
            <a:solidFill>
              <a:srgbClr val="2B211B"/>
            </a:solidFill>
            <a:prstDash val="solid"/>
          </a:ln>
        </p:spPr>
      </p:sp>
      <p:sp>
        <p:nvSpPr>
          <p:cNvPr id="9" name="Shape 7"/>
          <p:cNvSpPr/>
          <p:nvPr/>
        </p:nvSpPr>
        <p:spPr>
          <a:xfrm rot="-300000">
            <a:off x="1124712" y="1307592"/>
            <a:ext cx="1133856" cy="1097280"/>
          </a:xfrm>
          <a:prstGeom prst="roundRect">
            <a:avLst>
              <a:gd name="adj" fmla="val 2500"/>
            </a:avLst>
          </a:prstGeom>
          <a:solidFill>
            <a:srgbClr val="F5EFE6"/>
          </a:solidFill>
          <a:ln w="6350">
            <a:solidFill>
              <a:srgbClr val="F5EFE6"/>
            </a:solidFill>
            <a:prstDash val="solid"/>
          </a:ln>
        </p:spPr>
      </p:sp>
      <p:sp>
        <p:nvSpPr>
          <p:cNvPr id="10" name="Shape 8"/>
          <p:cNvSpPr/>
          <p:nvPr/>
        </p:nvSpPr>
        <p:spPr>
          <a:xfrm rot="-300000">
            <a:off x="1261872" y="1444752"/>
            <a:ext cx="601675" cy="41148"/>
          </a:xfrm>
          <a:prstGeom prst="rect">
            <a:avLst/>
          </a:prstGeom>
          <a:solidFill>
            <a:srgbClr val="6E6057"/>
          </a:solidFill>
          <a:ln w="3175">
            <a:solidFill>
              <a:srgbClr val="6E6057"/>
            </a:solidFill>
            <a:prstDash val="solid"/>
          </a:ln>
        </p:spPr>
      </p:sp>
      <p:sp>
        <p:nvSpPr>
          <p:cNvPr id="11" name="Shape 9"/>
          <p:cNvSpPr/>
          <p:nvPr/>
        </p:nvSpPr>
        <p:spPr>
          <a:xfrm rot="-300000">
            <a:off x="1307592" y="1572768"/>
            <a:ext cx="816559" cy="41148"/>
          </a:xfrm>
          <a:prstGeom prst="rect">
            <a:avLst/>
          </a:prstGeom>
          <a:solidFill>
            <a:srgbClr val="B9AEA3"/>
          </a:solidFill>
          <a:ln w="3175">
            <a:solidFill>
              <a:srgbClr val="B9AEA3"/>
            </a:solidFill>
            <a:prstDash val="solid"/>
          </a:ln>
        </p:spPr>
      </p:sp>
      <p:sp>
        <p:nvSpPr>
          <p:cNvPr id="12" name="Shape 10"/>
          <p:cNvSpPr/>
          <p:nvPr/>
        </p:nvSpPr>
        <p:spPr>
          <a:xfrm rot="-300000">
            <a:off x="1261872" y="1700784"/>
            <a:ext cx="472745" cy="41148"/>
          </a:xfrm>
          <a:prstGeom prst="rect">
            <a:avLst/>
          </a:prstGeom>
          <a:solidFill>
            <a:srgbClr val="B9AEA3"/>
          </a:solidFill>
          <a:ln w="3175">
            <a:solidFill>
              <a:srgbClr val="B9AEA3"/>
            </a:solidFill>
            <a:prstDash val="solid"/>
          </a:ln>
        </p:spPr>
      </p:sp>
      <p:sp>
        <p:nvSpPr>
          <p:cNvPr id="13" name="Shape 11"/>
          <p:cNvSpPr/>
          <p:nvPr/>
        </p:nvSpPr>
        <p:spPr>
          <a:xfrm rot="-300000">
            <a:off x="1307592" y="1828800"/>
            <a:ext cx="773582" cy="41148"/>
          </a:xfrm>
          <a:prstGeom prst="rect">
            <a:avLst/>
          </a:prstGeom>
          <a:solidFill>
            <a:srgbClr val="B9AEA3"/>
          </a:solidFill>
          <a:ln w="3175">
            <a:solidFill>
              <a:srgbClr val="B9AEA3"/>
            </a:solidFill>
            <a:prstDash val="solid"/>
          </a:ln>
        </p:spPr>
      </p:sp>
      <p:sp>
        <p:nvSpPr>
          <p:cNvPr id="14" name="Shape 12"/>
          <p:cNvSpPr/>
          <p:nvPr/>
        </p:nvSpPr>
        <p:spPr>
          <a:xfrm rot="-300000">
            <a:off x="1261872" y="1956816"/>
            <a:ext cx="515722" cy="41148"/>
          </a:xfrm>
          <a:prstGeom prst="rect">
            <a:avLst/>
          </a:prstGeom>
          <a:solidFill>
            <a:srgbClr val="B9AEA3"/>
          </a:solidFill>
          <a:ln w="3175">
            <a:solidFill>
              <a:srgbClr val="B9AEA3"/>
            </a:solidFill>
            <a:prstDash val="solid"/>
          </a:ln>
        </p:spPr>
      </p:sp>
      <p:sp>
        <p:nvSpPr>
          <p:cNvPr id="15" name="Shape 13"/>
          <p:cNvSpPr/>
          <p:nvPr/>
        </p:nvSpPr>
        <p:spPr>
          <a:xfrm rot="-300000">
            <a:off x="1307592" y="2084832"/>
            <a:ext cx="730606" cy="41148"/>
          </a:xfrm>
          <a:prstGeom prst="rect">
            <a:avLst/>
          </a:prstGeom>
          <a:solidFill>
            <a:srgbClr val="B9AEA3"/>
          </a:solidFill>
          <a:ln w="3175">
            <a:solidFill>
              <a:srgbClr val="B9AEA3"/>
            </a:solidFill>
            <a:prstDash val="solid"/>
          </a:ln>
        </p:spPr>
      </p:sp>
      <p:sp>
        <p:nvSpPr>
          <p:cNvPr id="16" name="Shape 14"/>
          <p:cNvSpPr/>
          <p:nvPr/>
        </p:nvSpPr>
        <p:spPr>
          <a:xfrm>
            <a:off x="822960" y="1243584"/>
            <a:ext cx="128016" cy="0"/>
          </a:xfrm>
          <a:prstGeom prst="line">
            <a:avLst/>
          </a:prstGeom>
          <a:noFill/>
          <a:ln w="19050">
            <a:solidFill>
              <a:srgbClr val="FFFFFF"/>
            </a:solidFill>
            <a:prstDash val="solid"/>
          </a:ln>
        </p:spPr>
      </p:sp>
      <p:sp>
        <p:nvSpPr>
          <p:cNvPr id="17" name="Shape 15"/>
          <p:cNvSpPr/>
          <p:nvPr/>
        </p:nvSpPr>
        <p:spPr>
          <a:xfrm>
            <a:off x="822960" y="1243584"/>
            <a:ext cx="0" cy="128016"/>
          </a:xfrm>
          <a:prstGeom prst="line">
            <a:avLst/>
          </a:prstGeom>
          <a:noFill/>
          <a:ln w="19050">
            <a:solidFill>
              <a:srgbClr val="FFFFFF"/>
            </a:solidFill>
            <a:prstDash val="solid"/>
          </a:ln>
        </p:spPr>
      </p:sp>
      <p:sp>
        <p:nvSpPr>
          <p:cNvPr id="18" name="Shape 16"/>
          <p:cNvSpPr/>
          <p:nvPr/>
        </p:nvSpPr>
        <p:spPr>
          <a:xfrm>
            <a:off x="2322576" y="1243584"/>
            <a:ext cx="128016" cy="0"/>
          </a:xfrm>
          <a:prstGeom prst="line">
            <a:avLst/>
          </a:prstGeom>
          <a:noFill/>
          <a:ln w="19050">
            <a:solidFill>
              <a:srgbClr val="FFFFFF"/>
            </a:solidFill>
            <a:prstDash val="solid"/>
          </a:ln>
        </p:spPr>
      </p:sp>
      <p:sp>
        <p:nvSpPr>
          <p:cNvPr id="19" name="Shape 17"/>
          <p:cNvSpPr/>
          <p:nvPr/>
        </p:nvSpPr>
        <p:spPr>
          <a:xfrm>
            <a:off x="2450592" y="1243584"/>
            <a:ext cx="0" cy="128016"/>
          </a:xfrm>
          <a:prstGeom prst="line">
            <a:avLst/>
          </a:prstGeom>
          <a:noFill/>
          <a:ln w="19050">
            <a:solidFill>
              <a:srgbClr val="FFFFFF"/>
            </a:solidFill>
            <a:prstDash val="solid"/>
          </a:ln>
        </p:spPr>
      </p:sp>
      <p:sp>
        <p:nvSpPr>
          <p:cNvPr id="20" name="Shape 18"/>
          <p:cNvSpPr/>
          <p:nvPr/>
        </p:nvSpPr>
        <p:spPr>
          <a:xfrm>
            <a:off x="822960" y="2340864"/>
            <a:ext cx="128016" cy="0"/>
          </a:xfrm>
          <a:prstGeom prst="line">
            <a:avLst/>
          </a:prstGeom>
          <a:noFill/>
          <a:ln w="19050">
            <a:solidFill>
              <a:srgbClr val="FFFFFF"/>
            </a:solidFill>
            <a:prstDash val="solid"/>
          </a:ln>
        </p:spPr>
      </p:sp>
      <p:sp>
        <p:nvSpPr>
          <p:cNvPr id="21" name="Shape 19"/>
          <p:cNvSpPr/>
          <p:nvPr/>
        </p:nvSpPr>
        <p:spPr>
          <a:xfrm>
            <a:off x="822960" y="2212848"/>
            <a:ext cx="0" cy="128016"/>
          </a:xfrm>
          <a:prstGeom prst="line">
            <a:avLst/>
          </a:prstGeom>
          <a:noFill/>
          <a:ln w="19050">
            <a:solidFill>
              <a:srgbClr val="FFFFFF"/>
            </a:solidFill>
            <a:prstDash val="solid"/>
          </a:ln>
        </p:spPr>
      </p:sp>
      <p:sp>
        <p:nvSpPr>
          <p:cNvPr id="22" name="Shape 20"/>
          <p:cNvSpPr/>
          <p:nvPr/>
        </p:nvSpPr>
        <p:spPr>
          <a:xfrm>
            <a:off x="2322576" y="2340864"/>
            <a:ext cx="128016" cy="0"/>
          </a:xfrm>
          <a:prstGeom prst="line">
            <a:avLst/>
          </a:prstGeom>
          <a:noFill/>
          <a:ln w="19050">
            <a:solidFill>
              <a:srgbClr val="FFFFFF"/>
            </a:solidFill>
            <a:prstDash val="solid"/>
          </a:ln>
        </p:spPr>
      </p:sp>
      <p:sp>
        <p:nvSpPr>
          <p:cNvPr id="23" name="Shape 21"/>
          <p:cNvSpPr/>
          <p:nvPr/>
        </p:nvSpPr>
        <p:spPr>
          <a:xfrm>
            <a:off x="2450592" y="2212848"/>
            <a:ext cx="0" cy="128016"/>
          </a:xfrm>
          <a:prstGeom prst="line">
            <a:avLst/>
          </a:prstGeom>
          <a:noFill/>
          <a:ln w="19050">
            <a:solidFill>
              <a:srgbClr val="FFFFFF"/>
            </a:solidFill>
            <a:prstDash val="solid"/>
          </a:ln>
        </p:spPr>
      </p:sp>
      <p:sp>
        <p:nvSpPr>
          <p:cNvPr id="24" name="Shape 22"/>
          <p:cNvSpPr/>
          <p:nvPr/>
        </p:nvSpPr>
        <p:spPr>
          <a:xfrm>
            <a:off x="859536" y="1261872"/>
            <a:ext cx="64008" cy="64008"/>
          </a:xfrm>
          <a:prstGeom prst="ellipse">
            <a:avLst/>
          </a:prstGeom>
          <a:solidFill>
            <a:srgbClr val="3DDC84"/>
          </a:solidFill>
          <a:ln w="6350">
            <a:solidFill>
              <a:srgbClr val="3DDC84"/>
            </a:solidFill>
            <a:prstDash val="solid"/>
          </a:ln>
        </p:spPr>
      </p:sp>
      <p:sp>
        <p:nvSpPr>
          <p:cNvPr id="25" name="Text 23"/>
          <p:cNvSpPr txBox="1"/>
          <p:nvPr/>
        </p:nvSpPr>
        <p:spPr>
          <a:xfrm>
            <a:off x="950976" y="1234440"/>
            <a:ext cx="1005840" cy="128016"/>
          </a:xfrm>
          <a:prstGeom prst="rect">
            <a:avLst/>
          </a:prstGeom>
          <a:noFill/>
        </p:spPr>
        <p:txBody>
          <a:bodyPr wrap="square" lIns="0" tIns="0" rIns="0" bIns="0" rtlCol="0" anchor="t"/>
          <a:lstStyle/>
          <a:p>
            <a:pPr marL="0" indent="0">
              <a:buNone/>
            </a:pPr>
            <a:r>
              <a:rPr lang="en-US" sz="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REAR CAMERA ON</a:t>
            </a:r>
            <a:endParaRPr lang="en-US" sz="600" dirty="0"/>
          </a:p>
        </p:txBody>
      </p:sp>
      <p:sp>
        <p:nvSpPr>
          <p:cNvPr id="26" name="Text 24"/>
          <p:cNvSpPr txBox="1"/>
          <p:nvPr/>
        </p:nvSpPr>
        <p:spPr>
          <a:xfrm>
            <a:off x="1755648" y="1234440"/>
            <a:ext cx="777240" cy="128016"/>
          </a:xfrm>
          <a:prstGeom prst="rect">
            <a:avLst/>
          </a:prstGeom>
          <a:noFill/>
        </p:spPr>
        <p:txBody>
          <a:bodyPr wrap="square" lIns="0" tIns="0" rIns="0" bIns="0" rtlCol="0" anchor="t"/>
          <a:lstStyle/>
          <a:p>
            <a:pPr marL="0" indent="0" algn="r">
              <a:buNone/>
            </a:pPr>
            <a:r>
              <a:rPr lang="en-US" sz="600" dirty="0">
                <a:solidFill>
                  <a:srgbClr val="F0D6C3"/>
                </a:solidFill>
                <a:latin typeface="Calibri" panose="020F0502020204030204" pitchFamily="34" charset="0"/>
                <a:ea typeface="Calibri" panose="020F0502020204030204" pitchFamily="34" charset="-122"/>
                <a:cs typeface="Calibri" panose="020F0502020204030204" pitchFamily="34" charset="-120"/>
              </a:rPr>
              <a:t>AI · unverified</a:t>
            </a:r>
            <a:endParaRPr lang="en-US" sz="600" dirty="0"/>
          </a:p>
        </p:txBody>
      </p:sp>
      <p:sp>
        <p:nvSpPr>
          <p:cNvPr id="27" name="Shape 25"/>
          <p:cNvSpPr/>
          <p:nvPr/>
        </p:nvSpPr>
        <p:spPr>
          <a:xfrm>
            <a:off x="758952" y="2633472"/>
            <a:ext cx="1865376" cy="274320"/>
          </a:xfrm>
          <a:prstGeom prst="roundRect">
            <a:avLst>
              <a:gd name="adj" fmla="val 20000"/>
            </a:avLst>
          </a:prstGeom>
          <a:solidFill>
            <a:srgbClr val="FFFFFF"/>
          </a:solidFill>
          <a:ln w="9525">
            <a:solidFill>
              <a:srgbClr val="F0D6C3"/>
            </a:solidFill>
            <a:prstDash val="solid"/>
          </a:ln>
        </p:spPr>
      </p:sp>
      <p:sp>
        <p:nvSpPr>
          <p:cNvPr id="28" name="Text 26"/>
          <p:cNvSpPr txBox="1"/>
          <p:nvPr/>
        </p:nvSpPr>
        <p:spPr>
          <a:xfrm>
            <a:off x="850392" y="2688336"/>
            <a:ext cx="1591056" cy="164592"/>
          </a:xfrm>
          <a:prstGeom prst="rect">
            <a:avLst/>
          </a:prstGeom>
          <a:noFill/>
        </p:spPr>
        <p:txBody>
          <a:bodyPr wrap="square" lIns="0" tIns="0" rIns="0" bIns="0" rtlCol="0" anchor="t"/>
          <a:lstStyle/>
          <a:p>
            <a:pPr marL="0" indent="0">
              <a:buNone/>
            </a:pPr>
            <a:r>
              <a:rPr lang="en-US" sz="750" dirty="0">
                <a:solidFill>
                  <a:srgbClr val="1F1612"/>
                </a:solidFill>
                <a:latin typeface="Calibri" panose="020F0502020204030204" pitchFamily="34" charset="0"/>
                <a:ea typeface="Calibri" panose="020F0502020204030204" pitchFamily="34" charset="-122"/>
                <a:cs typeface="Calibri" panose="020F0502020204030204" pitchFamily="34" charset="-120"/>
              </a:rPr>
              <a:t>Read text &amp; documents</a:t>
            </a:r>
            <a:endParaRPr lang="en-US" sz="750" dirty="0"/>
          </a:p>
        </p:txBody>
      </p:sp>
      <p:sp>
        <p:nvSpPr>
          <p:cNvPr id="29" name="Shape 27"/>
          <p:cNvSpPr/>
          <p:nvPr/>
        </p:nvSpPr>
        <p:spPr>
          <a:xfrm>
            <a:off x="758952" y="2999232"/>
            <a:ext cx="886968" cy="292608"/>
          </a:xfrm>
          <a:prstGeom prst="roundRect">
            <a:avLst>
              <a:gd name="adj" fmla="val 25000"/>
            </a:avLst>
          </a:prstGeom>
          <a:solidFill>
            <a:srgbClr val="FFFFFF"/>
          </a:solidFill>
          <a:ln w="12700">
            <a:solidFill>
              <a:srgbClr val="C2410C"/>
            </a:solidFill>
            <a:prstDash val="solid"/>
          </a:ln>
        </p:spPr>
      </p:sp>
      <p:sp>
        <p:nvSpPr>
          <p:cNvPr id="30" name="Text 28"/>
          <p:cNvSpPr txBox="1"/>
          <p:nvPr/>
        </p:nvSpPr>
        <p:spPr>
          <a:xfrm>
            <a:off x="758952" y="3063240"/>
            <a:ext cx="886968" cy="164592"/>
          </a:xfrm>
          <a:prstGeom prst="rect">
            <a:avLst/>
          </a:prstGeom>
          <a:noFill/>
        </p:spPr>
        <p:txBody>
          <a:bodyPr wrap="square" lIns="0" tIns="0" rIns="0" bIns="0" rtlCol="0" anchor="t"/>
          <a:lstStyle/>
          <a:p>
            <a:pPr marL="0" indent="0" algn="ctr">
              <a:buNone/>
            </a:pPr>
            <a:r>
              <a:rPr lang="en-US" sz="750" b="1" dirty="0">
                <a:solidFill>
                  <a:srgbClr val="C2410C"/>
                </a:solidFill>
                <a:latin typeface="Calibri" panose="020F0502020204030204" pitchFamily="34" charset="0"/>
                <a:ea typeface="Calibri" panose="020F0502020204030204" pitchFamily="34" charset="-122"/>
                <a:cs typeface="Calibri" panose="020F0502020204030204" pitchFamily="34" charset="-120"/>
              </a:rPr>
              <a:t>Run my focus</a:t>
            </a:r>
            <a:endParaRPr lang="en-US" sz="750" dirty="0"/>
          </a:p>
        </p:txBody>
      </p:sp>
      <p:sp>
        <p:nvSpPr>
          <p:cNvPr id="31" name="Shape 29"/>
          <p:cNvSpPr/>
          <p:nvPr/>
        </p:nvSpPr>
        <p:spPr>
          <a:xfrm>
            <a:off x="1737360" y="2999232"/>
            <a:ext cx="886968" cy="292608"/>
          </a:xfrm>
          <a:prstGeom prst="roundRect">
            <a:avLst>
              <a:gd name="adj" fmla="val 25000"/>
            </a:avLst>
          </a:prstGeom>
          <a:solidFill>
            <a:srgbClr val="C2410C"/>
          </a:solidFill>
          <a:ln w="6350">
            <a:solidFill>
              <a:srgbClr val="C2410C"/>
            </a:solidFill>
            <a:prstDash val="solid"/>
          </a:ln>
        </p:spPr>
      </p:sp>
      <p:sp>
        <p:nvSpPr>
          <p:cNvPr id="32" name="Text 30"/>
          <p:cNvSpPr txBox="1"/>
          <p:nvPr/>
        </p:nvSpPr>
        <p:spPr>
          <a:xfrm>
            <a:off x="1737360" y="3063240"/>
            <a:ext cx="886968" cy="164592"/>
          </a:xfrm>
          <a:prstGeom prst="rect">
            <a:avLst/>
          </a:prstGeom>
          <a:noFill/>
        </p:spPr>
        <p:txBody>
          <a:bodyPr wrap="square" lIns="0" tIns="0" rIns="0" bIns="0" rtlCol="0" anchor="t"/>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Capture &amp; read text</a:t>
            </a:r>
            <a:endParaRPr lang="en-US" sz="750" dirty="0"/>
          </a:p>
        </p:txBody>
      </p:sp>
      <p:sp>
        <p:nvSpPr>
          <p:cNvPr id="33" name="Shape 31"/>
          <p:cNvSpPr/>
          <p:nvPr/>
        </p:nvSpPr>
        <p:spPr>
          <a:xfrm>
            <a:off x="758952" y="3383280"/>
            <a:ext cx="1865376" cy="804672"/>
          </a:xfrm>
          <a:prstGeom prst="roundRect">
            <a:avLst>
              <a:gd name="adj" fmla="val 11364"/>
            </a:avLst>
          </a:prstGeom>
          <a:solidFill>
            <a:srgbClr val="FFF3E8"/>
          </a:solidFill>
          <a:ln w="6350">
            <a:solidFill>
              <a:srgbClr val="F0D6C3"/>
            </a:solidFill>
            <a:prstDash val="solid"/>
          </a:ln>
        </p:spPr>
      </p:sp>
      <p:sp>
        <p:nvSpPr>
          <p:cNvPr id="34" name="Text 32"/>
          <p:cNvSpPr txBox="1"/>
          <p:nvPr/>
        </p:nvSpPr>
        <p:spPr>
          <a:xfrm>
            <a:off x="850392" y="3438144"/>
            <a:ext cx="1682496" cy="137160"/>
          </a:xfrm>
          <a:prstGeom prst="rect">
            <a:avLst/>
          </a:prstGeom>
          <a:noFill/>
        </p:spPr>
        <p:txBody>
          <a:bodyPr wrap="square" lIns="0" tIns="0" rIns="0" bIns="0" rtlCol="0" anchor="t"/>
          <a:lstStyle/>
          <a:p>
            <a:pPr marL="0" indent="0">
              <a:buNone/>
            </a:pPr>
            <a:r>
              <a:rPr lang="en-US" sz="650" b="1" dirty="0">
                <a:solidFill>
                  <a:srgbClr val="C2410C"/>
                </a:solidFill>
                <a:latin typeface="Calibri" panose="020F0502020204030204" pitchFamily="34" charset="0"/>
                <a:ea typeface="Calibri" panose="020F0502020204030204" pitchFamily="34" charset="-122"/>
                <a:cs typeface="Calibri" panose="020F0502020204030204" pitchFamily="34" charset="-120"/>
              </a:rPr>
              <a:t>Document reading · AI</a:t>
            </a:r>
            <a:endParaRPr lang="en-US" sz="650" dirty="0"/>
          </a:p>
        </p:txBody>
      </p:sp>
      <p:sp>
        <p:nvSpPr>
          <p:cNvPr id="35" name="Text 33"/>
          <p:cNvSpPr txBox="1"/>
          <p:nvPr/>
        </p:nvSpPr>
        <p:spPr>
          <a:xfrm>
            <a:off x="850392" y="3593592"/>
            <a:ext cx="1682496" cy="329184"/>
          </a:xfrm>
          <a:prstGeom prst="rect">
            <a:avLst/>
          </a:prstGeom>
          <a:noFill/>
        </p:spPr>
        <p:txBody>
          <a:bodyPr wrap="square" lIns="0" tIns="0" rIns="0" bIns="0" rtlCol="0" anchor="t"/>
          <a:lstStyle/>
          <a:p>
            <a:pPr marL="0" indent="0">
              <a:buNone/>
            </a:pPr>
            <a:r>
              <a:rPr lang="en-US" sz="750" dirty="0">
                <a:solidFill>
                  <a:srgbClr val="1F1612"/>
                </a:solidFill>
                <a:latin typeface="Calibri" panose="020F0502020204030204" pitchFamily="34" charset="0"/>
                <a:ea typeface="Calibri" panose="020F0502020204030204" pitchFamily="34" charset="-122"/>
                <a:cs typeface="Calibri" panose="020F0502020204030204" pitchFamily="34" charset="-120"/>
              </a:rPr>
              <a:t>Menu: Masala Dosa ₹80 · Idli (2) ₹40 · Filter Coffee ₹30</a:t>
            </a:r>
            <a:endParaRPr lang="en-US" sz="750" dirty="0"/>
          </a:p>
        </p:txBody>
      </p:sp>
      <p:sp>
        <p:nvSpPr>
          <p:cNvPr id="36" name="Text 34"/>
          <p:cNvSpPr txBox="1"/>
          <p:nvPr/>
        </p:nvSpPr>
        <p:spPr>
          <a:xfrm>
            <a:off x="850392" y="3986784"/>
            <a:ext cx="1682496" cy="137160"/>
          </a:xfrm>
          <a:prstGeom prst="rect">
            <a:avLst/>
          </a:prstGeom>
          <a:noFill/>
        </p:spPr>
        <p:txBody>
          <a:bodyPr wrap="square" lIns="0" tIns="0" rIns="0" bIns="0" rtlCol="0" anchor="t"/>
          <a:lstStyle/>
          <a:p>
            <a:pPr marL="0" indent="0">
              <a:buNone/>
            </a:pPr>
            <a:r>
              <a:rPr lang="en-US" sz="650" i="1" dirty="0">
                <a:solidFill>
                  <a:srgbClr val="6E6057"/>
                </a:solidFill>
                <a:latin typeface="Calibri" panose="020F0502020204030204" pitchFamily="34" charset="0"/>
                <a:ea typeface="Calibri" panose="020F0502020204030204" pitchFamily="34" charset="-122"/>
                <a:cs typeface="Calibri" panose="020F0502020204030204" pitchFamily="34" charset="-120"/>
              </a:rPr>
              <a:t>Confidence: unverified</a:t>
            </a:r>
            <a:endParaRPr lang="en-US" sz="650" dirty="0"/>
          </a:p>
        </p:txBody>
      </p:sp>
      <p:sp>
        <p:nvSpPr>
          <p:cNvPr id="37" name="Shape 35"/>
          <p:cNvSpPr/>
          <p:nvPr/>
        </p:nvSpPr>
        <p:spPr>
          <a:xfrm>
            <a:off x="713232" y="4215384"/>
            <a:ext cx="1956816" cy="0"/>
          </a:xfrm>
          <a:prstGeom prst="line">
            <a:avLst/>
          </a:prstGeom>
          <a:noFill/>
          <a:ln w="9525">
            <a:solidFill>
              <a:srgbClr val="F0D6C3"/>
            </a:solidFill>
            <a:prstDash val="solid"/>
          </a:ln>
        </p:spPr>
      </p:sp>
      <p:pic>
        <p:nvPicPr>
          <p:cNvPr id="38" name="Image 0" descr="preencoded.png"/>
          <p:cNvPicPr>
            <a:picLocks noChangeAspect="1"/>
          </p:cNvPicPr>
          <p:nvPr/>
        </p:nvPicPr>
        <p:blipFill>
          <a:blip r:embed="rId1"/>
          <a:stretch>
            <a:fillRect/>
          </a:stretch>
        </p:blipFill>
        <p:spPr>
          <a:xfrm>
            <a:off x="794004" y="4343400"/>
            <a:ext cx="164592" cy="164592"/>
          </a:xfrm>
          <a:prstGeom prst="rect">
            <a:avLst/>
          </a:prstGeom>
        </p:spPr>
      </p:pic>
      <p:pic>
        <p:nvPicPr>
          <p:cNvPr id="39" name="Image 1" descr="preencoded.png"/>
          <p:cNvPicPr>
            <a:picLocks noChangeAspect="1"/>
          </p:cNvPicPr>
          <p:nvPr/>
        </p:nvPicPr>
        <p:blipFill>
          <a:blip r:embed="rId2"/>
          <a:stretch>
            <a:fillRect/>
          </a:stretch>
        </p:blipFill>
        <p:spPr>
          <a:xfrm>
            <a:off x="1120140" y="4343400"/>
            <a:ext cx="164592" cy="164592"/>
          </a:xfrm>
          <a:prstGeom prst="rect">
            <a:avLst/>
          </a:prstGeom>
        </p:spPr>
      </p:pic>
      <p:pic>
        <p:nvPicPr>
          <p:cNvPr id="40" name="Image 2" descr="preencoded.png"/>
          <p:cNvPicPr>
            <a:picLocks noChangeAspect="1"/>
          </p:cNvPicPr>
          <p:nvPr/>
        </p:nvPicPr>
        <p:blipFill>
          <a:blip r:embed="rId3"/>
          <a:stretch>
            <a:fillRect/>
          </a:stretch>
        </p:blipFill>
        <p:spPr>
          <a:xfrm>
            <a:off x="1446276" y="4343400"/>
            <a:ext cx="164592" cy="164592"/>
          </a:xfrm>
          <a:prstGeom prst="rect">
            <a:avLst/>
          </a:prstGeom>
        </p:spPr>
      </p:pic>
      <p:sp>
        <p:nvSpPr>
          <p:cNvPr id="41" name="Shape 36"/>
          <p:cNvSpPr/>
          <p:nvPr/>
        </p:nvSpPr>
        <p:spPr>
          <a:xfrm>
            <a:off x="1717548" y="4288536"/>
            <a:ext cx="274320" cy="274320"/>
          </a:xfrm>
          <a:prstGeom prst="ellipse">
            <a:avLst/>
          </a:prstGeom>
          <a:solidFill>
            <a:srgbClr val="FFF3E8"/>
          </a:solidFill>
          <a:ln w="6350">
            <a:solidFill>
              <a:srgbClr val="FFF3E8"/>
            </a:solidFill>
            <a:prstDash val="solid"/>
          </a:ln>
        </p:spPr>
      </p:sp>
      <p:pic>
        <p:nvPicPr>
          <p:cNvPr id="42" name="Image 3" descr="preencoded.png"/>
          <p:cNvPicPr>
            <a:picLocks noChangeAspect="1"/>
          </p:cNvPicPr>
          <p:nvPr/>
        </p:nvPicPr>
        <p:blipFill>
          <a:blip r:embed="rId4"/>
          <a:stretch>
            <a:fillRect/>
          </a:stretch>
        </p:blipFill>
        <p:spPr>
          <a:xfrm>
            <a:off x="1772412" y="4343400"/>
            <a:ext cx="164592" cy="164592"/>
          </a:xfrm>
          <a:prstGeom prst="rect">
            <a:avLst/>
          </a:prstGeom>
        </p:spPr>
      </p:pic>
      <p:pic>
        <p:nvPicPr>
          <p:cNvPr id="43" name="Image 4" descr="preencoded.png"/>
          <p:cNvPicPr>
            <a:picLocks noChangeAspect="1"/>
          </p:cNvPicPr>
          <p:nvPr/>
        </p:nvPicPr>
        <p:blipFill>
          <a:blip r:embed="rId5"/>
          <a:stretch>
            <a:fillRect/>
          </a:stretch>
        </p:blipFill>
        <p:spPr>
          <a:xfrm>
            <a:off x="2098548" y="4343400"/>
            <a:ext cx="164592" cy="164592"/>
          </a:xfrm>
          <a:prstGeom prst="rect">
            <a:avLst/>
          </a:prstGeom>
        </p:spPr>
      </p:pic>
      <p:pic>
        <p:nvPicPr>
          <p:cNvPr id="44" name="Image 5" descr="preencoded.png"/>
          <p:cNvPicPr>
            <a:picLocks noChangeAspect="1"/>
          </p:cNvPicPr>
          <p:nvPr/>
        </p:nvPicPr>
        <p:blipFill>
          <a:blip r:embed="rId6"/>
          <a:stretch>
            <a:fillRect/>
          </a:stretch>
        </p:blipFill>
        <p:spPr>
          <a:xfrm>
            <a:off x="2424684" y="4343400"/>
            <a:ext cx="164592" cy="164592"/>
          </a:xfrm>
          <a:prstGeom prst="rect">
            <a:avLst/>
          </a:prstGeom>
        </p:spPr>
      </p:pic>
      <p:sp>
        <p:nvSpPr>
          <p:cNvPr id="45" name="Text 37"/>
          <p:cNvSpPr txBox="1"/>
          <p:nvPr/>
        </p:nvSpPr>
        <p:spPr>
          <a:xfrm>
            <a:off x="3566160" y="1234440"/>
            <a:ext cx="5120640" cy="182880"/>
          </a:xfrm>
          <a:prstGeom prst="rect">
            <a:avLst/>
          </a:prstGeom>
          <a:noFill/>
        </p:spPr>
        <p:txBody>
          <a:bodyPr wrap="square" lIns="0" tIns="0" rIns="0" bIns="0" rtlCol="0" anchor="t"/>
          <a:lstStyle/>
          <a:p>
            <a:pPr marL="0" indent="0">
              <a:buNone/>
            </a:pPr>
            <a:r>
              <a:rPr lang="en-US" sz="1100" b="1" kern="0" spc="200" dirty="0">
                <a:solidFill>
                  <a:srgbClr val="C2410C"/>
                </a:solidFill>
                <a:latin typeface="Calibri" panose="020F0502020204030204" pitchFamily="34" charset="0"/>
                <a:ea typeface="Calibri" panose="020F0502020204030204" pitchFamily="34" charset="-122"/>
                <a:cs typeface="Calibri" panose="020F0502020204030204" pitchFamily="34" charset="-120"/>
              </a:rPr>
              <a:t>FIVE FOCUS MODES</a:t>
            </a:r>
            <a:endParaRPr lang="en-US" sz="1100" dirty="0"/>
          </a:p>
        </p:txBody>
      </p:sp>
      <p:sp>
        <p:nvSpPr>
          <p:cNvPr id="46" name="Shape 38"/>
          <p:cNvSpPr/>
          <p:nvPr/>
        </p:nvSpPr>
        <p:spPr>
          <a:xfrm>
            <a:off x="3566160" y="1481328"/>
            <a:ext cx="5120640" cy="329184"/>
          </a:xfrm>
          <a:prstGeom prst="roundRect">
            <a:avLst>
              <a:gd name="adj" fmla="val 50000"/>
            </a:avLst>
          </a:prstGeom>
          <a:solidFill>
            <a:srgbClr val="FFF3E8"/>
          </a:solidFill>
          <a:ln w="6350">
            <a:solidFill>
              <a:srgbClr val="FFF3E8"/>
            </a:solidFill>
            <a:prstDash val="solid"/>
          </a:ln>
        </p:spPr>
      </p:sp>
      <p:sp>
        <p:nvSpPr>
          <p:cNvPr id="47" name="Shape 39"/>
          <p:cNvSpPr/>
          <p:nvPr/>
        </p:nvSpPr>
        <p:spPr>
          <a:xfrm>
            <a:off x="3630168" y="1527048"/>
            <a:ext cx="237744" cy="237744"/>
          </a:xfrm>
          <a:prstGeom prst="ellipse">
            <a:avLst/>
          </a:prstGeom>
          <a:solidFill>
            <a:srgbClr val="C2410C"/>
          </a:solidFill>
          <a:ln w="6350">
            <a:solidFill>
              <a:srgbClr val="C2410C"/>
            </a:solidFill>
            <a:prstDash val="solid"/>
          </a:ln>
        </p:spPr>
      </p:sp>
      <p:sp>
        <p:nvSpPr>
          <p:cNvPr id="48" name="Text 40"/>
          <p:cNvSpPr txBox="1"/>
          <p:nvPr/>
        </p:nvSpPr>
        <p:spPr>
          <a:xfrm>
            <a:off x="3630168" y="1527048"/>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49" name="Text 41"/>
          <p:cNvSpPr txBox="1"/>
          <p:nvPr/>
        </p:nvSpPr>
        <p:spPr>
          <a:xfrm>
            <a:off x="3977640" y="1481328"/>
            <a:ext cx="4572000" cy="329184"/>
          </a:xfrm>
          <a:prstGeom prst="rect">
            <a:avLst/>
          </a:prstGeom>
          <a:noFill/>
        </p:spPr>
        <p:txBody>
          <a:bodyPr wrap="square" lIns="0" tIns="0" rIns="0" bIns="0" rtlCol="0" anchor="ctr"/>
          <a:lstStyle/>
          <a:p>
            <a:pPr marL="0" indent="0">
              <a:buNone/>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Describe this scene</a:t>
            </a:r>
            <a:endParaRPr lang="en-US" sz="1400" dirty="0"/>
          </a:p>
        </p:txBody>
      </p:sp>
      <p:sp>
        <p:nvSpPr>
          <p:cNvPr id="50" name="Shape 42"/>
          <p:cNvSpPr/>
          <p:nvPr/>
        </p:nvSpPr>
        <p:spPr>
          <a:xfrm>
            <a:off x="3566160" y="1865376"/>
            <a:ext cx="5120640" cy="329184"/>
          </a:xfrm>
          <a:prstGeom prst="roundRect">
            <a:avLst>
              <a:gd name="adj" fmla="val 50000"/>
            </a:avLst>
          </a:prstGeom>
          <a:solidFill>
            <a:srgbClr val="FFF3E8"/>
          </a:solidFill>
          <a:ln w="6350">
            <a:solidFill>
              <a:srgbClr val="FFF3E8"/>
            </a:solidFill>
            <a:prstDash val="solid"/>
          </a:ln>
        </p:spPr>
      </p:sp>
      <p:sp>
        <p:nvSpPr>
          <p:cNvPr id="51" name="Shape 43"/>
          <p:cNvSpPr/>
          <p:nvPr/>
        </p:nvSpPr>
        <p:spPr>
          <a:xfrm>
            <a:off x="3630168" y="1911096"/>
            <a:ext cx="237744" cy="237744"/>
          </a:xfrm>
          <a:prstGeom prst="ellipse">
            <a:avLst/>
          </a:prstGeom>
          <a:solidFill>
            <a:srgbClr val="C2410C"/>
          </a:solidFill>
          <a:ln w="6350">
            <a:solidFill>
              <a:srgbClr val="C2410C"/>
            </a:solidFill>
            <a:prstDash val="solid"/>
          </a:ln>
        </p:spPr>
      </p:sp>
      <p:sp>
        <p:nvSpPr>
          <p:cNvPr id="52" name="Text 44"/>
          <p:cNvSpPr txBox="1"/>
          <p:nvPr/>
        </p:nvSpPr>
        <p:spPr>
          <a:xfrm>
            <a:off x="3630168" y="1911096"/>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53" name="Text 45"/>
          <p:cNvSpPr txBox="1"/>
          <p:nvPr/>
        </p:nvSpPr>
        <p:spPr>
          <a:xfrm>
            <a:off x="3977640" y="1865376"/>
            <a:ext cx="4572000" cy="329184"/>
          </a:xfrm>
          <a:prstGeom prst="rect">
            <a:avLst/>
          </a:prstGeom>
          <a:noFill/>
        </p:spPr>
        <p:txBody>
          <a:bodyPr wrap="square" lIns="0" tIns="0" rIns="0" bIns="0" rtlCol="0" anchor="ctr"/>
          <a:lstStyle/>
          <a:p>
            <a:pPr marL="0" indent="0">
              <a:buNone/>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Read text and documents</a:t>
            </a:r>
            <a:endParaRPr lang="en-US" sz="1400" dirty="0"/>
          </a:p>
        </p:txBody>
      </p:sp>
      <p:sp>
        <p:nvSpPr>
          <p:cNvPr id="54" name="Shape 46"/>
          <p:cNvSpPr/>
          <p:nvPr/>
        </p:nvSpPr>
        <p:spPr>
          <a:xfrm>
            <a:off x="3566160" y="2249424"/>
            <a:ext cx="5120640" cy="329184"/>
          </a:xfrm>
          <a:prstGeom prst="roundRect">
            <a:avLst>
              <a:gd name="adj" fmla="val 50000"/>
            </a:avLst>
          </a:prstGeom>
          <a:solidFill>
            <a:srgbClr val="FFF3E8"/>
          </a:solidFill>
          <a:ln w="6350">
            <a:solidFill>
              <a:srgbClr val="FFF3E8"/>
            </a:solidFill>
            <a:prstDash val="solid"/>
          </a:ln>
        </p:spPr>
      </p:sp>
      <p:sp>
        <p:nvSpPr>
          <p:cNvPr id="55" name="Shape 47"/>
          <p:cNvSpPr/>
          <p:nvPr/>
        </p:nvSpPr>
        <p:spPr>
          <a:xfrm>
            <a:off x="3630168" y="2295144"/>
            <a:ext cx="237744" cy="237744"/>
          </a:xfrm>
          <a:prstGeom prst="ellipse">
            <a:avLst/>
          </a:prstGeom>
          <a:solidFill>
            <a:srgbClr val="C2410C"/>
          </a:solidFill>
          <a:ln w="6350">
            <a:solidFill>
              <a:srgbClr val="C2410C"/>
            </a:solidFill>
            <a:prstDash val="solid"/>
          </a:ln>
        </p:spPr>
      </p:sp>
      <p:sp>
        <p:nvSpPr>
          <p:cNvPr id="56" name="Text 48"/>
          <p:cNvSpPr txBox="1"/>
          <p:nvPr/>
        </p:nvSpPr>
        <p:spPr>
          <a:xfrm>
            <a:off x="3630168" y="2295144"/>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57" name="Text 49"/>
          <p:cNvSpPr txBox="1"/>
          <p:nvPr/>
        </p:nvSpPr>
        <p:spPr>
          <a:xfrm>
            <a:off x="3977640" y="2249424"/>
            <a:ext cx="4572000" cy="329184"/>
          </a:xfrm>
          <a:prstGeom prst="rect">
            <a:avLst/>
          </a:prstGeom>
          <a:noFill/>
        </p:spPr>
        <p:txBody>
          <a:bodyPr wrap="square" lIns="0" tIns="0" rIns="0" bIns="0" rtlCol="0" anchor="ctr"/>
          <a:lstStyle/>
          <a:p>
            <a:pPr marL="0" indent="0">
              <a:buNone/>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Shopping and product details</a:t>
            </a:r>
            <a:endParaRPr lang="en-US" sz="1400" dirty="0"/>
          </a:p>
        </p:txBody>
      </p:sp>
      <p:sp>
        <p:nvSpPr>
          <p:cNvPr id="58" name="Shape 50"/>
          <p:cNvSpPr/>
          <p:nvPr/>
        </p:nvSpPr>
        <p:spPr>
          <a:xfrm>
            <a:off x="3566160" y="2633472"/>
            <a:ext cx="5120640" cy="329184"/>
          </a:xfrm>
          <a:prstGeom prst="roundRect">
            <a:avLst>
              <a:gd name="adj" fmla="val 50000"/>
            </a:avLst>
          </a:prstGeom>
          <a:solidFill>
            <a:srgbClr val="FFF3E8"/>
          </a:solidFill>
          <a:ln w="6350">
            <a:solidFill>
              <a:srgbClr val="FFF3E8"/>
            </a:solidFill>
            <a:prstDash val="solid"/>
          </a:ln>
        </p:spPr>
      </p:sp>
      <p:sp>
        <p:nvSpPr>
          <p:cNvPr id="59" name="Shape 51"/>
          <p:cNvSpPr/>
          <p:nvPr/>
        </p:nvSpPr>
        <p:spPr>
          <a:xfrm>
            <a:off x="3630168" y="2679192"/>
            <a:ext cx="237744" cy="237744"/>
          </a:xfrm>
          <a:prstGeom prst="ellipse">
            <a:avLst/>
          </a:prstGeom>
          <a:solidFill>
            <a:srgbClr val="C2410C"/>
          </a:solidFill>
          <a:ln w="6350">
            <a:solidFill>
              <a:srgbClr val="C2410C"/>
            </a:solidFill>
            <a:prstDash val="solid"/>
          </a:ln>
        </p:spPr>
      </p:sp>
      <p:sp>
        <p:nvSpPr>
          <p:cNvPr id="60" name="Text 52"/>
          <p:cNvSpPr txBox="1"/>
          <p:nvPr/>
        </p:nvSpPr>
        <p:spPr>
          <a:xfrm>
            <a:off x="3630168" y="2679192"/>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61" name="Text 53"/>
          <p:cNvSpPr txBox="1"/>
          <p:nvPr/>
        </p:nvSpPr>
        <p:spPr>
          <a:xfrm>
            <a:off x="3977640" y="2633472"/>
            <a:ext cx="4572000" cy="329184"/>
          </a:xfrm>
          <a:prstGeom prst="rect">
            <a:avLst/>
          </a:prstGeom>
          <a:noFill/>
        </p:spPr>
        <p:txBody>
          <a:bodyPr wrap="square" lIns="0" tIns="0" rIns="0" bIns="0" rtlCol="0" anchor="ctr"/>
          <a:lstStyle/>
          <a:p>
            <a:pPr marL="0" indent="0">
              <a:buNone/>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Indoor signs and landmarks</a:t>
            </a:r>
            <a:endParaRPr lang="en-US" sz="1400" dirty="0"/>
          </a:p>
        </p:txBody>
      </p:sp>
      <p:sp>
        <p:nvSpPr>
          <p:cNvPr id="62" name="Shape 54"/>
          <p:cNvSpPr/>
          <p:nvPr/>
        </p:nvSpPr>
        <p:spPr>
          <a:xfrm>
            <a:off x="3566160" y="3017520"/>
            <a:ext cx="5120640" cy="329184"/>
          </a:xfrm>
          <a:prstGeom prst="roundRect">
            <a:avLst>
              <a:gd name="adj" fmla="val 50000"/>
            </a:avLst>
          </a:prstGeom>
          <a:solidFill>
            <a:srgbClr val="FFF3E8"/>
          </a:solidFill>
          <a:ln w="6350">
            <a:solidFill>
              <a:srgbClr val="FFF3E8"/>
            </a:solidFill>
            <a:prstDash val="solid"/>
          </a:ln>
        </p:spPr>
      </p:sp>
      <p:sp>
        <p:nvSpPr>
          <p:cNvPr id="63" name="Shape 55"/>
          <p:cNvSpPr/>
          <p:nvPr/>
        </p:nvSpPr>
        <p:spPr>
          <a:xfrm>
            <a:off x="3630168" y="3063240"/>
            <a:ext cx="237744" cy="237744"/>
          </a:xfrm>
          <a:prstGeom prst="ellipse">
            <a:avLst/>
          </a:prstGeom>
          <a:solidFill>
            <a:srgbClr val="C2410C"/>
          </a:solidFill>
          <a:ln w="6350">
            <a:solidFill>
              <a:srgbClr val="C2410C"/>
            </a:solidFill>
            <a:prstDash val="solid"/>
          </a:ln>
        </p:spPr>
      </p:sp>
      <p:sp>
        <p:nvSpPr>
          <p:cNvPr id="64" name="Text 56"/>
          <p:cNvSpPr txBox="1"/>
          <p:nvPr/>
        </p:nvSpPr>
        <p:spPr>
          <a:xfrm>
            <a:off x="3630168" y="3063240"/>
            <a:ext cx="237744" cy="237744"/>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65" name="Text 57"/>
          <p:cNvSpPr txBox="1"/>
          <p:nvPr/>
        </p:nvSpPr>
        <p:spPr>
          <a:xfrm>
            <a:off x="3977640" y="3017520"/>
            <a:ext cx="4572000" cy="329184"/>
          </a:xfrm>
          <a:prstGeom prst="rect">
            <a:avLst/>
          </a:prstGeom>
          <a:noFill/>
        </p:spPr>
        <p:txBody>
          <a:bodyPr wrap="square" lIns="0" tIns="0" rIns="0" bIns="0" rtlCol="0" anchor="ctr"/>
          <a:lstStyle/>
          <a:p>
            <a:pPr marL="0" indent="0">
              <a:buNone/>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Left / center / right in the image</a:t>
            </a:r>
            <a:endParaRPr lang="en-US" sz="1400" dirty="0"/>
          </a:p>
        </p:txBody>
      </p:sp>
      <p:sp>
        <p:nvSpPr>
          <p:cNvPr id="66" name="Text 58"/>
          <p:cNvSpPr txBox="1"/>
          <p:nvPr/>
        </p:nvSpPr>
        <p:spPr>
          <a:xfrm>
            <a:off x="3566160" y="3520440"/>
            <a:ext cx="5120640" cy="182880"/>
          </a:xfrm>
          <a:prstGeom prst="rect">
            <a:avLst/>
          </a:prstGeom>
          <a:noFill/>
        </p:spPr>
        <p:txBody>
          <a:bodyPr wrap="square" lIns="0" tIns="0" rIns="0" bIns="0" rtlCol="0" anchor="t"/>
          <a:lstStyle/>
          <a:p>
            <a:pPr marL="0" indent="0">
              <a:buNone/>
            </a:pPr>
            <a:r>
              <a:rPr lang="en-US" sz="1100" b="1" kern="0" spc="200" dirty="0">
                <a:solidFill>
                  <a:srgbClr val="C2410C"/>
                </a:solidFill>
                <a:latin typeface="Calibri" panose="020F0502020204030204" pitchFamily="34" charset="0"/>
                <a:ea typeface="Calibri" panose="020F0502020204030204" pitchFamily="34" charset="-122"/>
                <a:cs typeface="Calibri" panose="020F0502020204030204" pitchFamily="34" charset="-120"/>
              </a:rPr>
              <a:t>HOW ONE REQUEST FLOWS</a:t>
            </a:r>
            <a:endParaRPr lang="en-US" sz="1100" dirty="0"/>
          </a:p>
        </p:txBody>
      </p:sp>
      <p:sp>
        <p:nvSpPr>
          <p:cNvPr id="67" name="Shape 59"/>
          <p:cNvSpPr/>
          <p:nvPr/>
        </p:nvSpPr>
        <p:spPr>
          <a:xfrm>
            <a:off x="3566160" y="3794760"/>
            <a:ext cx="1097280" cy="457200"/>
          </a:xfrm>
          <a:prstGeom prst="roundRect">
            <a:avLst>
              <a:gd name="adj" fmla="val 20000"/>
            </a:avLst>
          </a:prstGeom>
          <a:solidFill>
            <a:srgbClr val="1F1612"/>
          </a:solidFill>
          <a:ln w="6350">
            <a:solidFill>
              <a:srgbClr val="1F1612"/>
            </a:solidFill>
            <a:prstDash val="solid"/>
          </a:ln>
        </p:spPr>
      </p:sp>
      <p:sp>
        <p:nvSpPr>
          <p:cNvPr id="68" name="Text 60"/>
          <p:cNvSpPr txBox="1"/>
          <p:nvPr/>
        </p:nvSpPr>
        <p:spPr>
          <a:xfrm>
            <a:off x="3566160" y="3794760"/>
            <a:ext cx="109728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Ask</a:t>
            </a:r>
            <a:endParaRPr lang="en-US" sz="1300" dirty="0"/>
          </a:p>
        </p:txBody>
      </p:sp>
      <p:pic>
        <p:nvPicPr>
          <p:cNvPr id="69" name="Image 6" descr="preencoded.png"/>
          <p:cNvPicPr>
            <a:picLocks noChangeAspect="1"/>
          </p:cNvPicPr>
          <p:nvPr/>
        </p:nvPicPr>
        <p:blipFill>
          <a:blip r:embed="rId7"/>
          <a:stretch>
            <a:fillRect/>
          </a:stretch>
        </p:blipFill>
        <p:spPr>
          <a:xfrm>
            <a:off x="4695444" y="3931920"/>
            <a:ext cx="182880" cy="182880"/>
          </a:xfrm>
          <a:prstGeom prst="rect">
            <a:avLst/>
          </a:prstGeom>
        </p:spPr>
      </p:pic>
      <p:sp>
        <p:nvSpPr>
          <p:cNvPr id="70" name="Shape 61"/>
          <p:cNvSpPr/>
          <p:nvPr/>
        </p:nvSpPr>
        <p:spPr>
          <a:xfrm>
            <a:off x="4892040" y="3794760"/>
            <a:ext cx="1097280" cy="457200"/>
          </a:xfrm>
          <a:prstGeom prst="roundRect">
            <a:avLst>
              <a:gd name="adj" fmla="val 20000"/>
            </a:avLst>
          </a:prstGeom>
          <a:solidFill>
            <a:srgbClr val="1F1612"/>
          </a:solidFill>
          <a:ln w="6350">
            <a:solidFill>
              <a:srgbClr val="1F1612"/>
            </a:solidFill>
            <a:prstDash val="solid"/>
          </a:ln>
        </p:spPr>
      </p:sp>
      <p:sp>
        <p:nvSpPr>
          <p:cNvPr id="71" name="Text 62"/>
          <p:cNvSpPr txBox="1"/>
          <p:nvPr/>
        </p:nvSpPr>
        <p:spPr>
          <a:xfrm>
            <a:off x="4892040" y="3794760"/>
            <a:ext cx="109728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One photo</a:t>
            </a:r>
            <a:endParaRPr lang="en-US" sz="1300" dirty="0"/>
          </a:p>
        </p:txBody>
      </p:sp>
      <p:pic>
        <p:nvPicPr>
          <p:cNvPr id="72" name="Image 7" descr="preencoded.png"/>
          <p:cNvPicPr>
            <a:picLocks noChangeAspect="1"/>
          </p:cNvPicPr>
          <p:nvPr/>
        </p:nvPicPr>
        <p:blipFill>
          <a:blip r:embed="rId7"/>
          <a:stretch>
            <a:fillRect/>
          </a:stretch>
        </p:blipFill>
        <p:spPr>
          <a:xfrm>
            <a:off x="6021324" y="3931920"/>
            <a:ext cx="182880" cy="182880"/>
          </a:xfrm>
          <a:prstGeom prst="rect">
            <a:avLst/>
          </a:prstGeom>
        </p:spPr>
      </p:pic>
      <p:sp>
        <p:nvSpPr>
          <p:cNvPr id="73" name="Shape 63"/>
          <p:cNvSpPr/>
          <p:nvPr/>
        </p:nvSpPr>
        <p:spPr>
          <a:xfrm>
            <a:off x="6217920" y="3794760"/>
            <a:ext cx="1097280" cy="457200"/>
          </a:xfrm>
          <a:prstGeom prst="roundRect">
            <a:avLst>
              <a:gd name="adj" fmla="val 20000"/>
            </a:avLst>
          </a:prstGeom>
          <a:solidFill>
            <a:srgbClr val="1F1612"/>
          </a:solidFill>
          <a:ln w="6350">
            <a:solidFill>
              <a:srgbClr val="1F1612"/>
            </a:solidFill>
            <a:prstDash val="solid"/>
          </a:ln>
        </p:spPr>
      </p:sp>
      <p:sp>
        <p:nvSpPr>
          <p:cNvPr id="74" name="Text 64"/>
          <p:cNvSpPr txBox="1"/>
          <p:nvPr/>
        </p:nvSpPr>
        <p:spPr>
          <a:xfrm>
            <a:off x="6217920" y="3794760"/>
            <a:ext cx="109728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Gemini</a:t>
            </a:r>
            <a:endParaRPr lang="en-US" sz="1300" dirty="0"/>
          </a:p>
        </p:txBody>
      </p:sp>
      <p:pic>
        <p:nvPicPr>
          <p:cNvPr id="75" name="Image 8" descr="preencoded.png"/>
          <p:cNvPicPr>
            <a:picLocks noChangeAspect="1"/>
          </p:cNvPicPr>
          <p:nvPr/>
        </p:nvPicPr>
        <p:blipFill>
          <a:blip r:embed="rId7"/>
          <a:stretch>
            <a:fillRect/>
          </a:stretch>
        </p:blipFill>
        <p:spPr>
          <a:xfrm>
            <a:off x="7347204" y="3931920"/>
            <a:ext cx="182880" cy="182880"/>
          </a:xfrm>
          <a:prstGeom prst="rect">
            <a:avLst/>
          </a:prstGeom>
        </p:spPr>
      </p:pic>
      <p:sp>
        <p:nvSpPr>
          <p:cNvPr id="76" name="Shape 65"/>
          <p:cNvSpPr/>
          <p:nvPr/>
        </p:nvSpPr>
        <p:spPr>
          <a:xfrm>
            <a:off x="7543800" y="3794760"/>
            <a:ext cx="1097280" cy="457200"/>
          </a:xfrm>
          <a:prstGeom prst="roundRect">
            <a:avLst>
              <a:gd name="adj" fmla="val 20000"/>
            </a:avLst>
          </a:prstGeom>
          <a:solidFill>
            <a:srgbClr val="C2410C"/>
          </a:solidFill>
          <a:ln w="6350">
            <a:solidFill>
              <a:srgbClr val="C2410C"/>
            </a:solidFill>
            <a:prstDash val="solid"/>
          </a:ln>
        </p:spPr>
      </p:sp>
      <p:sp>
        <p:nvSpPr>
          <p:cNvPr id="77" name="Text 66"/>
          <p:cNvSpPr txBox="1"/>
          <p:nvPr/>
        </p:nvSpPr>
        <p:spPr>
          <a:xfrm>
            <a:off x="7543800" y="3794760"/>
            <a:ext cx="109728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Spoken</a:t>
            </a:r>
            <a:endParaRPr lang="en-US" sz="1300" dirty="0"/>
          </a:p>
        </p:txBody>
      </p:sp>
      <p:sp>
        <p:nvSpPr>
          <p:cNvPr id="78" name="Text 67"/>
          <p:cNvSpPr txBox="1"/>
          <p:nvPr/>
        </p:nvSpPr>
        <p:spPr>
          <a:xfrm>
            <a:off x="3566160" y="4343400"/>
            <a:ext cx="5120640" cy="365760"/>
          </a:xfrm>
          <a:prstGeom prst="rect">
            <a:avLst/>
          </a:prstGeom>
          <a:noFill/>
        </p:spPr>
        <p:txBody>
          <a:bodyPr wrap="square" lIns="0" tIns="0" rIns="0" bIns="0" rtlCol="0" anchor="t"/>
          <a:lstStyle/>
          <a:p>
            <a:pPr marL="0" indent="0">
              <a:buNone/>
            </a:pPr>
            <a:r>
              <a:rPr lang="en-US" sz="1200" i="1" dirty="0">
                <a:solidFill>
                  <a:srgbClr val="6E6057"/>
                </a:solidFill>
                <a:latin typeface="Calibri" panose="020F0502020204030204" pitchFamily="34" charset="0"/>
                <a:ea typeface="Calibri" panose="020F0502020204030204" pitchFamily="34" charset="-122"/>
                <a:cs typeface="Calibri" panose="020F0502020204030204" pitchFamily="34" charset="-120"/>
              </a:rPr>
              <a:t>Only one still image is sent, and only when you ask. Every result says “unverified”.</a:t>
            </a:r>
            <a:endParaRPr lang="en-US" sz="1200" dirty="0"/>
          </a:p>
        </p:txBody>
      </p:sp>
      <p:sp>
        <p:nvSpPr>
          <p:cNvPr id="79"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Controls for thumbs and ears</a:t>
            </a:r>
            <a:endParaRPr lang="en-US" sz="3000" dirty="0"/>
          </a:p>
        </p:txBody>
      </p:sp>
      <p:sp>
        <p:nvSpPr>
          <p:cNvPr id="3" name="Shape 1"/>
          <p:cNvSpPr/>
          <p:nvPr/>
        </p:nvSpPr>
        <p:spPr>
          <a:xfrm>
            <a:off x="457200" y="1234440"/>
            <a:ext cx="8229600" cy="731520"/>
          </a:xfrm>
          <a:prstGeom prst="roundRect">
            <a:avLst>
              <a:gd name="adj" fmla="val 20000"/>
            </a:avLst>
          </a:prstGeom>
          <a:solidFill>
            <a:srgbClr val="1F1612"/>
          </a:solidFill>
          <a:ln w="6350">
            <a:solidFill>
              <a:srgbClr val="1F1612"/>
            </a:solidFill>
            <a:prstDash val="solid"/>
          </a:ln>
        </p:spPr>
      </p:sp>
      <p:pic>
        <p:nvPicPr>
          <p:cNvPr id="4" name="Image 0" descr="preencoded.png"/>
          <p:cNvPicPr>
            <a:picLocks noChangeAspect="1"/>
          </p:cNvPicPr>
          <p:nvPr/>
        </p:nvPicPr>
        <p:blipFill>
          <a:blip r:embed="rId1"/>
          <a:stretch>
            <a:fillRect/>
          </a:stretch>
        </p:blipFill>
        <p:spPr>
          <a:xfrm>
            <a:off x="1042416" y="1371600"/>
            <a:ext cx="201168" cy="201168"/>
          </a:xfrm>
          <a:prstGeom prst="rect">
            <a:avLst/>
          </a:prstGeom>
        </p:spPr>
      </p:pic>
      <p:sp>
        <p:nvSpPr>
          <p:cNvPr id="5" name="Text 2"/>
          <p:cNvSpPr txBox="1"/>
          <p:nvPr/>
        </p:nvSpPr>
        <p:spPr>
          <a:xfrm>
            <a:off x="5943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a:t>
            </a:r>
            <a:endParaRPr lang="en-US" sz="1100" dirty="0"/>
          </a:p>
        </p:txBody>
      </p:sp>
      <p:pic>
        <p:nvPicPr>
          <p:cNvPr id="6" name="Image 1" descr="preencoded.png"/>
          <p:cNvPicPr>
            <a:picLocks noChangeAspect="1"/>
          </p:cNvPicPr>
          <p:nvPr/>
        </p:nvPicPr>
        <p:blipFill>
          <a:blip r:embed="rId2"/>
          <a:stretch>
            <a:fillRect/>
          </a:stretch>
        </p:blipFill>
        <p:spPr>
          <a:xfrm>
            <a:off x="2414016" y="1371600"/>
            <a:ext cx="201168" cy="201168"/>
          </a:xfrm>
          <a:prstGeom prst="rect">
            <a:avLst/>
          </a:prstGeom>
        </p:spPr>
      </p:pic>
      <p:sp>
        <p:nvSpPr>
          <p:cNvPr id="7" name="Text 3"/>
          <p:cNvSpPr txBox="1"/>
          <p:nvPr/>
        </p:nvSpPr>
        <p:spPr>
          <a:xfrm>
            <a:off x="19659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Home</a:t>
            </a:r>
            <a:endParaRPr lang="en-US" sz="1100" dirty="0"/>
          </a:p>
        </p:txBody>
      </p:sp>
      <p:pic>
        <p:nvPicPr>
          <p:cNvPr id="8" name="Image 2" descr="preencoded.png"/>
          <p:cNvPicPr>
            <a:picLocks noChangeAspect="1"/>
          </p:cNvPicPr>
          <p:nvPr/>
        </p:nvPicPr>
        <p:blipFill>
          <a:blip r:embed="rId3"/>
          <a:stretch>
            <a:fillRect/>
          </a:stretch>
        </p:blipFill>
        <p:spPr>
          <a:xfrm>
            <a:off x="3785616" y="1371600"/>
            <a:ext cx="201168" cy="201168"/>
          </a:xfrm>
          <a:prstGeom prst="rect">
            <a:avLst/>
          </a:prstGeom>
        </p:spPr>
      </p:pic>
      <p:sp>
        <p:nvSpPr>
          <p:cNvPr id="9" name="Text 4"/>
          <p:cNvSpPr txBox="1"/>
          <p:nvPr/>
        </p:nvSpPr>
        <p:spPr>
          <a:xfrm>
            <a:off x="33375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a:t>
            </a:r>
            <a:endParaRPr lang="en-US" sz="1100" dirty="0"/>
          </a:p>
        </p:txBody>
      </p:sp>
      <p:sp>
        <p:nvSpPr>
          <p:cNvPr id="10" name="Shape 5"/>
          <p:cNvSpPr/>
          <p:nvPr/>
        </p:nvSpPr>
        <p:spPr>
          <a:xfrm>
            <a:off x="4709160" y="1307592"/>
            <a:ext cx="1097280" cy="585216"/>
          </a:xfrm>
          <a:prstGeom prst="roundRect">
            <a:avLst>
              <a:gd name="adj" fmla="val 18750"/>
            </a:avLst>
          </a:prstGeom>
          <a:solidFill>
            <a:srgbClr val="C2410C"/>
          </a:solidFill>
          <a:ln w="6350">
            <a:solidFill>
              <a:srgbClr val="C2410C"/>
            </a:solidFill>
            <a:prstDash val="solid"/>
          </a:ln>
        </p:spPr>
      </p:sp>
      <p:pic>
        <p:nvPicPr>
          <p:cNvPr id="11" name="Image 3" descr="preencoded.png"/>
          <p:cNvPicPr>
            <a:picLocks noChangeAspect="1"/>
          </p:cNvPicPr>
          <p:nvPr/>
        </p:nvPicPr>
        <p:blipFill>
          <a:blip r:embed="rId4"/>
          <a:stretch>
            <a:fillRect/>
          </a:stretch>
        </p:blipFill>
        <p:spPr>
          <a:xfrm>
            <a:off x="5157216" y="1371600"/>
            <a:ext cx="201168" cy="201168"/>
          </a:xfrm>
          <a:prstGeom prst="rect">
            <a:avLst/>
          </a:prstGeom>
        </p:spPr>
      </p:pic>
      <p:sp>
        <p:nvSpPr>
          <p:cNvPr id="12" name="Text 6"/>
          <p:cNvSpPr txBox="1"/>
          <p:nvPr/>
        </p:nvSpPr>
        <p:spPr>
          <a:xfrm>
            <a:off x="47091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Lens</a:t>
            </a:r>
            <a:endParaRPr lang="en-US" sz="1100" dirty="0"/>
          </a:p>
        </p:txBody>
      </p:sp>
      <p:pic>
        <p:nvPicPr>
          <p:cNvPr id="13" name="Image 4" descr="preencoded.png"/>
          <p:cNvPicPr>
            <a:picLocks noChangeAspect="1"/>
          </p:cNvPicPr>
          <p:nvPr/>
        </p:nvPicPr>
        <p:blipFill>
          <a:blip r:embed="rId5"/>
          <a:stretch>
            <a:fillRect/>
          </a:stretch>
        </p:blipFill>
        <p:spPr>
          <a:xfrm>
            <a:off x="6528816" y="1371600"/>
            <a:ext cx="201168" cy="201168"/>
          </a:xfrm>
          <a:prstGeom prst="rect">
            <a:avLst/>
          </a:prstGeom>
        </p:spPr>
      </p:pic>
      <p:sp>
        <p:nvSpPr>
          <p:cNvPr id="14" name="Text 7"/>
          <p:cNvSpPr txBox="1"/>
          <p:nvPr/>
        </p:nvSpPr>
        <p:spPr>
          <a:xfrm>
            <a:off x="60807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Voice</a:t>
            </a:r>
            <a:endParaRPr lang="en-US" sz="1100" dirty="0"/>
          </a:p>
        </p:txBody>
      </p:sp>
      <p:pic>
        <p:nvPicPr>
          <p:cNvPr id="15" name="Image 5" descr="preencoded.png"/>
          <p:cNvPicPr>
            <a:picLocks noChangeAspect="1"/>
          </p:cNvPicPr>
          <p:nvPr/>
        </p:nvPicPr>
        <p:blipFill>
          <a:blip r:embed="rId6"/>
          <a:stretch>
            <a:fillRect/>
          </a:stretch>
        </p:blipFill>
        <p:spPr>
          <a:xfrm>
            <a:off x="7900416" y="1371600"/>
            <a:ext cx="201168" cy="201168"/>
          </a:xfrm>
          <a:prstGeom prst="rect">
            <a:avLst/>
          </a:prstGeom>
        </p:spPr>
      </p:pic>
      <p:sp>
        <p:nvSpPr>
          <p:cNvPr id="16" name="Text 8"/>
          <p:cNvSpPr txBox="1"/>
          <p:nvPr/>
        </p:nvSpPr>
        <p:spPr>
          <a:xfrm>
            <a:off x="7452360" y="1618488"/>
            <a:ext cx="1097280" cy="201168"/>
          </a:xfrm>
          <a:prstGeom prst="rect">
            <a:avLst/>
          </a:prstGeom>
          <a:noFill/>
        </p:spPr>
        <p:txBody>
          <a:bodyPr wrap="square" lIns="0" tIns="0" rIns="0" bIns="0" rtlCol="0" anchor="t"/>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t>
            </a:r>
            <a:endParaRPr lang="en-US" sz="1100" dirty="0"/>
          </a:p>
        </p:txBody>
      </p:sp>
      <p:graphicFrame>
        <p:nvGraphicFramePr>
          <p:cNvPr id="17" name="Table 0"/>
          <p:cNvGraphicFramePr>
            <a:graphicFrameLocks noGrp="1"/>
          </p:cNvGraphicFramePr>
          <p:nvPr/>
        </p:nvGraphicFramePr>
        <p:xfrm>
          <a:off x="457200" y="2194560"/>
          <a:ext cx="8229600" cy="2304288"/>
        </p:xfrm>
        <a:graphic>
          <a:graphicData uri="http://schemas.openxmlformats.org/drawingml/2006/table">
            <a:tbl>
              <a:tblPr/>
              <a:tblGrid>
                <a:gridCol w="2103120"/>
                <a:gridCol w="6126480"/>
              </a:tblGrid>
              <a:tr h="384048">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Control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C2410C"/>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it does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C2410C"/>
                    </a:solidFill>
                  </a:tcPr>
                </a:tc>
              </a:tr>
              <a:tr h="384048">
                <a:tc>
                  <a:txBody>
                    <a:bodyPr/>
                    <a:lstStyle/>
                    <a:p>
                      <a:pPr marL="0" indent="0">
                        <a:buNone/>
                      </a:pPr>
                      <a:r>
                        <a:rPr lang="en-US" sz="1250" b="1" dirty="0">
                          <a:solidFill>
                            <a:srgbClr val="1F1612"/>
                          </a:solidFill>
                          <a:latin typeface="Calibri" panose="020F0502020204030204" pitchFamily="34" charset="0"/>
                          <a:ea typeface="Calibri" panose="020F0502020204030204" pitchFamily="34" charset="-122"/>
                          <a:cs typeface="Calibri" panose="020F0502020204030204" pitchFamily="34" charset="-120"/>
                        </a:rPr>
                        <a:t>Bottom bar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c>
                  <a:txBody>
                    <a:bodyPr/>
                    <a:lstStyle/>
                    <a:p>
                      <a:pPr marL="0" indent="0">
                        <a:buNone/>
                      </a:pPr>
                      <a:r>
                        <a:rPr lang="en-US" sz="1250" dirty="0">
                          <a:solidFill>
                            <a:srgbClr val="6E6057"/>
                          </a:solidFill>
                          <a:latin typeface="Calibri" panose="020F0502020204030204" pitchFamily="34" charset="0"/>
                          <a:ea typeface="Calibri" panose="020F0502020204030204" pitchFamily="34" charset="-122"/>
                          <a:cs typeface="Calibri" panose="020F0502020204030204" pitchFamily="34" charset="-120"/>
                        </a:rPr>
                        <a:t>Back, Home, Go, Lens, Voice, Me. Each screen is announced aloud.</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r>
              <a:tr h="384048">
                <a:tc>
                  <a:txBody>
                    <a:bodyPr/>
                    <a:lstStyle/>
                    <a:p>
                      <a:pPr marL="0" indent="0">
                        <a:buNone/>
                      </a:pPr>
                      <a:r>
                        <a:rPr lang="en-US" sz="1250" b="1" dirty="0">
                          <a:solidFill>
                            <a:srgbClr val="1F1612"/>
                          </a:solidFill>
                          <a:latin typeface="Calibri" panose="020F0502020204030204" pitchFamily="34" charset="0"/>
                          <a:ea typeface="Calibri" panose="020F0502020204030204" pitchFamily="34" charset="-122"/>
                          <a:cs typeface="Calibri" panose="020F0502020204030204" pitchFamily="34" charset="-120"/>
                        </a:rPr>
                        <a:t>SOS (top bar)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c>
                  <a:txBody>
                    <a:bodyPr/>
                    <a:lstStyle/>
                    <a:p>
                      <a:pPr marL="0" indent="0">
                        <a:buNone/>
                      </a:pPr>
                      <a:r>
                        <a:rPr lang="en-US" sz="1250" dirty="0">
                          <a:solidFill>
                            <a:srgbClr val="6E6057"/>
                          </a:solidFill>
                          <a:latin typeface="Calibri" panose="020F0502020204030204" pitchFamily="34" charset="0"/>
                          <a:ea typeface="Calibri" panose="020F0502020204030204" pitchFamily="34" charset="-122"/>
                          <a:cs typeface="Calibri" panose="020F0502020204030204" pitchFamily="34" charset="-120"/>
                        </a:rPr>
                        <a:t>Vibrates, opens the emergency screen and speaks the options.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r>
              <a:tr h="384048">
                <a:tc>
                  <a:txBody>
                    <a:bodyPr/>
                    <a:lstStyle/>
                    <a:p>
                      <a:pPr marL="0" indent="0">
                        <a:buNone/>
                      </a:pPr>
                      <a:r>
                        <a:rPr lang="en-US" sz="1250" b="1" dirty="0">
                          <a:solidFill>
                            <a:srgbClr val="1F1612"/>
                          </a:solidFill>
                          <a:latin typeface="Calibri" panose="020F0502020204030204" pitchFamily="34" charset="0"/>
                          <a:ea typeface="Calibri" panose="020F0502020204030204" pitchFamily="34" charset="-122"/>
                          <a:cs typeface="Calibri" panose="020F0502020204030204" pitchFamily="34" charset="-120"/>
                        </a:rPr>
                        <a:t>Press-and-hold Talk</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c>
                  <a:txBody>
                    <a:bodyPr/>
                    <a:lstStyle/>
                    <a:p>
                      <a:pPr marL="0" indent="0">
                        <a:buNone/>
                      </a:pPr>
                      <a:r>
                        <a:rPr lang="en-US" sz="1250" dirty="0">
                          <a:solidFill>
                            <a:srgbClr val="6E6057"/>
                          </a:solidFill>
                          <a:latin typeface="Calibri" panose="020F0502020204030204" pitchFamily="34" charset="0"/>
                          <a:ea typeface="Calibri" panose="020F0502020204030204" pitchFamily="34" charset="-122"/>
                          <a:cs typeface="Calibri" panose="020F0502020204030204" pitchFamily="34" charset="-120"/>
                        </a:rPr>
                        <a:t>Hold to speak, release to send. Touch, mouse or Space/Enter.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r>
              <a:tr h="384048">
                <a:tc>
                  <a:txBody>
                    <a:bodyPr/>
                    <a:lstStyle/>
                    <a:p>
                      <a:pPr marL="0" indent="0">
                        <a:buNone/>
                      </a:pPr>
                      <a:r>
                        <a:rPr lang="en-US" sz="1250" b="1" dirty="0">
                          <a:solidFill>
                            <a:srgbClr val="1F1612"/>
                          </a:solidFill>
                          <a:latin typeface="Calibri" panose="020F0502020204030204" pitchFamily="34" charset="0"/>
                          <a:ea typeface="Calibri" panose="020F0502020204030204" pitchFamily="34" charset="-122"/>
                          <a:cs typeface="Calibri" panose="020F0502020204030204" pitchFamily="34" charset="-120"/>
                        </a:rPr>
                        <a:t>Zoom slider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c>
                  <a:txBody>
                    <a:bodyPr/>
                    <a:lstStyle/>
                    <a:p>
                      <a:pPr marL="0" indent="0">
                        <a:buNone/>
                      </a:pPr>
                      <a:r>
                        <a:rPr lang="en-US" sz="1250" dirty="0">
                          <a:solidFill>
                            <a:srgbClr val="6E6057"/>
                          </a:solidFill>
                          <a:latin typeface="Calibri" panose="020F0502020204030204" pitchFamily="34" charset="0"/>
                          <a:ea typeface="Calibri" panose="020F0502020204030204" pitchFamily="34" charset="-122"/>
                          <a:cs typeface="Calibri" panose="020F0502020204030204" pitchFamily="34" charset="-120"/>
                        </a:rPr>
                        <a:t>Camera zoom 1x to 4x, hardware when available, digital otherwise.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r>
              <a:tr h="384048">
                <a:tc>
                  <a:txBody>
                    <a:bodyPr/>
                    <a:lstStyle/>
                    <a:p>
                      <a:pPr marL="0" indent="0">
                        <a:buNone/>
                      </a:pPr>
                      <a:r>
                        <a:rPr lang="en-US" sz="1250" b="1" dirty="0">
                          <a:solidFill>
                            <a:srgbClr val="1F1612"/>
                          </a:solidFill>
                          <a:latin typeface="Calibri" panose="020F0502020204030204" pitchFamily="34" charset="0"/>
                          <a:ea typeface="Calibri" panose="020F0502020204030204" pitchFamily="34" charset="-122"/>
                          <a:cs typeface="Calibri" panose="020F0502020204030204" pitchFamily="34" charset="-120"/>
                        </a:rPr>
                        <a:t>Voice commands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c>
                  <a:txBody>
                    <a:bodyPr/>
                    <a:lstStyle/>
                    <a:p>
                      <a:pPr marL="0" indent="0">
                        <a:buNone/>
                      </a:pPr>
                      <a:r>
                        <a:rPr lang="en-US" sz="1250" dirty="0">
                          <a:solidFill>
                            <a:srgbClr val="6E6057"/>
                          </a:solidFill>
                          <a:latin typeface="Calibri" panose="020F0502020204030204" pitchFamily="34" charset="0"/>
                          <a:ea typeface="Calibri" panose="020F0502020204030204" pitchFamily="34" charset="-122"/>
                          <a:cs typeface="Calibri" panose="020F0502020204030204" pitchFamily="34" charset="-120"/>
                        </a:rPr>
                        <a:t>“Open Vision Lens”, “read this menu”, “zoom in”, “call Mom”, “remind me…”.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F0D6C3"/>
                      </a:solidFill>
                      <a:prstDash val="solid"/>
                      <a:round/>
                      <a:headEnd type="none" w="med" len="med"/>
                      <a:tailEnd type="none" w="med" len="med"/>
                    </a:lnL>
                    <a:lnR w="9525" cap="flat" cmpd="sng" algn="ctr">
                      <a:solidFill>
                        <a:srgbClr val="F0D6C3"/>
                      </a:solidFill>
                      <a:prstDash val="solid"/>
                      <a:round/>
                      <a:headEnd type="none" w="med" len="med"/>
                      <a:tailEnd type="none" w="med" len="med"/>
                    </a:lnR>
                    <a:lnT w="9525" cap="flat" cmpd="sng" algn="ctr">
                      <a:solidFill>
                        <a:srgbClr val="F0D6C3"/>
                      </a:solidFill>
                      <a:prstDash val="solid"/>
                      <a:round/>
                      <a:headEnd type="none" w="med" len="med"/>
                      <a:tailEnd type="none" w="med" len="med"/>
                    </a:lnT>
                    <a:lnB w="9525" cap="flat" cmpd="sng" algn="ctr">
                      <a:solidFill>
                        <a:srgbClr val="F0D6C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A web app that acts like an app</a:t>
            </a:r>
            <a:endParaRPr lang="en-US" sz="3000" dirty="0"/>
          </a:p>
        </p:txBody>
      </p:sp>
      <p:sp>
        <p:nvSpPr>
          <p:cNvPr id="3" name="Shape 1"/>
          <p:cNvSpPr/>
          <p:nvPr/>
        </p:nvSpPr>
        <p:spPr>
          <a:xfrm>
            <a:off x="457200" y="1325880"/>
            <a:ext cx="548640" cy="548640"/>
          </a:xfrm>
          <a:prstGeom prst="ellipse">
            <a:avLst/>
          </a:prstGeom>
          <a:solidFill>
            <a:srgbClr val="C2410C"/>
          </a:solidFill>
          <a:ln w="6350">
            <a:solidFill>
              <a:srgbClr val="C2410C"/>
            </a:solidFill>
            <a:prstDash val="solid"/>
          </a:ln>
        </p:spPr>
      </p:sp>
      <p:pic>
        <p:nvPicPr>
          <p:cNvPr id="4" name="Image 0" descr="preencoded.png"/>
          <p:cNvPicPr>
            <a:picLocks noChangeAspect="1"/>
          </p:cNvPicPr>
          <p:nvPr/>
        </p:nvPicPr>
        <p:blipFill>
          <a:blip r:embed="rId1"/>
          <a:stretch>
            <a:fillRect/>
          </a:stretch>
        </p:blipFill>
        <p:spPr>
          <a:xfrm>
            <a:off x="594360" y="1463040"/>
            <a:ext cx="274320" cy="274320"/>
          </a:xfrm>
          <a:prstGeom prst="rect">
            <a:avLst/>
          </a:prstGeom>
        </p:spPr>
      </p:pic>
      <p:sp>
        <p:nvSpPr>
          <p:cNvPr id="5" name="Text 2"/>
          <p:cNvSpPr txBox="1"/>
          <p:nvPr/>
        </p:nvSpPr>
        <p:spPr>
          <a:xfrm>
            <a:off x="1188720" y="1280160"/>
            <a:ext cx="3931920" cy="274320"/>
          </a:xfrm>
          <a:prstGeom prst="rect">
            <a:avLst/>
          </a:prstGeom>
          <a:noFill/>
        </p:spPr>
        <p:txBody>
          <a:bodyPr wrap="square" lIns="0" tIns="0" rIns="0" bIns="0" rtlCol="0" anchor="t"/>
          <a:lstStyle/>
          <a:p>
            <a:pPr marL="0" indent="0">
              <a:buNone/>
            </a:pPr>
            <a:r>
              <a:rPr lang="en-US" sz="1600" b="1" dirty="0">
                <a:solidFill>
                  <a:srgbClr val="1F1612"/>
                </a:solidFill>
                <a:latin typeface="Calibri" panose="020F0502020204030204" pitchFamily="34" charset="0"/>
                <a:ea typeface="Calibri" panose="020F0502020204030204" pitchFamily="34" charset="-122"/>
                <a:cs typeface="Calibri" panose="020F0502020204030204" pitchFamily="34" charset="-120"/>
              </a:rPr>
              <a:t>Installable PWA</a:t>
            </a:r>
            <a:endParaRPr lang="en-US" sz="1600" dirty="0"/>
          </a:p>
        </p:txBody>
      </p:sp>
      <p:sp>
        <p:nvSpPr>
          <p:cNvPr id="6" name="Text 3"/>
          <p:cNvSpPr txBox="1"/>
          <p:nvPr/>
        </p:nvSpPr>
        <p:spPr>
          <a:xfrm>
            <a:off x="1188720" y="1581912"/>
            <a:ext cx="3931920" cy="41148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Add to home screen; opens full screen with an Emergency shortcut.</a:t>
            </a:r>
            <a:endParaRPr lang="en-US" sz="1300" dirty="0"/>
          </a:p>
        </p:txBody>
      </p:sp>
      <p:sp>
        <p:nvSpPr>
          <p:cNvPr id="7" name="Shape 4"/>
          <p:cNvSpPr/>
          <p:nvPr/>
        </p:nvSpPr>
        <p:spPr>
          <a:xfrm>
            <a:off x="457200" y="2176272"/>
            <a:ext cx="548640" cy="548640"/>
          </a:xfrm>
          <a:prstGeom prst="ellipse">
            <a:avLst/>
          </a:prstGeom>
          <a:solidFill>
            <a:srgbClr val="C2410C"/>
          </a:solidFill>
          <a:ln w="6350">
            <a:solidFill>
              <a:srgbClr val="C2410C"/>
            </a:solidFill>
            <a:prstDash val="solid"/>
          </a:ln>
        </p:spPr>
      </p:sp>
      <p:pic>
        <p:nvPicPr>
          <p:cNvPr id="8" name="Image 1" descr="preencoded.png"/>
          <p:cNvPicPr>
            <a:picLocks noChangeAspect="1"/>
          </p:cNvPicPr>
          <p:nvPr/>
        </p:nvPicPr>
        <p:blipFill>
          <a:blip r:embed="rId2"/>
          <a:stretch>
            <a:fillRect/>
          </a:stretch>
        </p:blipFill>
        <p:spPr>
          <a:xfrm>
            <a:off x="594360" y="2313432"/>
            <a:ext cx="274320" cy="274320"/>
          </a:xfrm>
          <a:prstGeom prst="rect">
            <a:avLst/>
          </a:prstGeom>
        </p:spPr>
      </p:pic>
      <p:sp>
        <p:nvSpPr>
          <p:cNvPr id="9" name="Text 5"/>
          <p:cNvSpPr txBox="1"/>
          <p:nvPr/>
        </p:nvSpPr>
        <p:spPr>
          <a:xfrm>
            <a:off x="1188720" y="2130552"/>
            <a:ext cx="3931920" cy="274320"/>
          </a:xfrm>
          <a:prstGeom prst="rect">
            <a:avLst/>
          </a:prstGeom>
          <a:noFill/>
        </p:spPr>
        <p:txBody>
          <a:bodyPr wrap="square" lIns="0" tIns="0" rIns="0" bIns="0" rtlCol="0" anchor="t"/>
          <a:lstStyle/>
          <a:p>
            <a:pPr marL="0" indent="0">
              <a:buNone/>
            </a:pPr>
            <a:r>
              <a:rPr lang="en-US" sz="1600" b="1" dirty="0">
                <a:solidFill>
                  <a:srgbClr val="1F1612"/>
                </a:solidFill>
                <a:latin typeface="Calibri" panose="020F0502020204030204" pitchFamily="34" charset="0"/>
                <a:ea typeface="Calibri" panose="020F0502020204030204" pitchFamily="34" charset="-122"/>
                <a:cs typeface="Calibri" panose="020F0502020204030204" pitchFamily="34" charset="-120"/>
              </a:rPr>
              <a:t>Offline shell</a:t>
            </a:r>
            <a:endParaRPr lang="en-US" sz="1600" dirty="0"/>
          </a:p>
        </p:txBody>
      </p:sp>
      <p:sp>
        <p:nvSpPr>
          <p:cNvPr id="10" name="Text 6"/>
          <p:cNvSpPr txBox="1"/>
          <p:nvPr/>
        </p:nvSpPr>
        <p:spPr>
          <a:xfrm>
            <a:off x="1188720" y="2432304"/>
            <a:ext cx="3931920" cy="41148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A service worker caches the app and emergency screen.</a:t>
            </a:r>
            <a:endParaRPr lang="en-US" sz="1300" dirty="0"/>
          </a:p>
        </p:txBody>
      </p:sp>
      <p:sp>
        <p:nvSpPr>
          <p:cNvPr id="11" name="Shape 7"/>
          <p:cNvSpPr/>
          <p:nvPr/>
        </p:nvSpPr>
        <p:spPr>
          <a:xfrm>
            <a:off x="457200" y="3026664"/>
            <a:ext cx="548640" cy="548640"/>
          </a:xfrm>
          <a:prstGeom prst="ellipse">
            <a:avLst/>
          </a:prstGeom>
          <a:solidFill>
            <a:srgbClr val="C2410C"/>
          </a:solidFill>
          <a:ln w="6350">
            <a:solidFill>
              <a:srgbClr val="C2410C"/>
            </a:solidFill>
            <a:prstDash val="solid"/>
          </a:ln>
        </p:spPr>
      </p:sp>
      <p:pic>
        <p:nvPicPr>
          <p:cNvPr id="12" name="Image 2" descr="preencoded.png"/>
          <p:cNvPicPr>
            <a:picLocks noChangeAspect="1"/>
          </p:cNvPicPr>
          <p:nvPr/>
        </p:nvPicPr>
        <p:blipFill>
          <a:blip r:embed="rId3"/>
          <a:stretch>
            <a:fillRect/>
          </a:stretch>
        </p:blipFill>
        <p:spPr>
          <a:xfrm>
            <a:off x="594360" y="3163824"/>
            <a:ext cx="274320" cy="274320"/>
          </a:xfrm>
          <a:prstGeom prst="rect">
            <a:avLst/>
          </a:prstGeom>
        </p:spPr>
      </p:pic>
      <p:sp>
        <p:nvSpPr>
          <p:cNvPr id="13" name="Text 8"/>
          <p:cNvSpPr txBox="1"/>
          <p:nvPr/>
        </p:nvSpPr>
        <p:spPr>
          <a:xfrm>
            <a:off x="1188720" y="2980944"/>
            <a:ext cx="3931920" cy="274320"/>
          </a:xfrm>
          <a:prstGeom prst="rect">
            <a:avLst/>
          </a:prstGeom>
          <a:noFill/>
        </p:spPr>
        <p:txBody>
          <a:bodyPr wrap="square" lIns="0" tIns="0" rIns="0" bIns="0" rtlCol="0" anchor="t"/>
          <a:lstStyle/>
          <a:p>
            <a:pPr marL="0" indent="0">
              <a:buNone/>
            </a:pPr>
            <a:r>
              <a:rPr lang="en-US" sz="1600" b="1" dirty="0">
                <a:solidFill>
                  <a:srgbClr val="1F1612"/>
                </a:solidFill>
                <a:latin typeface="Calibri" panose="020F0502020204030204" pitchFamily="34" charset="0"/>
                <a:ea typeface="Calibri" panose="020F0502020204030204" pitchFamily="34" charset="-122"/>
                <a:cs typeface="Calibri" panose="020F0502020204030204" pitchFamily="34" charset="-120"/>
              </a:rPr>
              <a:t>Phone hardware</a:t>
            </a:r>
            <a:endParaRPr lang="en-US" sz="1600" dirty="0"/>
          </a:p>
        </p:txBody>
      </p:sp>
      <p:sp>
        <p:nvSpPr>
          <p:cNvPr id="14" name="Text 9"/>
          <p:cNvSpPr txBox="1"/>
          <p:nvPr/>
        </p:nvSpPr>
        <p:spPr>
          <a:xfrm>
            <a:off x="1188720" y="3282696"/>
            <a:ext cx="3931920" cy="41148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Camera, mic, GPS, vibration and battery alerts.</a:t>
            </a:r>
            <a:endParaRPr lang="en-US" sz="1300" dirty="0"/>
          </a:p>
        </p:txBody>
      </p:sp>
      <p:sp>
        <p:nvSpPr>
          <p:cNvPr id="15" name="Shape 10"/>
          <p:cNvSpPr/>
          <p:nvPr/>
        </p:nvSpPr>
        <p:spPr>
          <a:xfrm>
            <a:off x="457200" y="3877056"/>
            <a:ext cx="548640" cy="548640"/>
          </a:xfrm>
          <a:prstGeom prst="ellipse">
            <a:avLst/>
          </a:prstGeom>
          <a:solidFill>
            <a:srgbClr val="C2410C"/>
          </a:solidFill>
          <a:ln w="6350">
            <a:solidFill>
              <a:srgbClr val="C2410C"/>
            </a:solidFill>
            <a:prstDash val="solid"/>
          </a:ln>
        </p:spPr>
      </p:sp>
      <p:pic>
        <p:nvPicPr>
          <p:cNvPr id="16" name="Image 3" descr="preencoded.png"/>
          <p:cNvPicPr>
            <a:picLocks noChangeAspect="1"/>
          </p:cNvPicPr>
          <p:nvPr/>
        </p:nvPicPr>
        <p:blipFill>
          <a:blip r:embed="rId4"/>
          <a:stretch>
            <a:fillRect/>
          </a:stretch>
        </p:blipFill>
        <p:spPr>
          <a:xfrm>
            <a:off x="594360" y="4014216"/>
            <a:ext cx="274320" cy="274320"/>
          </a:xfrm>
          <a:prstGeom prst="rect">
            <a:avLst/>
          </a:prstGeom>
        </p:spPr>
      </p:pic>
      <p:sp>
        <p:nvSpPr>
          <p:cNvPr id="17" name="Text 11"/>
          <p:cNvSpPr txBox="1"/>
          <p:nvPr/>
        </p:nvSpPr>
        <p:spPr>
          <a:xfrm>
            <a:off x="1188720" y="3831336"/>
            <a:ext cx="3931920" cy="274320"/>
          </a:xfrm>
          <a:prstGeom prst="rect">
            <a:avLst/>
          </a:prstGeom>
          <a:noFill/>
        </p:spPr>
        <p:txBody>
          <a:bodyPr wrap="square" lIns="0" tIns="0" rIns="0" bIns="0" rtlCol="0" anchor="t"/>
          <a:lstStyle/>
          <a:p>
            <a:pPr marL="0" indent="0">
              <a:buNone/>
            </a:pPr>
            <a:r>
              <a:rPr lang="en-US" sz="1600" b="1" dirty="0">
                <a:solidFill>
                  <a:srgbClr val="1F1612"/>
                </a:solidFill>
                <a:latin typeface="Calibri" panose="020F0502020204030204" pitchFamily="34" charset="0"/>
                <a:ea typeface="Calibri" panose="020F0502020204030204" pitchFamily="34" charset="-122"/>
                <a:cs typeface="Calibri" panose="020F0502020204030204" pitchFamily="34" charset="-120"/>
              </a:rPr>
              <a:t>Big, simple targets</a:t>
            </a:r>
            <a:endParaRPr lang="en-US" sz="1600" dirty="0"/>
          </a:p>
        </p:txBody>
      </p:sp>
      <p:sp>
        <p:nvSpPr>
          <p:cNvPr id="18" name="Text 12"/>
          <p:cNvSpPr txBox="1"/>
          <p:nvPr/>
        </p:nvSpPr>
        <p:spPr>
          <a:xfrm>
            <a:off x="1188720" y="4133088"/>
            <a:ext cx="3931920" cy="411480"/>
          </a:xfrm>
          <a:prstGeom prst="rect">
            <a:avLst/>
          </a:prstGeom>
          <a:noFill/>
        </p:spPr>
        <p:txBody>
          <a:bodyPr wrap="square" lIns="0" tIns="0" rIns="0" bIns="0" rtlCol="0" anchor="t"/>
          <a:lstStyle/>
          <a:p>
            <a:pPr marL="0" indent="0">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Buttons about 96px tall; six-button thumb bar.</a:t>
            </a:r>
            <a:endParaRPr lang="en-US" sz="1300" dirty="0"/>
          </a:p>
        </p:txBody>
      </p:sp>
      <p:sp>
        <p:nvSpPr>
          <p:cNvPr id="19" name="Shape 13"/>
          <p:cNvSpPr/>
          <p:nvPr/>
        </p:nvSpPr>
        <p:spPr>
          <a:xfrm>
            <a:off x="5486400" y="1280160"/>
            <a:ext cx="3200400" cy="3337560"/>
          </a:xfrm>
          <a:prstGeom prst="roundRect">
            <a:avLst>
              <a:gd name="adj" fmla="val 4571"/>
            </a:avLst>
          </a:prstGeom>
          <a:solidFill>
            <a:srgbClr val="1F1612"/>
          </a:solidFill>
          <a:ln w="6350">
            <a:solidFill>
              <a:srgbClr val="1F1612"/>
            </a:solidFill>
            <a:prstDash val="solid"/>
          </a:ln>
        </p:spPr>
      </p:sp>
      <p:sp>
        <p:nvSpPr>
          <p:cNvPr id="20" name="Text 14"/>
          <p:cNvSpPr txBox="1"/>
          <p:nvPr/>
        </p:nvSpPr>
        <p:spPr>
          <a:xfrm>
            <a:off x="5715000" y="1481328"/>
            <a:ext cx="2743200" cy="182880"/>
          </a:xfrm>
          <a:prstGeom prst="rect">
            <a:avLst/>
          </a:prstGeom>
          <a:noFill/>
        </p:spPr>
        <p:txBody>
          <a:bodyPr wrap="square" lIns="0" tIns="0" rIns="0" bIns="0" rtlCol="0" anchor="t"/>
          <a:lstStyle/>
          <a:p>
            <a:pPr marL="0" indent="0">
              <a:buNone/>
            </a:pPr>
            <a:r>
              <a:rPr lang="en-US" sz="1100" b="1" kern="0" spc="200" dirty="0">
                <a:solidFill>
                  <a:srgbClr val="F59E6B"/>
                </a:solidFill>
                <a:latin typeface="Calibri" panose="020F0502020204030204" pitchFamily="34" charset="0"/>
                <a:ea typeface="Calibri" panose="020F0502020204030204" pitchFamily="34" charset="-122"/>
                <a:cs typeface="Calibri" panose="020F0502020204030204" pitchFamily="34" charset="-120"/>
              </a:rPr>
              <a:t>WHAT A WEBSITE CAN’T DO</a:t>
            </a:r>
            <a:endParaRPr lang="en-US" sz="1100" dirty="0"/>
          </a:p>
        </p:txBody>
      </p:sp>
      <p:sp>
        <p:nvSpPr>
          <p:cNvPr id="21" name="Text 15"/>
          <p:cNvSpPr txBox="1"/>
          <p:nvPr/>
        </p:nvSpPr>
        <p:spPr>
          <a:xfrm>
            <a:off x="5715000" y="1737360"/>
            <a:ext cx="2743200" cy="320040"/>
          </a:xfrm>
          <a:prstGeom prst="rect">
            <a:avLst/>
          </a:prstGeom>
          <a:noFill/>
        </p:spPr>
        <p:txBody>
          <a:bodyPr wrap="square" lIns="0" tIns="0" rIns="0" bIns="0" rtlCol="0" anchor="t"/>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…and we say so in the app</a:t>
            </a:r>
            <a:endParaRPr lang="en-US" sz="1500" dirty="0"/>
          </a:p>
        </p:txBody>
      </p:sp>
      <p:pic>
        <p:nvPicPr>
          <p:cNvPr id="22" name="Image 4" descr="preencoded.png"/>
          <p:cNvPicPr>
            <a:picLocks noChangeAspect="1"/>
          </p:cNvPicPr>
          <p:nvPr/>
        </p:nvPicPr>
        <p:blipFill>
          <a:blip r:embed="rId5"/>
          <a:stretch>
            <a:fillRect/>
          </a:stretch>
        </p:blipFill>
        <p:spPr>
          <a:xfrm>
            <a:off x="5715000" y="2331720"/>
            <a:ext cx="201168" cy="201168"/>
          </a:xfrm>
          <a:prstGeom prst="rect">
            <a:avLst/>
          </a:prstGeom>
        </p:spPr>
      </p:pic>
      <p:sp>
        <p:nvSpPr>
          <p:cNvPr id="23" name="Text 16"/>
          <p:cNvSpPr txBox="1"/>
          <p:nvPr/>
        </p:nvSpPr>
        <p:spPr>
          <a:xfrm>
            <a:off x="6035040" y="2286000"/>
            <a:ext cx="2468880" cy="29260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Control other apps</a:t>
            </a:r>
            <a:endParaRPr lang="en-US" sz="1400" dirty="0"/>
          </a:p>
        </p:txBody>
      </p:sp>
      <p:pic>
        <p:nvPicPr>
          <p:cNvPr id="24" name="Image 5" descr="preencoded.png"/>
          <p:cNvPicPr>
            <a:picLocks noChangeAspect="1"/>
          </p:cNvPicPr>
          <p:nvPr/>
        </p:nvPicPr>
        <p:blipFill>
          <a:blip r:embed="rId5"/>
          <a:stretch>
            <a:fillRect/>
          </a:stretch>
        </p:blipFill>
        <p:spPr>
          <a:xfrm>
            <a:off x="5715000" y="2834640"/>
            <a:ext cx="201168" cy="201168"/>
          </a:xfrm>
          <a:prstGeom prst="rect">
            <a:avLst/>
          </a:prstGeom>
        </p:spPr>
      </p:pic>
      <p:sp>
        <p:nvSpPr>
          <p:cNvPr id="25" name="Text 17"/>
          <p:cNvSpPr txBox="1"/>
          <p:nvPr/>
        </p:nvSpPr>
        <p:spPr>
          <a:xfrm>
            <a:off x="6035040" y="2788920"/>
            <a:ext cx="2468880" cy="29260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Detect volume-button holds</a:t>
            </a:r>
            <a:endParaRPr lang="en-US" sz="1400" dirty="0"/>
          </a:p>
        </p:txBody>
      </p:sp>
      <p:pic>
        <p:nvPicPr>
          <p:cNvPr id="26" name="Image 6" descr="preencoded.png"/>
          <p:cNvPicPr>
            <a:picLocks noChangeAspect="1"/>
          </p:cNvPicPr>
          <p:nvPr/>
        </p:nvPicPr>
        <p:blipFill>
          <a:blip r:embed="rId5"/>
          <a:stretch>
            <a:fillRect/>
          </a:stretch>
        </p:blipFill>
        <p:spPr>
          <a:xfrm>
            <a:off x="5715000" y="3337560"/>
            <a:ext cx="201168" cy="201168"/>
          </a:xfrm>
          <a:prstGeom prst="rect">
            <a:avLst/>
          </a:prstGeom>
        </p:spPr>
      </p:pic>
      <p:sp>
        <p:nvSpPr>
          <p:cNvPr id="27" name="Text 18"/>
          <p:cNvSpPr txBox="1"/>
          <p:nvPr/>
        </p:nvSpPr>
        <p:spPr>
          <a:xfrm>
            <a:off x="6035040" y="3291840"/>
            <a:ext cx="2468880" cy="29260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Draw over other apps</a:t>
            </a:r>
            <a:endParaRPr lang="en-US" sz="1400" dirty="0"/>
          </a:p>
        </p:txBody>
      </p:sp>
      <p:pic>
        <p:nvPicPr>
          <p:cNvPr id="28" name="Image 7" descr="preencoded.png"/>
          <p:cNvPicPr>
            <a:picLocks noChangeAspect="1"/>
          </p:cNvPicPr>
          <p:nvPr/>
        </p:nvPicPr>
        <p:blipFill>
          <a:blip r:embed="rId5"/>
          <a:stretch>
            <a:fillRect/>
          </a:stretch>
        </p:blipFill>
        <p:spPr>
          <a:xfrm>
            <a:off x="5715000" y="3840480"/>
            <a:ext cx="201168" cy="201168"/>
          </a:xfrm>
          <a:prstGeom prst="rect">
            <a:avLst/>
          </a:prstGeom>
        </p:spPr>
      </p:pic>
      <p:sp>
        <p:nvSpPr>
          <p:cNvPr id="29" name="Text 19"/>
          <p:cNvSpPr txBox="1"/>
          <p:nvPr/>
        </p:nvSpPr>
        <p:spPr>
          <a:xfrm>
            <a:off x="6035040" y="3794760"/>
            <a:ext cx="2468880" cy="29260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Listen in the background</a:t>
            </a:r>
            <a:endParaRPr lang="en-US" sz="1400" dirty="0"/>
          </a:p>
        </p:txBody>
      </p:sp>
      <p:sp>
        <p:nvSpPr>
          <p:cNvPr id="30"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How it works under the hood</a:t>
            </a:r>
            <a:endParaRPr lang="en-US" sz="3000" dirty="0"/>
          </a:p>
        </p:txBody>
      </p:sp>
      <p:sp>
        <p:nvSpPr>
          <p:cNvPr id="3" name="Shape 1"/>
          <p:cNvSpPr/>
          <p:nvPr/>
        </p:nvSpPr>
        <p:spPr>
          <a:xfrm>
            <a:off x="457200" y="1280160"/>
            <a:ext cx="2194560" cy="2103120"/>
          </a:xfrm>
          <a:prstGeom prst="roundRect">
            <a:avLst>
              <a:gd name="adj" fmla="val 6087"/>
            </a:avLst>
          </a:prstGeom>
          <a:solidFill>
            <a:srgbClr val="FFF3E8"/>
          </a:solidFill>
          <a:ln w="19050">
            <a:solidFill>
              <a:srgbClr val="C2410C"/>
            </a:solidFill>
            <a:prstDash val="solid"/>
          </a:ln>
        </p:spPr>
      </p:sp>
      <p:sp>
        <p:nvSpPr>
          <p:cNvPr id="4" name="Shape 2"/>
          <p:cNvSpPr/>
          <p:nvPr/>
        </p:nvSpPr>
        <p:spPr>
          <a:xfrm>
            <a:off x="640080" y="1417320"/>
            <a:ext cx="411480" cy="411480"/>
          </a:xfrm>
          <a:prstGeom prst="ellipse">
            <a:avLst/>
          </a:prstGeom>
          <a:solidFill>
            <a:srgbClr val="C2410C"/>
          </a:solidFill>
          <a:ln w="6350">
            <a:solidFill>
              <a:srgbClr val="C2410C"/>
            </a:solidFill>
            <a:prstDash val="solid"/>
          </a:ln>
        </p:spPr>
      </p:sp>
      <p:pic>
        <p:nvPicPr>
          <p:cNvPr id="5" name="Image 0" descr="preencoded.png"/>
          <p:cNvPicPr>
            <a:picLocks noChangeAspect="1"/>
          </p:cNvPicPr>
          <p:nvPr/>
        </p:nvPicPr>
        <p:blipFill>
          <a:blip r:embed="rId1"/>
          <a:stretch>
            <a:fillRect/>
          </a:stretch>
        </p:blipFill>
        <p:spPr>
          <a:xfrm>
            <a:off x="742950" y="1520190"/>
            <a:ext cx="205740" cy="205740"/>
          </a:xfrm>
          <a:prstGeom prst="rect">
            <a:avLst/>
          </a:prstGeom>
        </p:spPr>
      </p:pic>
      <p:sp>
        <p:nvSpPr>
          <p:cNvPr id="6" name="Text 3"/>
          <p:cNvSpPr txBox="1"/>
          <p:nvPr/>
        </p:nvSpPr>
        <p:spPr>
          <a:xfrm>
            <a:off x="1143000" y="1444752"/>
            <a:ext cx="1463040" cy="365760"/>
          </a:xfrm>
          <a:prstGeom prst="rect">
            <a:avLst/>
          </a:prstGeom>
          <a:noFill/>
        </p:spPr>
        <p:txBody>
          <a:bodyPr wrap="square" lIns="0" tIns="0" rIns="0" bIns="0" rtlCol="0" anchor="ctr"/>
          <a:lstStyle/>
          <a:p>
            <a:pPr marL="0" indent="0">
              <a:buNone/>
            </a:pPr>
            <a:r>
              <a:rPr lang="en-US" sz="1500" b="1" dirty="0">
                <a:solidFill>
                  <a:srgbClr val="1F1612"/>
                </a:solidFill>
                <a:latin typeface="Cambria" panose="02040503050406030204" pitchFamily="34" charset="0"/>
                <a:ea typeface="Cambria" panose="02040503050406030204" pitchFamily="34" charset="-122"/>
                <a:cs typeface="Cambria" panose="02040503050406030204" pitchFamily="34" charset="-120"/>
              </a:rPr>
              <a:t>Phone browser</a:t>
            </a:r>
            <a:endParaRPr lang="en-US" sz="1500" dirty="0"/>
          </a:p>
        </p:txBody>
      </p:sp>
      <p:sp>
        <p:nvSpPr>
          <p:cNvPr id="7" name="Text 4"/>
          <p:cNvSpPr txBox="1"/>
          <p:nvPr/>
        </p:nvSpPr>
        <p:spPr>
          <a:xfrm>
            <a:off x="640080" y="2011680"/>
            <a:ext cx="1920240" cy="1280160"/>
          </a:xfrm>
          <a:prstGeom prst="rect">
            <a:avLst/>
          </a:prstGeom>
          <a:noFill/>
        </p:spPr>
        <p:txBody>
          <a:bodyPr wrap="square" lIns="0" tIns="0" rIns="0" bIns="0" rtlCol="0" anchor="t"/>
          <a:lstStyle/>
          <a:p>
            <a:pPr marL="0" indent="0">
              <a:spcAft>
                <a:spcPts val="400"/>
              </a:spcAft>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UI, camera, mic, GPS</a:t>
            </a:r>
            <a:endParaRPr lang="en-US" sz="1300" dirty="0"/>
          </a:p>
          <a:p>
            <a:pPr marL="0" indent="0">
              <a:spcAft>
                <a:spcPts val="400"/>
              </a:spcAft>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Speech in and out</a:t>
            </a:r>
            <a:endParaRPr lang="en-US" sz="1300" dirty="0"/>
          </a:p>
          <a:p>
            <a:pPr marL="0" indent="0">
              <a:spcAft>
                <a:spcPts val="400"/>
              </a:spcAft>
              <a:buNone/>
            </a:pPr>
            <a:r>
              <a:rPr lang="en-US" sz="1300" dirty="0">
                <a:solidFill>
                  <a:srgbClr val="6E6057"/>
                </a:solidFill>
                <a:latin typeface="Calibri" panose="020F0502020204030204" pitchFamily="34" charset="0"/>
                <a:ea typeface="Calibri" panose="020F0502020204030204" pitchFamily="34" charset="-122"/>
                <a:cs typeface="Calibri" panose="020F0502020204030204" pitchFamily="34" charset="-120"/>
              </a:rPr>
              <a:t>Offline app shell</a:t>
            </a:r>
            <a:endParaRPr lang="en-US" sz="1300" dirty="0"/>
          </a:p>
        </p:txBody>
      </p:sp>
      <p:sp>
        <p:nvSpPr>
          <p:cNvPr id="8" name="Shape 5"/>
          <p:cNvSpPr/>
          <p:nvPr/>
        </p:nvSpPr>
        <p:spPr>
          <a:xfrm>
            <a:off x="3566160" y="1280160"/>
            <a:ext cx="2194560" cy="2103120"/>
          </a:xfrm>
          <a:prstGeom prst="roundRect">
            <a:avLst>
              <a:gd name="adj" fmla="val 6087"/>
            </a:avLst>
          </a:prstGeom>
          <a:solidFill>
            <a:srgbClr val="C2410C"/>
          </a:solidFill>
          <a:ln w="6350">
            <a:solidFill>
              <a:srgbClr val="C2410C"/>
            </a:solidFill>
            <a:prstDash val="solid"/>
          </a:ln>
        </p:spPr>
      </p:sp>
      <p:sp>
        <p:nvSpPr>
          <p:cNvPr id="9" name="Shape 6"/>
          <p:cNvSpPr/>
          <p:nvPr/>
        </p:nvSpPr>
        <p:spPr>
          <a:xfrm>
            <a:off x="3749040" y="1417320"/>
            <a:ext cx="411480" cy="411480"/>
          </a:xfrm>
          <a:prstGeom prst="ellipse">
            <a:avLst/>
          </a:prstGeom>
          <a:solidFill>
            <a:srgbClr val="FFFFFF"/>
          </a:solidFill>
          <a:ln w="6350">
            <a:solidFill>
              <a:srgbClr val="FFFFFF"/>
            </a:solidFill>
            <a:prstDash val="solid"/>
          </a:ln>
        </p:spPr>
      </p:sp>
      <p:pic>
        <p:nvPicPr>
          <p:cNvPr id="10" name="Image 1" descr="preencoded.png"/>
          <p:cNvPicPr>
            <a:picLocks noChangeAspect="1"/>
          </p:cNvPicPr>
          <p:nvPr/>
        </p:nvPicPr>
        <p:blipFill>
          <a:blip r:embed="rId2"/>
          <a:stretch>
            <a:fillRect/>
          </a:stretch>
        </p:blipFill>
        <p:spPr>
          <a:xfrm>
            <a:off x="3851910" y="1520190"/>
            <a:ext cx="205740" cy="205740"/>
          </a:xfrm>
          <a:prstGeom prst="rect">
            <a:avLst/>
          </a:prstGeom>
        </p:spPr>
      </p:pic>
      <p:sp>
        <p:nvSpPr>
          <p:cNvPr id="11" name="Text 7"/>
          <p:cNvSpPr txBox="1"/>
          <p:nvPr/>
        </p:nvSpPr>
        <p:spPr>
          <a:xfrm>
            <a:off x="4251960" y="1444752"/>
            <a:ext cx="1463040" cy="365760"/>
          </a:xfrm>
          <a:prstGeom prst="rect">
            <a:avLst/>
          </a:prstGeom>
          <a:noFill/>
        </p:spPr>
        <p:txBody>
          <a:bodyPr wrap="square" lIns="0" tIns="0" rIns="0" bIns="0"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Edge Functions</a:t>
            </a:r>
            <a:endParaRPr lang="en-US" sz="1500" dirty="0"/>
          </a:p>
        </p:txBody>
      </p:sp>
      <p:sp>
        <p:nvSpPr>
          <p:cNvPr id="12" name="Text 8"/>
          <p:cNvSpPr txBox="1"/>
          <p:nvPr/>
        </p:nvSpPr>
        <p:spPr>
          <a:xfrm>
            <a:off x="3749040" y="2011680"/>
            <a:ext cx="1920240" cy="1280160"/>
          </a:xfrm>
          <a:prstGeom prst="rect">
            <a:avLst/>
          </a:prstGeom>
          <a:noFill/>
        </p:spPr>
        <p:txBody>
          <a:bodyPr wrap="square" lIns="0" tIns="0" rIns="0" bIns="0" rtlCol="0" anchor="t"/>
          <a:lstStyle/>
          <a:p>
            <a:pPr marL="0" indent="0">
              <a:spcAft>
                <a:spcPts val="4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Supabase proxy</a:t>
            </a:r>
            <a:endParaRPr lang="en-US" sz="1300" dirty="0"/>
          </a:p>
          <a:p>
            <a:pPr marL="0" indent="0">
              <a:spcAft>
                <a:spcPts val="4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API keys stay on the server</a:t>
            </a:r>
            <a:endParaRPr lang="en-US" sz="1300" dirty="0"/>
          </a:p>
          <a:p>
            <a:pPr marL="0" indent="0">
              <a:spcAft>
                <a:spcPts val="4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JWT-protected</a:t>
            </a:r>
            <a:endParaRPr lang="en-US" sz="1300" dirty="0"/>
          </a:p>
        </p:txBody>
      </p:sp>
      <p:sp>
        <p:nvSpPr>
          <p:cNvPr id="13" name="Shape 9"/>
          <p:cNvSpPr/>
          <p:nvPr/>
        </p:nvSpPr>
        <p:spPr>
          <a:xfrm>
            <a:off x="6675120" y="1280160"/>
            <a:ext cx="2011680" cy="594360"/>
          </a:xfrm>
          <a:prstGeom prst="roundRect">
            <a:avLst>
              <a:gd name="adj" fmla="val 1538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14" name="Text 10"/>
          <p:cNvSpPr txBox="1"/>
          <p:nvPr/>
        </p:nvSpPr>
        <p:spPr>
          <a:xfrm>
            <a:off x="6812280" y="1335024"/>
            <a:ext cx="1783080" cy="237744"/>
          </a:xfrm>
          <a:prstGeom prst="rect">
            <a:avLst/>
          </a:prstGeom>
          <a:noFill/>
        </p:spPr>
        <p:txBody>
          <a:bodyPr wrap="square" lIns="0" tIns="0" rIns="0" bIns="0" rtlCol="0" anchor="t"/>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Gemini</a:t>
            </a:r>
            <a:endParaRPr lang="en-US" sz="1400" dirty="0"/>
          </a:p>
        </p:txBody>
      </p:sp>
      <p:sp>
        <p:nvSpPr>
          <p:cNvPr id="15" name="Text 11"/>
          <p:cNvSpPr txBox="1"/>
          <p:nvPr/>
        </p:nvSpPr>
        <p:spPr>
          <a:xfrm>
            <a:off x="6812280" y="1581912"/>
            <a:ext cx="1783080" cy="219456"/>
          </a:xfrm>
          <a:prstGeom prst="rect">
            <a:avLst/>
          </a:prstGeom>
          <a:noFill/>
        </p:spPr>
        <p:txBody>
          <a:bodyPr wrap="square" lIns="0" tIns="0" rIns="0" bIns="0" rtlCol="0" anchor="t"/>
          <a:lstStyle/>
          <a:p>
            <a:pPr marL="0" indent="0">
              <a:buNone/>
            </a:pPr>
            <a:r>
              <a:rPr lang="en-US" sz="1200" dirty="0">
                <a:solidFill>
                  <a:srgbClr val="6E6057"/>
                </a:solidFill>
                <a:latin typeface="Calibri" panose="020F0502020204030204" pitchFamily="34" charset="0"/>
                <a:ea typeface="Calibri" panose="020F0502020204030204" pitchFamily="34" charset="-122"/>
                <a:cs typeface="Calibri" panose="020F0502020204030204" pitchFamily="34" charset="-120"/>
              </a:rPr>
              <a:t>Vision, voice, intent</a:t>
            </a:r>
            <a:endParaRPr lang="en-US" sz="1200" dirty="0"/>
          </a:p>
        </p:txBody>
      </p:sp>
      <p:sp>
        <p:nvSpPr>
          <p:cNvPr id="16" name="Shape 12"/>
          <p:cNvSpPr/>
          <p:nvPr/>
        </p:nvSpPr>
        <p:spPr>
          <a:xfrm>
            <a:off x="5760720" y="1577340"/>
            <a:ext cx="914400" cy="0"/>
          </a:xfrm>
          <a:prstGeom prst="line">
            <a:avLst/>
          </a:prstGeom>
          <a:noFill/>
          <a:ln w="22225">
            <a:solidFill>
              <a:srgbClr val="C2410C"/>
            </a:solidFill>
            <a:prstDash val="solid"/>
            <a:tailEnd type="triangle"/>
          </a:ln>
        </p:spPr>
      </p:sp>
      <p:sp>
        <p:nvSpPr>
          <p:cNvPr id="17" name="Shape 13"/>
          <p:cNvSpPr/>
          <p:nvPr/>
        </p:nvSpPr>
        <p:spPr>
          <a:xfrm>
            <a:off x="6675120" y="2039112"/>
            <a:ext cx="2011680" cy="594360"/>
          </a:xfrm>
          <a:prstGeom prst="roundRect">
            <a:avLst>
              <a:gd name="adj" fmla="val 1538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18" name="Text 14"/>
          <p:cNvSpPr txBox="1"/>
          <p:nvPr/>
        </p:nvSpPr>
        <p:spPr>
          <a:xfrm>
            <a:off x="6812280" y="2093976"/>
            <a:ext cx="1783080" cy="237744"/>
          </a:xfrm>
          <a:prstGeom prst="rect">
            <a:avLst/>
          </a:prstGeom>
          <a:noFill/>
        </p:spPr>
        <p:txBody>
          <a:bodyPr wrap="square" lIns="0" tIns="0" rIns="0" bIns="0" rtlCol="0" anchor="t"/>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Bhashini</a:t>
            </a:r>
            <a:endParaRPr lang="en-US" sz="1400" dirty="0"/>
          </a:p>
        </p:txBody>
      </p:sp>
      <p:sp>
        <p:nvSpPr>
          <p:cNvPr id="19" name="Text 15"/>
          <p:cNvSpPr txBox="1"/>
          <p:nvPr/>
        </p:nvSpPr>
        <p:spPr>
          <a:xfrm>
            <a:off x="6812280" y="2340864"/>
            <a:ext cx="1783080" cy="219456"/>
          </a:xfrm>
          <a:prstGeom prst="rect">
            <a:avLst/>
          </a:prstGeom>
          <a:noFill/>
        </p:spPr>
        <p:txBody>
          <a:bodyPr wrap="square" lIns="0" tIns="0" rIns="0" bIns="0" rtlCol="0" anchor="t"/>
          <a:lstStyle/>
          <a:p>
            <a:pPr marL="0" indent="0">
              <a:buNone/>
            </a:pPr>
            <a:r>
              <a:rPr lang="en-US" sz="1200" dirty="0">
                <a:solidFill>
                  <a:srgbClr val="6E6057"/>
                </a:solidFill>
                <a:latin typeface="Calibri" panose="020F0502020204030204" pitchFamily="34" charset="0"/>
                <a:ea typeface="Calibri" panose="020F0502020204030204" pitchFamily="34" charset="-122"/>
                <a:cs typeface="Calibri" panose="020F0502020204030204" pitchFamily="34" charset="-120"/>
              </a:rPr>
              <a:t>Translation</a:t>
            </a:r>
            <a:endParaRPr lang="en-US" sz="1200" dirty="0"/>
          </a:p>
        </p:txBody>
      </p:sp>
      <p:sp>
        <p:nvSpPr>
          <p:cNvPr id="20" name="Shape 16"/>
          <p:cNvSpPr/>
          <p:nvPr/>
        </p:nvSpPr>
        <p:spPr>
          <a:xfrm>
            <a:off x="5760720" y="2336292"/>
            <a:ext cx="914400" cy="0"/>
          </a:xfrm>
          <a:prstGeom prst="line">
            <a:avLst/>
          </a:prstGeom>
          <a:noFill/>
          <a:ln w="22225">
            <a:solidFill>
              <a:srgbClr val="C2410C"/>
            </a:solidFill>
            <a:prstDash val="solid"/>
            <a:tailEnd type="triangle"/>
          </a:ln>
        </p:spPr>
      </p:sp>
      <p:sp>
        <p:nvSpPr>
          <p:cNvPr id="21" name="Shape 17"/>
          <p:cNvSpPr/>
          <p:nvPr/>
        </p:nvSpPr>
        <p:spPr>
          <a:xfrm>
            <a:off x="6675120" y="2798064"/>
            <a:ext cx="2011680" cy="594360"/>
          </a:xfrm>
          <a:prstGeom prst="roundRect">
            <a:avLst>
              <a:gd name="adj" fmla="val 15385"/>
            </a:avLst>
          </a:prstGeom>
          <a:solidFill>
            <a:srgbClr val="FFFFFF"/>
          </a:solidFill>
          <a:ln w="12700">
            <a:solidFill>
              <a:srgbClr val="F0D6C3"/>
            </a:solidFill>
            <a:prstDash val="solid"/>
          </a:ln>
          <a:effectLst>
            <a:outerShdw blurRad="127000" dist="38100" dir="5400000" algn="bl" rotWithShape="0">
              <a:srgbClr val="000000">
                <a:alpha val="18000"/>
              </a:srgbClr>
            </a:outerShdw>
          </a:effectLst>
        </p:spPr>
      </p:sp>
      <p:sp>
        <p:nvSpPr>
          <p:cNvPr id="22" name="Text 18"/>
          <p:cNvSpPr txBox="1"/>
          <p:nvPr/>
        </p:nvSpPr>
        <p:spPr>
          <a:xfrm>
            <a:off x="6812280" y="2852928"/>
            <a:ext cx="1783080" cy="237744"/>
          </a:xfrm>
          <a:prstGeom prst="rect">
            <a:avLst/>
          </a:prstGeom>
          <a:noFill/>
        </p:spPr>
        <p:txBody>
          <a:bodyPr wrap="square" lIns="0" tIns="0" rIns="0" bIns="0" rtlCol="0" anchor="t"/>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Anuvaadhub</a:t>
            </a:r>
            <a:endParaRPr lang="en-US" sz="1400" dirty="0"/>
          </a:p>
        </p:txBody>
      </p:sp>
      <p:sp>
        <p:nvSpPr>
          <p:cNvPr id="23" name="Text 19"/>
          <p:cNvSpPr txBox="1"/>
          <p:nvPr/>
        </p:nvSpPr>
        <p:spPr>
          <a:xfrm>
            <a:off x="6812280" y="3099816"/>
            <a:ext cx="1783080" cy="219456"/>
          </a:xfrm>
          <a:prstGeom prst="rect">
            <a:avLst/>
          </a:prstGeom>
          <a:noFill/>
        </p:spPr>
        <p:txBody>
          <a:bodyPr wrap="square" lIns="0" tIns="0" rIns="0" bIns="0" rtlCol="0" anchor="t"/>
          <a:lstStyle/>
          <a:p>
            <a:pPr marL="0" indent="0">
              <a:buNone/>
            </a:pPr>
            <a:r>
              <a:rPr lang="en-US" sz="1200" dirty="0">
                <a:solidFill>
                  <a:srgbClr val="6E6057"/>
                </a:solidFill>
                <a:latin typeface="Calibri" panose="020F0502020204030204" pitchFamily="34" charset="0"/>
                <a:ea typeface="Calibri" panose="020F0502020204030204" pitchFamily="34" charset="-122"/>
                <a:cs typeface="Calibri" panose="020F0502020204030204" pitchFamily="34" charset="-120"/>
              </a:rPr>
              <a:t>MT, ASR, TTS, OCR</a:t>
            </a:r>
            <a:endParaRPr lang="en-US" sz="1200" dirty="0"/>
          </a:p>
        </p:txBody>
      </p:sp>
      <p:sp>
        <p:nvSpPr>
          <p:cNvPr id="24" name="Shape 20"/>
          <p:cNvSpPr/>
          <p:nvPr/>
        </p:nvSpPr>
        <p:spPr>
          <a:xfrm>
            <a:off x="5760720" y="3095244"/>
            <a:ext cx="914400" cy="0"/>
          </a:xfrm>
          <a:prstGeom prst="line">
            <a:avLst/>
          </a:prstGeom>
          <a:noFill/>
          <a:ln w="22225">
            <a:solidFill>
              <a:srgbClr val="C2410C"/>
            </a:solidFill>
            <a:prstDash val="solid"/>
            <a:tailEnd type="triangle"/>
          </a:ln>
        </p:spPr>
      </p:sp>
      <p:sp>
        <p:nvSpPr>
          <p:cNvPr id="25" name="Shape 21"/>
          <p:cNvSpPr/>
          <p:nvPr/>
        </p:nvSpPr>
        <p:spPr>
          <a:xfrm>
            <a:off x="2651760" y="2331720"/>
            <a:ext cx="914400" cy="0"/>
          </a:xfrm>
          <a:prstGeom prst="line">
            <a:avLst/>
          </a:prstGeom>
          <a:noFill/>
          <a:ln w="28575">
            <a:solidFill>
              <a:srgbClr val="C2410C"/>
            </a:solidFill>
            <a:prstDash val="solid"/>
            <a:tailEnd type="triangle"/>
          </a:ln>
        </p:spPr>
      </p:sp>
      <p:sp>
        <p:nvSpPr>
          <p:cNvPr id="26" name="Shape 22"/>
          <p:cNvSpPr/>
          <p:nvPr/>
        </p:nvSpPr>
        <p:spPr>
          <a:xfrm>
            <a:off x="457200" y="3657600"/>
            <a:ext cx="2651760" cy="960120"/>
          </a:xfrm>
          <a:prstGeom prst="roundRect">
            <a:avLst>
              <a:gd name="adj" fmla="val 11429"/>
            </a:avLst>
          </a:prstGeom>
          <a:solidFill>
            <a:srgbClr val="FFFFFF"/>
          </a:solidFill>
          <a:ln w="12700">
            <a:solidFill>
              <a:srgbClr val="F0D6C3"/>
            </a:solidFill>
            <a:prstDash val="solid"/>
          </a:ln>
        </p:spPr>
      </p:sp>
      <p:sp>
        <p:nvSpPr>
          <p:cNvPr id="27" name="Shape 23"/>
          <p:cNvSpPr/>
          <p:nvPr/>
        </p:nvSpPr>
        <p:spPr>
          <a:xfrm>
            <a:off x="594360" y="3794760"/>
            <a:ext cx="365760" cy="365760"/>
          </a:xfrm>
          <a:prstGeom prst="ellipse">
            <a:avLst/>
          </a:prstGeom>
          <a:solidFill>
            <a:srgbClr val="9A3412"/>
          </a:solidFill>
          <a:ln w="6350">
            <a:solidFill>
              <a:srgbClr val="9A3412"/>
            </a:solidFill>
            <a:prstDash val="solid"/>
          </a:ln>
        </p:spPr>
      </p:sp>
      <p:pic>
        <p:nvPicPr>
          <p:cNvPr id="28" name="Image 2" descr="preencoded.png"/>
          <p:cNvPicPr>
            <a:picLocks noChangeAspect="1"/>
          </p:cNvPicPr>
          <p:nvPr/>
        </p:nvPicPr>
        <p:blipFill>
          <a:blip r:embed="rId3"/>
          <a:stretch>
            <a:fillRect/>
          </a:stretch>
        </p:blipFill>
        <p:spPr>
          <a:xfrm>
            <a:off x="685800" y="3886200"/>
            <a:ext cx="182880" cy="182880"/>
          </a:xfrm>
          <a:prstGeom prst="rect">
            <a:avLst/>
          </a:prstGeom>
        </p:spPr>
      </p:pic>
      <p:sp>
        <p:nvSpPr>
          <p:cNvPr id="29" name="Text 24"/>
          <p:cNvSpPr txBox="1"/>
          <p:nvPr/>
        </p:nvSpPr>
        <p:spPr>
          <a:xfrm>
            <a:off x="1051560" y="3767328"/>
            <a:ext cx="2011680" cy="274320"/>
          </a:xfrm>
          <a:prstGeom prst="rect">
            <a:avLst/>
          </a:prstGeom>
          <a:noFill/>
        </p:spPr>
        <p:txBody>
          <a:bodyPr wrap="square" lIns="0" tIns="0" rIns="0" bIns="0" rtlCol="0" anchor="ctr"/>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Storage</a:t>
            </a:r>
            <a:endParaRPr lang="en-US" sz="1400" dirty="0"/>
          </a:p>
        </p:txBody>
      </p:sp>
      <p:sp>
        <p:nvSpPr>
          <p:cNvPr id="30" name="Text 25"/>
          <p:cNvSpPr txBox="1"/>
          <p:nvPr/>
        </p:nvSpPr>
        <p:spPr>
          <a:xfrm>
            <a:off x="594360" y="4178808"/>
            <a:ext cx="2423160" cy="411480"/>
          </a:xfrm>
          <a:prstGeom prst="rect">
            <a:avLst/>
          </a:prstGeom>
          <a:noFill/>
        </p:spPr>
        <p:txBody>
          <a:bodyPr wrap="square" lIns="0" tIns="0" rIns="0" bIns="0" rtlCol="0" anchor="t"/>
          <a:lstStyle/>
          <a:p>
            <a:pPr marL="0" indent="0">
              <a:buNone/>
            </a:pPr>
            <a:r>
              <a:rPr lang="en-US" sz="1100" dirty="0">
                <a:solidFill>
                  <a:srgbClr val="6E6057"/>
                </a:solidFill>
                <a:latin typeface="Calibri" panose="020F0502020204030204" pitchFamily="34" charset="0"/>
                <a:ea typeface="Calibri" panose="020F0502020204030204" pitchFamily="34" charset="-122"/>
                <a:cs typeface="Calibri" panose="020F0502020204030204" pitchFamily="34" charset="-120"/>
              </a:rPr>
              <a:t>localStorage for guests; Postgres with row-level security when signed in.</a:t>
            </a:r>
            <a:endParaRPr lang="en-US" sz="1100" dirty="0"/>
          </a:p>
        </p:txBody>
      </p:sp>
      <p:sp>
        <p:nvSpPr>
          <p:cNvPr id="31" name="Shape 26"/>
          <p:cNvSpPr/>
          <p:nvPr/>
        </p:nvSpPr>
        <p:spPr>
          <a:xfrm>
            <a:off x="3246120" y="3657600"/>
            <a:ext cx="2651760" cy="960120"/>
          </a:xfrm>
          <a:prstGeom prst="roundRect">
            <a:avLst>
              <a:gd name="adj" fmla="val 11429"/>
            </a:avLst>
          </a:prstGeom>
          <a:solidFill>
            <a:srgbClr val="FFFFFF"/>
          </a:solidFill>
          <a:ln w="12700">
            <a:solidFill>
              <a:srgbClr val="F0D6C3"/>
            </a:solidFill>
            <a:prstDash val="solid"/>
          </a:ln>
        </p:spPr>
      </p:sp>
      <p:sp>
        <p:nvSpPr>
          <p:cNvPr id="32" name="Shape 27"/>
          <p:cNvSpPr/>
          <p:nvPr/>
        </p:nvSpPr>
        <p:spPr>
          <a:xfrm>
            <a:off x="3383280" y="3794760"/>
            <a:ext cx="365760" cy="365760"/>
          </a:xfrm>
          <a:prstGeom prst="ellipse">
            <a:avLst/>
          </a:prstGeom>
          <a:solidFill>
            <a:srgbClr val="9A3412"/>
          </a:solidFill>
          <a:ln w="6350">
            <a:solidFill>
              <a:srgbClr val="9A3412"/>
            </a:solidFill>
            <a:prstDash val="solid"/>
          </a:ln>
        </p:spPr>
      </p:sp>
      <p:pic>
        <p:nvPicPr>
          <p:cNvPr id="33" name="Image 3" descr="preencoded.png"/>
          <p:cNvPicPr>
            <a:picLocks noChangeAspect="1"/>
          </p:cNvPicPr>
          <p:nvPr/>
        </p:nvPicPr>
        <p:blipFill>
          <a:blip r:embed="rId4"/>
          <a:stretch>
            <a:fillRect/>
          </a:stretch>
        </p:blipFill>
        <p:spPr>
          <a:xfrm>
            <a:off x="3474720" y="3886200"/>
            <a:ext cx="182880" cy="182880"/>
          </a:xfrm>
          <a:prstGeom prst="rect">
            <a:avLst/>
          </a:prstGeom>
        </p:spPr>
      </p:pic>
      <p:sp>
        <p:nvSpPr>
          <p:cNvPr id="34" name="Text 28"/>
          <p:cNvSpPr txBox="1"/>
          <p:nvPr/>
        </p:nvSpPr>
        <p:spPr>
          <a:xfrm>
            <a:off x="3840480" y="3767328"/>
            <a:ext cx="2011680" cy="274320"/>
          </a:xfrm>
          <a:prstGeom prst="rect">
            <a:avLst/>
          </a:prstGeom>
          <a:noFill/>
        </p:spPr>
        <p:txBody>
          <a:bodyPr wrap="square" lIns="0" tIns="0" rIns="0" bIns="0" rtlCol="0" anchor="ctr"/>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Login (optional)</a:t>
            </a:r>
            <a:endParaRPr lang="en-US" sz="1400" dirty="0"/>
          </a:p>
        </p:txBody>
      </p:sp>
      <p:sp>
        <p:nvSpPr>
          <p:cNvPr id="35" name="Text 29"/>
          <p:cNvSpPr txBox="1"/>
          <p:nvPr/>
        </p:nvSpPr>
        <p:spPr>
          <a:xfrm>
            <a:off x="3383280" y="4178808"/>
            <a:ext cx="2423160" cy="411480"/>
          </a:xfrm>
          <a:prstGeom prst="rect">
            <a:avLst/>
          </a:prstGeom>
          <a:noFill/>
        </p:spPr>
        <p:txBody>
          <a:bodyPr wrap="square" lIns="0" tIns="0" rIns="0" bIns="0" rtlCol="0" anchor="t"/>
          <a:lstStyle/>
          <a:p>
            <a:pPr marL="0" indent="0">
              <a:buNone/>
            </a:pPr>
            <a:r>
              <a:rPr lang="en-US" sz="1100" dirty="0">
                <a:solidFill>
                  <a:srgbClr val="6E6057"/>
                </a:solidFill>
                <a:latin typeface="Calibri" panose="020F0502020204030204" pitchFamily="34" charset="0"/>
                <a:ea typeface="Calibri" panose="020F0502020204030204" pitchFamily="34" charset="-122"/>
                <a:cs typeface="Calibri" panose="020F0502020204030204" pitchFamily="34" charset="-120"/>
              </a:rPr>
              <a:t>Firebase Google or email sign-in.</a:t>
            </a:r>
            <a:endParaRPr lang="en-US" sz="1100" dirty="0"/>
          </a:p>
        </p:txBody>
      </p:sp>
      <p:sp>
        <p:nvSpPr>
          <p:cNvPr id="36" name="Shape 30"/>
          <p:cNvSpPr/>
          <p:nvPr/>
        </p:nvSpPr>
        <p:spPr>
          <a:xfrm>
            <a:off x="6035040" y="3657600"/>
            <a:ext cx="2651760" cy="960120"/>
          </a:xfrm>
          <a:prstGeom prst="roundRect">
            <a:avLst>
              <a:gd name="adj" fmla="val 11429"/>
            </a:avLst>
          </a:prstGeom>
          <a:solidFill>
            <a:srgbClr val="FFFFFF"/>
          </a:solidFill>
          <a:ln w="12700">
            <a:solidFill>
              <a:srgbClr val="F0D6C3"/>
            </a:solidFill>
            <a:prstDash val="solid"/>
          </a:ln>
        </p:spPr>
      </p:sp>
      <p:sp>
        <p:nvSpPr>
          <p:cNvPr id="37" name="Shape 31"/>
          <p:cNvSpPr/>
          <p:nvPr/>
        </p:nvSpPr>
        <p:spPr>
          <a:xfrm>
            <a:off x="6172200" y="3794760"/>
            <a:ext cx="365760" cy="365760"/>
          </a:xfrm>
          <a:prstGeom prst="ellipse">
            <a:avLst/>
          </a:prstGeom>
          <a:solidFill>
            <a:srgbClr val="9A3412"/>
          </a:solidFill>
          <a:ln w="6350">
            <a:solidFill>
              <a:srgbClr val="9A3412"/>
            </a:solidFill>
            <a:prstDash val="solid"/>
          </a:ln>
        </p:spPr>
      </p:sp>
      <p:pic>
        <p:nvPicPr>
          <p:cNvPr id="38" name="Image 4" descr="preencoded.png"/>
          <p:cNvPicPr>
            <a:picLocks noChangeAspect="1"/>
          </p:cNvPicPr>
          <p:nvPr/>
        </p:nvPicPr>
        <p:blipFill>
          <a:blip r:embed="rId5"/>
          <a:stretch>
            <a:fillRect/>
          </a:stretch>
        </p:blipFill>
        <p:spPr>
          <a:xfrm>
            <a:off x="6263640" y="3886200"/>
            <a:ext cx="182880" cy="182880"/>
          </a:xfrm>
          <a:prstGeom prst="rect">
            <a:avLst/>
          </a:prstGeom>
        </p:spPr>
      </p:pic>
      <p:sp>
        <p:nvSpPr>
          <p:cNvPr id="39" name="Text 32"/>
          <p:cNvSpPr txBox="1"/>
          <p:nvPr/>
        </p:nvSpPr>
        <p:spPr>
          <a:xfrm>
            <a:off x="6629400" y="3767328"/>
            <a:ext cx="2011680" cy="274320"/>
          </a:xfrm>
          <a:prstGeom prst="rect">
            <a:avLst/>
          </a:prstGeom>
          <a:noFill/>
        </p:spPr>
        <p:txBody>
          <a:bodyPr wrap="square" lIns="0" tIns="0" rIns="0" bIns="0" rtlCol="0" anchor="ctr"/>
          <a:lstStyle/>
          <a:p>
            <a:pPr marL="0" indent="0">
              <a:buNone/>
            </a:pPr>
            <a:r>
              <a:rPr lang="en-US" sz="1400" b="1" dirty="0">
                <a:solidFill>
                  <a:srgbClr val="1F1612"/>
                </a:solidFill>
                <a:latin typeface="Calibri" panose="020F0502020204030204" pitchFamily="34" charset="0"/>
                <a:ea typeface="Calibri" panose="020F0502020204030204" pitchFamily="34" charset="-122"/>
                <a:cs typeface="Calibri" panose="020F0502020204030204" pitchFamily="34" charset="-120"/>
              </a:rPr>
              <a:t>Routes</a:t>
            </a:r>
            <a:endParaRPr lang="en-US" sz="1400" dirty="0"/>
          </a:p>
        </p:txBody>
      </p:sp>
      <p:sp>
        <p:nvSpPr>
          <p:cNvPr id="40" name="Text 33"/>
          <p:cNvSpPr txBox="1"/>
          <p:nvPr/>
        </p:nvSpPr>
        <p:spPr>
          <a:xfrm>
            <a:off x="6172200" y="4178808"/>
            <a:ext cx="2423160" cy="411480"/>
          </a:xfrm>
          <a:prstGeom prst="rect">
            <a:avLst/>
          </a:prstGeom>
          <a:noFill/>
        </p:spPr>
        <p:txBody>
          <a:bodyPr wrap="square" lIns="0" tIns="0" rIns="0" bIns="0" rtlCol="0" anchor="t"/>
          <a:lstStyle/>
          <a:p>
            <a:pPr marL="0" indent="0">
              <a:buNone/>
            </a:pPr>
            <a:r>
              <a:rPr lang="en-US" sz="1100" dirty="0">
                <a:solidFill>
                  <a:srgbClr val="6E6057"/>
                </a:solidFill>
                <a:latin typeface="Calibri" panose="020F0502020204030204" pitchFamily="34" charset="0"/>
                <a:ea typeface="Calibri" panose="020F0502020204030204" pitchFamily="34" charset="-122"/>
                <a:cs typeface="Calibri" panose="020F0502020204030204" pitchFamily="34" charset="-120"/>
              </a:rPr>
              <a:t>Photon + Valhalla + OpenStreetMap, only after consent.</a:t>
            </a:r>
            <a:endParaRPr lang="en-US" sz="1100" dirty="0"/>
          </a:p>
        </p:txBody>
      </p:sp>
      <p:sp>
        <p:nvSpPr>
          <p:cNvPr id="41"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What changes for a blind user</a:t>
            </a:r>
            <a:endParaRPr lang="en-US" sz="3000" dirty="0"/>
          </a:p>
        </p:txBody>
      </p:sp>
      <p:sp>
        <p:nvSpPr>
          <p:cNvPr id="3" name="Shape 1"/>
          <p:cNvSpPr/>
          <p:nvPr/>
        </p:nvSpPr>
        <p:spPr>
          <a:xfrm>
            <a:off x="457200" y="1280160"/>
            <a:ext cx="3977640" cy="3337560"/>
          </a:xfrm>
          <a:prstGeom prst="roundRect">
            <a:avLst>
              <a:gd name="adj" fmla="val 4384"/>
            </a:avLst>
          </a:prstGeom>
          <a:solidFill>
            <a:srgbClr val="F4EFEA"/>
          </a:solidFill>
          <a:ln w="6350">
            <a:solidFill>
              <a:srgbClr val="F4EFEA"/>
            </a:solidFill>
            <a:prstDash val="solid"/>
          </a:ln>
        </p:spPr>
      </p:sp>
      <p:sp>
        <p:nvSpPr>
          <p:cNvPr id="4" name="Text 2"/>
          <p:cNvSpPr txBox="1"/>
          <p:nvPr/>
        </p:nvSpPr>
        <p:spPr>
          <a:xfrm>
            <a:off x="731520" y="1481328"/>
            <a:ext cx="3383280" cy="228600"/>
          </a:xfrm>
          <a:prstGeom prst="rect">
            <a:avLst/>
          </a:prstGeom>
          <a:noFill/>
        </p:spPr>
        <p:txBody>
          <a:bodyPr wrap="square" lIns="0" tIns="0" rIns="0" bIns="0" rtlCol="0" anchor="t"/>
          <a:lstStyle/>
          <a:p>
            <a:pPr marL="0" indent="0">
              <a:buNone/>
            </a:pPr>
            <a:r>
              <a:rPr lang="en-US" sz="1200" b="1" kern="0" spc="200" dirty="0">
                <a:solidFill>
                  <a:srgbClr val="6E6057"/>
                </a:solidFill>
                <a:latin typeface="Calibri" panose="020F0502020204030204" pitchFamily="34" charset="0"/>
                <a:ea typeface="Calibri" panose="020F0502020204030204" pitchFamily="34" charset="-122"/>
                <a:cs typeface="Calibri" panose="020F0502020204030204" pitchFamily="34" charset="-120"/>
              </a:rPr>
              <a:t>WITHOUT HELP</a:t>
            </a:r>
            <a:endParaRPr lang="en-US" sz="1200" dirty="0"/>
          </a:p>
        </p:txBody>
      </p:sp>
      <p:sp>
        <p:nvSpPr>
          <p:cNvPr id="5" name="Shape 3"/>
          <p:cNvSpPr/>
          <p:nvPr/>
        </p:nvSpPr>
        <p:spPr>
          <a:xfrm>
            <a:off x="4709160" y="1280160"/>
            <a:ext cx="3977640" cy="3337560"/>
          </a:xfrm>
          <a:prstGeom prst="roundRect">
            <a:avLst>
              <a:gd name="adj" fmla="val 4384"/>
            </a:avLst>
          </a:prstGeom>
          <a:solidFill>
            <a:srgbClr val="C2410C"/>
          </a:solidFill>
          <a:ln w="6350">
            <a:solidFill>
              <a:srgbClr val="C2410C"/>
            </a:solidFill>
            <a:prstDash val="solid"/>
          </a:ln>
        </p:spPr>
      </p:sp>
      <p:sp>
        <p:nvSpPr>
          <p:cNvPr id="6" name="Text 4"/>
          <p:cNvSpPr txBox="1"/>
          <p:nvPr/>
        </p:nvSpPr>
        <p:spPr>
          <a:xfrm>
            <a:off x="4983480" y="1481328"/>
            <a:ext cx="3383280" cy="228600"/>
          </a:xfrm>
          <a:prstGeom prst="rect">
            <a:avLst/>
          </a:prstGeom>
          <a:noFill/>
        </p:spPr>
        <p:txBody>
          <a:bodyPr wrap="square" lIns="0" tIns="0" rIns="0" bIns="0" rtlCol="0" anchor="t"/>
          <a:lstStyle/>
          <a:p>
            <a:pPr marL="0" indent="0">
              <a:buNone/>
            </a:pPr>
            <a:r>
              <a:rPr lang="en-US" sz="1200" b="1" kern="0" spc="200" dirty="0">
                <a:solidFill>
                  <a:srgbClr val="FFE8D6"/>
                </a:solidFill>
                <a:latin typeface="Calibri" panose="020F0502020204030204" pitchFamily="34" charset="0"/>
                <a:ea typeface="Calibri" panose="020F0502020204030204" pitchFamily="34" charset="-122"/>
                <a:cs typeface="Calibri" panose="020F0502020204030204" pitchFamily="34" charset="-120"/>
              </a:rPr>
              <a:t>WITH VISIONMATE</a:t>
            </a:r>
            <a:endParaRPr lang="en-US" sz="1200" dirty="0"/>
          </a:p>
        </p:txBody>
      </p:sp>
      <p:pic>
        <p:nvPicPr>
          <p:cNvPr id="7" name="Image 0" descr="preencoded.png"/>
          <p:cNvPicPr>
            <a:picLocks noChangeAspect="1"/>
          </p:cNvPicPr>
          <p:nvPr/>
        </p:nvPicPr>
        <p:blipFill>
          <a:blip r:embed="rId1"/>
          <a:stretch>
            <a:fillRect/>
          </a:stretch>
        </p:blipFill>
        <p:spPr>
          <a:xfrm>
            <a:off x="731520" y="2020824"/>
            <a:ext cx="237744" cy="237744"/>
          </a:xfrm>
          <a:prstGeom prst="rect">
            <a:avLst/>
          </a:prstGeom>
        </p:spPr>
      </p:pic>
      <p:sp>
        <p:nvSpPr>
          <p:cNvPr id="8" name="Text 5"/>
          <p:cNvSpPr txBox="1"/>
          <p:nvPr/>
        </p:nvSpPr>
        <p:spPr>
          <a:xfrm>
            <a:off x="1097280" y="1856232"/>
            <a:ext cx="3108960" cy="566928"/>
          </a:xfrm>
          <a:prstGeom prst="rect">
            <a:avLst/>
          </a:prstGeom>
          <a:noFill/>
        </p:spPr>
        <p:txBody>
          <a:bodyPr wrap="square" lIns="0" tIns="0" rIns="0" bIns="0" rtlCol="0" anchor="ctr"/>
          <a:lstStyle/>
          <a:p>
            <a:pPr marL="0" indent="0">
              <a:buNone/>
            </a:pPr>
            <a:r>
              <a:rPr lang="en-US" sz="1500" dirty="0">
                <a:solidFill>
                  <a:srgbClr val="1F1612"/>
                </a:solidFill>
                <a:latin typeface="Calibri" panose="020F0502020204030204" pitchFamily="34" charset="0"/>
                <a:ea typeface="Calibri" panose="020F0502020204030204" pitchFamily="34" charset="-122"/>
                <a:cs typeface="Calibri" panose="020F0502020204030204" pitchFamily="34" charset="-120"/>
              </a:rPr>
              <a:t>Ask someone to read the menu</a:t>
            </a:r>
            <a:endParaRPr lang="en-US" sz="1500" dirty="0"/>
          </a:p>
        </p:txBody>
      </p:sp>
      <p:pic>
        <p:nvPicPr>
          <p:cNvPr id="9" name="Image 1" descr="preencoded.png"/>
          <p:cNvPicPr>
            <a:picLocks noChangeAspect="1"/>
          </p:cNvPicPr>
          <p:nvPr/>
        </p:nvPicPr>
        <p:blipFill>
          <a:blip r:embed="rId2"/>
          <a:stretch>
            <a:fillRect/>
          </a:stretch>
        </p:blipFill>
        <p:spPr>
          <a:xfrm>
            <a:off x="4983480" y="2020824"/>
            <a:ext cx="237744" cy="237744"/>
          </a:xfrm>
          <a:prstGeom prst="rect">
            <a:avLst/>
          </a:prstGeom>
        </p:spPr>
      </p:pic>
      <p:sp>
        <p:nvSpPr>
          <p:cNvPr id="10" name="Text 6"/>
          <p:cNvSpPr txBox="1"/>
          <p:nvPr/>
        </p:nvSpPr>
        <p:spPr>
          <a:xfrm>
            <a:off x="5349240" y="1856232"/>
            <a:ext cx="3200400" cy="566928"/>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Hear the menu read in seconds</a:t>
            </a:r>
            <a:endParaRPr lang="en-US" sz="1500" dirty="0"/>
          </a:p>
        </p:txBody>
      </p:sp>
      <p:pic>
        <p:nvPicPr>
          <p:cNvPr id="11" name="Image 2" descr="preencoded.png"/>
          <p:cNvPicPr>
            <a:picLocks noChangeAspect="1"/>
          </p:cNvPicPr>
          <p:nvPr/>
        </p:nvPicPr>
        <p:blipFill>
          <a:blip r:embed="rId1"/>
          <a:stretch>
            <a:fillRect/>
          </a:stretch>
        </p:blipFill>
        <p:spPr>
          <a:xfrm>
            <a:off x="731520" y="2679192"/>
            <a:ext cx="237744" cy="237744"/>
          </a:xfrm>
          <a:prstGeom prst="rect">
            <a:avLst/>
          </a:prstGeom>
        </p:spPr>
      </p:pic>
      <p:sp>
        <p:nvSpPr>
          <p:cNvPr id="12" name="Text 7"/>
          <p:cNvSpPr txBox="1"/>
          <p:nvPr/>
        </p:nvSpPr>
        <p:spPr>
          <a:xfrm>
            <a:off x="1097280" y="2514600"/>
            <a:ext cx="3108960" cy="566928"/>
          </a:xfrm>
          <a:prstGeom prst="rect">
            <a:avLst/>
          </a:prstGeom>
          <a:noFill/>
        </p:spPr>
        <p:txBody>
          <a:bodyPr wrap="square" lIns="0" tIns="0" rIns="0" bIns="0" rtlCol="0" anchor="ctr"/>
          <a:lstStyle/>
          <a:p>
            <a:pPr marL="0" indent="0">
              <a:buNone/>
            </a:pPr>
            <a:r>
              <a:rPr lang="en-US" sz="1500" dirty="0">
                <a:solidFill>
                  <a:srgbClr val="1F1612"/>
                </a:solidFill>
                <a:latin typeface="Calibri" panose="020F0502020204030204" pitchFamily="34" charset="0"/>
                <a:ea typeface="Calibri" panose="020F0502020204030204" pitchFamily="34" charset="-122"/>
                <a:cs typeface="Calibri" panose="020F0502020204030204" pitchFamily="34" charset="-120"/>
              </a:rPr>
              <a:t>Screens that need sight</a:t>
            </a:r>
            <a:endParaRPr lang="en-US" sz="1500" dirty="0"/>
          </a:p>
        </p:txBody>
      </p:sp>
      <p:pic>
        <p:nvPicPr>
          <p:cNvPr id="13" name="Image 3" descr="preencoded.png"/>
          <p:cNvPicPr>
            <a:picLocks noChangeAspect="1"/>
          </p:cNvPicPr>
          <p:nvPr/>
        </p:nvPicPr>
        <p:blipFill>
          <a:blip r:embed="rId2"/>
          <a:stretch>
            <a:fillRect/>
          </a:stretch>
        </p:blipFill>
        <p:spPr>
          <a:xfrm>
            <a:off x="4983480" y="2679192"/>
            <a:ext cx="237744" cy="237744"/>
          </a:xfrm>
          <a:prstGeom prst="rect">
            <a:avLst/>
          </a:prstGeom>
        </p:spPr>
      </p:pic>
      <p:sp>
        <p:nvSpPr>
          <p:cNvPr id="14" name="Text 8"/>
          <p:cNvSpPr txBox="1"/>
          <p:nvPr/>
        </p:nvSpPr>
        <p:spPr>
          <a:xfrm>
            <a:off x="5349240" y="2514600"/>
            <a:ext cx="3200400" cy="566928"/>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Every page speaks; huge buttons</a:t>
            </a:r>
            <a:endParaRPr lang="en-US" sz="1500" dirty="0"/>
          </a:p>
        </p:txBody>
      </p:sp>
      <p:pic>
        <p:nvPicPr>
          <p:cNvPr id="15" name="Image 4" descr="preencoded.png"/>
          <p:cNvPicPr>
            <a:picLocks noChangeAspect="1"/>
          </p:cNvPicPr>
          <p:nvPr/>
        </p:nvPicPr>
        <p:blipFill>
          <a:blip r:embed="rId1"/>
          <a:stretch>
            <a:fillRect/>
          </a:stretch>
        </p:blipFill>
        <p:spPr>
          <a:xfrm>
            <a:off x="731520" y="3337560"/>
            <a:ext cx="237744" cy="237744"/>
          </a:xfrm>
          <a:prstGeom prst="rect">
            <a:avLst/>
          </a:prstGeom>
        </p:spPr>
      </p:pic>
      <p:sp>
        <p:nvSpPr>
          <p:cNvPr id="16" name="Text 9"/>
          <p:cNvSpPr txBox="1"/>
          <p:nvPr/>
        </p:nvSpPr>
        <p:spPr>
          <a:xfrm>
            <a:off x="1097280" y="3172968"/>
            <a:ext cx="3108960" cy="566928"/>
          </a:xfrm>
          <a:prstGeom prst="rect">
            <a:avLst/>
          </a:prstGeom>
          <a:noFill/>
        </p:spPr>
        <p:txBody>
          <a:bodyPr wrap="square" lIns="0" tIns="0" rIns="0" bIns="0" rtlCol="0" anchor="ctr"/>
          <a:lstStyle/>
          <a:p>
            <a:pPr marL="0" indent="0">
              <a:buNone/>
            </a:pPr>
            <a:r>
              <a:rPr lang="en-US" sz="1500" dirty="0">
                <a:solidFill>
                  <a:srgbClr val="1F1612"/>
                </a:solidFill>
                <a:latin typeface="Calibri" panose="020F0502020204030204" pitchFamily="34" charset="0"/>
                <a:ea typeface="Calibri" panose="020F0502020204030204" pitchFamily="34" charset="-122"/>
                <a:cs typeface="Calibri" panose="020F0502020204030204" pitchFamily="34" charset="-120"/>
              </a:rPr>
              <a:t>Tools that speak only English</a:t>
            </a:r>
            <a:endParaRPr lang="en-US" sz="1500" dirty="0"/>
          </a:p>
        </p:txBody>
      </p:sp>
      <p:pic>
        <p:nvPicPr>
          <p:cNvPr id="17" name="Image 5" descr="preencoded.png"/>
          <p:cNvPicPr>
            <a:picLocks noChangeAspect="1"/>
          </p:cNvPicPr>
          <p:nvPr/>
        </p:nvPicPr>
        <p:blipFill>
          <a:blip r:embed="rId2"/>
          <a:stretch>
            <a:fillRect/>
          </a:stretch>
        </p:blipFill>
        <p:spPr>
          <a:xfrm>
            <a:off x="4983480" y="3337560"/>
            <a:ext cx="237744" cy="237744"/>
          </a:xfrm>
          <a:prstGeom prst="rect">
            <a:avLst/>
          </a:prstGeom>
        </p:spPr>
      </p:pic>
      <p:sp>
        <p:nvSpPr>
          <p:cNvPr id="18" name="Text 10"/>
          <p:cNvSpPr txBox="1"/>
          <p:nvPr/>
        </p:nvSpPr>
        <p:spPr>
          <a:xfrm>
            <a:off x="5349240" y="3172968"/>
            <a:ext cx="3200400" cy="566928"/>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Seven Indian languages</a:t>
            </a:r>
            <a:endParaRPr lang="en-US" sz="1500" dirty="0"/>
          </a:p>
        </p:txBody>
      </p:sp>
      <p:pic>
        <p:nvPicPr>
          <p:cNvPr id="19" name="Image 6" descr="preencoded.png"/>
          <p:cNvPicPr>
            <a:picLocks noChangeAspect="1"/>
          </p:cNvPicPr>
          <p:nvPr/>
        </p:nvPicPr>
        <p:blipFill>
          <a:blip r:embed="rId1"/>
          <a:stretch>
            <a:fillRect/>
          </a:stretch>
        </p:blipFill>
        <p:spPr>
          <a:xfrm>
            <a:off x="731520" y="3995928"/>
            <a:ext cx="237744" cy="237744"/>
          </a:xfrm>
          <a:prstGeom prst="rect">
            <a:avLst/>
          </a:prstGeom>
        </p:spPr>
      </p:pic>
      <p:sp>
        <p:nvSpPr>
          <p:cNvPr id="20" name="Text 11"/>
          <p:cNvSpPr txBox="1"/>
          <p:nvPr/>
        </p:nvSpPr>
        <p:spPr>
          <a:xfrm>
            <a:off x="1097280" y="3831336"/>
            <a:ext cx="3108960" cy="566928"/>
          </a:xfrm>
          <a:prstGeom prst="rect">
            <a:avLst/>
          </a:prstGeom>
          <a:noFill/>
        </p:spPr>
        <p:txBody>
          <a:bodyPr wrap="square" lIns="0" tIns="0" rIns="0" bIns="0" rtlCol="0" anchor="ctr"/>
          <a:lstStyle/>
          <a:p>
            <a:pPr marL="0" indent="0">
              <a:buNone/>
            </a:pPr>
            <a:r>
              <a:rPr lang="en-US" sz="1500" dirty="0">
                <a:solidFill>
                  <a:srgbClr val="1F1612"/>
                </a:solidFill>
                <a:latin typeface="Calibri" panose="020F0502020204030204" pitchFamily="34" charset="0"/>
                <a:ea typeface="Calibri" panose="020F0502020204030204" pitchFamily="34" charset="-122"/>
                <a:cs typeface="Calibri" panose="020F0502020204030204" pitchFamily="34" charset="-120"/>
              </a:rPr>
              <a:t>Fumbling for a phone in an emergency</a:t>
            </a:r>
            <a:endParaRPr lang="en-US" sz="1500" dirty="0"/>
          </a:p>
        </p:txBody>
      </p:sp>
      <p:pic>
        <p:nvPicPr>
          <p:cNvPr id="21" name="Image 7" descr="preencoded.png"/>
          <p:cNvPicPr>
            <a:picLocks noChangeAspect="1"/>
          </p:cNvPicPr>
          <p:nvPr/>
        </p:nvPicPr>
        <p:blipFill>
          <a:blip r:embed="rId2"/>
          <a:stretch>
            <a:fillRect/>
          </a:stretch>
        </p:blipFill>
        <p:spPr>
          <a:xfrm>
            <a:off x="4983480" y="3995928"/>
            <a:ext cx="237744" cy="237744"/>
          </a:xfrm>
          <a:prstGeom prst="rect">
            <a:avLst/>
          </a:prstGeom>
        </p:spPr>
      </p:pic>
      <p:sp>
        <p:nvSpPr>
          <p:cNvPr id="22" name="Text 12"/>
          <p:cNvSpPr txBox="1"/>
          <p:nvPr/>
        </p:nvSpPr>
        <p:spPr>
          <a:xfrm>
            <a:off x="5349240" y="3831336"/>
            <a:ext cx="3200400" cy="566928"/>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One-tap SOS: call and location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Honest by design</a:t>
            </a:r>
            <a:endParaRPr lang="en-US" sz="3000" dirty="0"/>
          </a:p>
        </p:txBody>
      </p:sp>
      <p:sp>
        <p:nvSpPr>
          <p:cNvPr id="3" name="Shape 1"/>
          <p:cNvSpPr/>
          <p:nvPr/>
        </p:nvSpPr>
        <p:spPr>
          <a:xfrm>
            <a:off x="457200" y="1280160"/>
            <a:ext cx="2651760" cy="2331720"/>
          </a:xfrm>
          <a:prstGeom prst="roundRect">
            <a:avLst>
              <a:gd name="adj" fmla="val 5490"/>
            </a:avLst>
          </a:prstGeom>
          <a:solidFill>
            <a:srgbClr val="FFF3E8"/>
          </a:solidFill>
          <a:ln w="9525">
            <a:solidFill>
              <a:srgbClr val="F0D6C3"/>
            </a:solidFill>
            <a:prstDash val="solid"/>
          </a:ln>
        </p:spPr>
      </p:sp>
      <p:sp>
        <p:nvSpPr>
          <p:cNvPr id="4" name="Shape 2"/>
          <p:cNvSpPr/>
          <p:nvPr/>
        </p:nvSpPr>
        <p:spPr>
          <a:xfrm>
            <a:off x="640080" y="1463040"/>
            <a:ext cx="548640" cy="548640"/>
          </a:xfrm>
          <a:prstGeom prst="ellipse">
            <a:avLst/>
          </a:prstGeom>
          <a:solidFill>
            <a:srgbClr val="2F6B4F"/>
          </a:solidFill>
          <a:ln w="6350">
            <a:solidFill>
              <a:srgbClr val="2F6B4F"/>
            </a:solidFill>
            <a:prstDash val="solid"/>
          </a:ln>
        </p:spPr>
      </p:sp>
      <p:pic>
        <p:nvPicPr>
          <p:cNvPr id="5" name="Image 0" descr="preencoded.png"/>
          <p:cNvPicPr>
            <a:picLocks noChangeAspect="1"/>
          </p:cNvPicPr>
          <p:nvPr/>
        </p:nvPicPr>
        <p:blipFill>
          <a:blip r:embed="rId1"/>
          <a:stretch>
            <a:fillRect/>
          </a:stretch>
        </p:blipFill>
        <p:spPr>
          <a:xfrm>
            <a:off x="777240" y="1600200"/>
            <a:ext cx="274320" cy="274320"/>
          </a:xfrm>
          <a:prstGeom prst="rect">
            <a:avLst/>
          </a:prstGeom>
        </p:spPr>
      </p:pic>
      <p:sp>
        <p:nvSpPr>
          <p:cNvPr id="6" name="Text 3"/>
          <p:cNvSpPr txBox="1"/>
          <p:nvPr/>
        </p:nvSpPr>
        <p:spPr>
          <a:xfrm>
            <a:off x="640080" y="2148840"/>
            <a:ext cx="22860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Consent first</a:t>
            </a:r>
            <a:endParaRPr lang="en-US" sz="1600" dirty="0"/>
          </a:p>
        </p:txBody>
      </p:sp>
      <p:sp>
        <p:nvSpPr>
          <p:cNvPr id="7" name="Text 4"/>
          <p:cNvSpPr txBox="1"/>
          <p:nvPr/>
        </p:nvSpPr>
        <p:spPr>
          <a:xfrm>
            <a:off x="640080" y="2514600"/>
            <a:ext cx="2331720" cy="100584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Camera and mic start only when you ask. Location only after you agree.</a:t>
            </a:r>
            <a:endParaRPr lang="en-US" sz="1350" dirty="0"/>
          </a:p>
        </p:txBody>
      </p:sp>
      <p:sp>
        <p:nvSpPr>
          <p:cNvPr id="8" name="Shape 5"/>
          <p:cNvSpPr/>
          <p:nvPr/>
        </p:nvSpPr>
        <p:spPr>
          <a:xfrm>
            <a:off x="3246120" y="1280160"/>
            <a:ext cx="2651760" cy="2331720"/>
          </a:xfrm>
          <a:prstGeom prst="roundRect">
            <a:avLst>
              <a:gd name="adj" fmla="val 5490"/>
            </a:avLst>
          </a:prstGeom>
          <a:solidFill>
            <a:srgbClr val="FFF3E8"/>
          </a:solidFill>
          <a:ln w="9525">
            <a:solidFill>
              <a:srgbClr val="F0D6C3"/>
            </a:solidFill>
            <a:prstDash val="solid"/>
          </a:ln>
        </p:spPr>
      </p:sp>
      <p:sp>
        <p:nvSpPr>
          <p:cNvPr id="9" name="Shape 6"/>
          <p:cNvSpPr/>
          <p:nvPr/>
        </p:nvSpPr>
        <p:spPr>
          <a:xfrm>
            <a:off x="3429000" y="1463040"/>
            <a:ext cx="548640" cy="548640"/>
          </a:xfrm>
          <a:prstGeom prst="ellipse">
            <a:avLst/>
          </a:prstGeom>
          <a:solidFill>
            <a:srgbClr val="2F6B4F"/>
          </a:solidFill>
          <a:ln w="6350">
            <a:solidFill>
              <a:srgbClr val="2F6B4F"/>
            </a:solidFill>
            <a:prstDash val="solid"/>
          </a:ln>
        </p:spPr>
      </p:sp>
      <p:pic>
        <p:nvPicPr>
          <p:cNvPr id="10" name="Image 1" descr="preencoded.png"/>
          <p:cNvPicPr>
            <a:picLocks noChangeAspect="1"/>
          </p:cNvPicPr>
          <p:nvPr/>
        </p:nvPicPr>
        <p:blipFill>
          <a:blip r:embed="rId2"/>
          <a:stretch>
            <a:fillRect/>
          </a:stretch>
        </p:blipFill>
        <p:spPr>
          <a:xfrm>
            <a:off x="3566160" y="1600200"/>
            <a:ext cx="274320" cy="274320"/>
          </a:xfrm>
          <a:prstGeom prst="rect">
            <a:avLst/>
          </a:prstGeom>
        </p:spPr>
      </p:pic>
      <p:sp>
        <p:nvSpPr>
          <p:cNvPr id="11" name="Text 7"/>
          <p:cNvSpPr txBox="1"/>
          <p:nvPr/>
        </p:nvSpPr>
        <p:spPr>
          <a:xfrm>
            <a:off x="3429000" y="2148840"/>
            <a:ext cx="22860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Private by default</a:t>
            </a:r>
            <a:endParaRPr lang="en-US" sz="1600" dirty="0"/>
          </a:p>
        </p:txBody>
      </p:sp>
      <p:sp>
        <p:nvSpPr>
          <p:cNvPr id="12" name="Text 8"/>
          <p:cNvSpPr txBox="1"/>
          <p:nvPr/>
        </p:nvSpPr>
        <p:spPr>
          <a:xfrm>
            <a:off x="3429000" y="2514600"/>
            <a:ext cx="2331720" cy="100584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One still image per request. Keys stay on the server. Guest data stays on the device.</a:t>
            </a:r>
            <a:endParaRPr lang="en-US" sz="1350" dirty="0"/>
          </a:p>
        </p:txBody>
      </p:sp>
      <p:sp>
        <p:nvSpPr>
          <p:cNvPr id="13" name="Shape 9"/>
          <p:cNvSpPr/>
          <p:nvPr/>
        </p:nvSpPr>
        <p:spPr>
          <a:xfrm>
            <a:off x="6035040" y="1280160"/>
            <a:ext cx="2651760" cy="2331720"/>
          </a:xfrm>
          <a:prstGeom prst="roundRect">
            <a:avLst>
              <a:gd name="adj" fmla="val 5490"/>
            </a:avLst>
          </a:prstGeom>
          <a:solidFill>
            <a:srgbClr val="FFF3E8"/>
          </a:solidFill>
          <a:ln w="9525">
            <a:solidFill>
              <a:srgbClr val="F0D6C3"/>
            </a:solidFill>
            <a:prstDash val="solid"/>
          </a:ln>
        </p:spPr>
      </p:sp>
      <p:sp>
        <p:nvSpPr>
          <p:cNvPr id="14" name="Shape 10"/>
          <p:cNvSpPr/>
          <p:nvPr/>
        </p:nvSpPr>
        <p:spPr>
          <a:xfrm>
            <a:off x="6217920" y="1463040"/>
            <a:ext cx="548640" cy="548640"/>
          </a:xfrm>
          <a:prstGeom prst="ellipse">
            <a:avLst/>
          </a:prstGeom>
          <a:solidFill>
            <a:srgbClr val="2F6B4F"/>
          </a:solidFill>
          <a:ln w="6350">
            <a:solidFill>
              <a:srgbClr val="2F6B4F"/>
            </a:solidFill>
            <a:prstDash val="solid"/>
          </a:ln>
        </p:spPr>
      </p:sp>
      <p:pic>
        <p:nvPicPr>
          <p:cNvPr id="15" name="Image 2" descr="preencoded.png"/>
          <p:cNvPicPr>
            <a:picLocks noChangeAspect="1"/>
          </p:cNvPicPr>
          <p:nvPr/>
        </p:nvPicPr>
        <p:blipFill>
          <a:blip r:embed="rId3"/>
          <a:stretch>
            <a:fillRect/>
          </a:stretch>
        </p:blipFill>
        <p:spPr>
          <a:xfrm>
            <a:off x="6355080" y="1600200"/>
            <a:ext cx="274320" cy="274320"/>
          </a:xfrm>
          <a:prstGeom prst="rect">
            <a:avLst/>
          </a:prstGeom>
        </p:spPr>
      </p:pic>
      <p:sp>
        <p:nvSpPr>
          <p:cNvPr id="16" name="Text 11"/>
          <p:cNvSpPr txBox="1"/>
          <p:nvPr/>
        </p:nvSpPr>
        <p:spPr>
          <a:xfrm>
            <a:off x="6217920" y="2148840"/>
            <a:ext cx="2286000" cy="320040"/>
          </a:xfrm>
          <a:prstGeom prst="rect">
            <a:avLst/>
          </a:prstGeom>
          <a:noFill/>
        </p:spPr>
        <p:txBody>
          <a:bodyPr wrap="square" lIns="0" tIns="0" rIns="0" bIns="0" rtlCol="0" anchor="t"/>
          <a:lstStyle/>
          <a:p>
            <a:pPr marL="0" indent="0">
              <a:buNone/>
            </a:pPr>
            <a:r>
              <a:rPr lang="en-US" sz="1600" b="1" dirty="0">
                <a:solidFill>
                  <a:srgbClr val="1F1612"/>
                </a:solidFill>
                <a:latin typeface="Cambria" panose="02040503050406030204" pitchFamily="34" charset="0"/>
                <a:ea typeface="Cambria" panose="02040503050406030204" pitchFamily="34" charset="-122"/>
                <a:cs typeface="Cambria" panose="02040503050406030204" pitchFamily="34" charset="-120"/>
              </a:rPr>
              <a:t>Honest about limits</a:t>
            </a:r>
            <a:endParaRPr lang="en-US" sz="1600" dirty="0"/>
          </a:p>
        </p:txBody>
      </p:sp>
      <p:sp>
        <p:nvSpPr>
          <p:cNvPr id="17" name="Text 12"/>
          <p:cNvSpPr txBox="1"/>
          <p:nvPr/>
        </p:nvSpPr>
        <p:spPr>
          <a:xfrm>
            <a:off x="6217920" y="2514600"/>
            <a:ext cx="2331720" cy="1005840"/>
          </a:xfrm>
          <a:prstGeom prst="rect">
            <a:avLst/>
          </a:prstGeom>
          <a:noFill/>
        </p:spPr>
        <p:txBody>
          <a:bodyPr wrap="square" lIns="0" tIns="0" rIns="0" bIns="0" rtlCol="0" anchor="t"/>
          <a:lstStyle/>
          <a:p>
            <a:pPr marL="0" indent="0">
              <a:buNone/>
            </a:pPr>
            <a:r>
              <a:rPr lang="en-US" sz="1350" dirty="0">
                <a:solidFill>
                  <a:srgbClr val="6E6057"/>
                </a:solidFill>
                <a:latin typeface="Calibri" panose="020F0502020204030204" pitchFamily="34" charset="0"/>
                <a:ea typeface="Calibri" panose="020F0502020204030204" pitchFamily="34" charset="-122"/>
                <a:cs typeface="Calibri" panose="020F0502020204030204" pitchFamily="34" charset="-120"/>
              </a:rPr>
              <a:t>Every result says “unverified”. It refuses to judge if a path is safe.</a:t>
            </a:r>
            <a:endParaRPr lang="en-US" sz="1350" dirty="0"/>
          </a:p>
        </p:txBody>
      </p:sp>
      <p:sp>
        <p:nvSpPr>
          <p:cNvPr id="18" name="Shape 13"/>
          <p:cNvSpPr/>
          <p:nvPr/>
        </p:nvSpPr>
        <p:spPr>
          <a:xfrm>
            <a:off x="457200" y="3794760"/>
            <a:ext cx="8229600" cy="822960"/>
          </a:xfrm>
          <a:prstGeom prst="roundRect">
            <a:avLst>
              <a:gd name="adj" fmla="val 15556"/>
            </a:avLst>
          </a:prstGeom>
          <a:solidFill>
            <a:srgbClr val="FDECEA"/>
          </a:solidFill>
          <a:ln w="12700">
            <a:solidFill>
              <a:srgbClr val="F4B6AF"/>
            </a:solidFill>
            <a:prstDash val="solid"/>
          </a:ln>
        </p:spPr>
      </p:sp>
      <p:sp>
        <p:nvSpPr>
          <p:cNvPr id="19" name="Shape 14"/>
          <p:cNvSpPr/>
          <p:nvPr/>
        </p:nvSpPr>
        <p:spPr>
          <a:xfrm>
            <a:off x="640080" y="4005072"/>
            <a:ext cx="411480" cy="411480"/>
          </a:xfrm>
          <a:prstGeom prst="ellipse">
            <a:avLst/>
          </a:prstGeom>
          <a:solidFill>
            <a:srgbClr val="B42318"/>
          </a:solidFill>
          <a:ln w="6350">
            <a:solidFill>
              <a:srgbClr val="B42318"/>
            </a:solidFill>
            <a:prstDash val="solid"/>
          </a:ln>
        </p:spPr>
      </p:sp>
      <p:pic>
        <p:nvPicPr>
          <p:cNvPr id="20" name="Image 3" descr="preencoded.png"/>
          <p:cNvPicPr>
            <a:picLocks noChangeAspect="1"/>
          </p:cNvPicPr>
          <p:nvPr/>
        </p:nvPicPr>
        <p:blipFill>
          <a:blip r:embed="rId4"/>
          <a:stretch>
            <a:fillRect/>
          </a:stretch>
        </p:blipFill>
        <p:spPr>
          <a:xfrm>
            <a:off x="742950" y="4107942"/>
            <a:ext cx="205740" cy="205740"/>
          </a:xfrm>
          <a:prstGeom prst="rect">
            <a:avLst/>
          </a:prstGeom>
        </p:spPr>
      </p:pic>
      <p:sp>
        <p:nvSpPr>
          <p:cNvPr id="21" name="Text 15"/>
          <p:cNvSpPr txBox="1"/>
          <p:nvPr/>
        </p:nvSpPr>
        <p:spPr>
          <a:xfrm>
            <a:off x="1280160" y="3794760"/>
            <a:ext cx="7223760" cy="822960"/>
          </a:xfrm>
          <a:prstGeom prst="rect">
            <a:avLst/>
          </a:prstGeom>
          <a:noFill/>
        </p:spPr>
        <p:txBody>
          <a:bodyPr wrap="square" lIns="0" tIns="0" rIns="0" bIns="0" rtlCol="0" anchor="ctr"/>
          <a:lstStyle/>
          <a:p>
            <a:pPr marL="0" indent="0">
              <a:buNone/>
            </a:pPr>
            <a:r>
              <a:rPr lang="en-US" sz="1500" b="1" dirty="0">
                <a:solidFill>
                  <a:srgbClr val="B42318"/>
                </a:solidFill>
                <a:latin typeface="Calibri" panose="020F0502020204030204" pitchFamily="34" charset="0"/>
                <a:ea typeface="Calibri" panose="020F0502020204030204" pitchFamily="34" charset="-122"/>
                <a:cs typeface="Calibri" panose="020F0502020204030204" pitchFamily="34" charset="-120"/>
              </a:rPr>
              <a:t>VisionMate is not obstacle detection, turn-by-turn navigation or a safety monitor. Keep your cane or guide dog.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274320"/>
            <a:ext cx="8229600" cy="822960"/>
          </a:xfrm>
          <a:prstGeom prst="rect">
            <a:avLst/>
          </a:prstGeom>
          <a:noFill/>
        </p:spPr>
        <p:txBody>
          <a:bodyPr wrap="square" lIns="0" tIns="0" rIns="0" bIns="0" rtlCol="0" anchor="ctr"/>
          <a:lstStyle/>
          <a:p>
            <a:pPr marL="0" indent="0" algn="l">
              <a:buNone/>
            </a:pPr>
            <a:r>
              <a:rPr lang="en-US" sz="3000" b="1" dirty="0">
                <a:solidFill>
                  <a:srgbClr val="1F1612"/>
                </a:solidFill>
                <a:latin typeface="Cambria" panose="02040503050406030204" pitchFamily="34" charset="0"/>
                <a:ea typeface="Cambria" panose="02040503050406030204" pitchFamily="34" charset="-122"/>
                <a:cs typeface="Cambria" panose="02040503050406030204" pitchFamily="34" charset="-120"/>
              </a:rPr>
              <a:t>Where it goes next</a:t>
            </a:r>
            <a:endParaRPr lang="en-US" sz="3000" dirty="0"/>
          </a:p>
        </p:txBody>
      </p:sp>
      <p:sp>
        <p:nvSpPr>
          <p:cNvPr id="3" name="Shape 1"/>
          <p:cNvSpPr/>
          <p:nvPr/>
        </p:nvSpPr>
        <p:spPr>
          <a:xfrm>
            <a:off x="1280160" y="1783080"/>
            <a:ext cx="6583680" cy="0"/>
          </a:xfrm>
          <a:prstGeom prst="line">
            <a:avLst/>
          </a:prstGeom>
          <a:noFill/>
          <a:ln w="31750">
            <a:solidFill>
              <a:srgbClr val="F0D6C3"/>
            </a:solidFill>
            <a:prstDash val="solid"/>
          </a:ln>
        </p:spPr>
      </p:sp>
      <p:sp>
        <p:nvSpPr>
          <p:cNvPr id="4" name="Shape 2"/>
          <p:cNvSpPr/>
          <p:nvPr/>
        </p:nvSpPr>
        <p:spPr>
          <a:xfrm>
            <a:off x="1508760" y="1417320"/>
            <a:ext cx="731520" cy="731520"/>
          </a:xfrm>
          <a:prstGeom prst="ellipse">
            <a:avLst/>
          </a:prstGeom>
          <a:solidFill>
            <a:srgbClr val="2F6B4F"/>
          </a:solidFill>
          <a:ln w="6350">
            <a:solidFill>
              <a:srgbClr val="2F6B4F"/>
            </a:solidFill>
            <a:prstDash val="solid"/>
          </a:ln>
        </p:spPr>
      </p:sp>
      <p:pic>
        <p:nvPicPr>
          <p:cNvPr id="5" name="Image 0" descr="preencoded.png"/>
          <p:cNvPicPr>
            <a:picLocks noChangeAspect="1"/>
          </p:cNvPicPr>
          <p:nvPr/>
        </p:nvPicPr>
        <p:blipFill>
          <a:blip r:embed="rId1"/>
          <a:stretch>
            <a:fillRect/>
          </a:stretch>
        </p:blipFill>
        <p:spPr>
          <a:xfrm>
            <a:off x="1691640" y="1600200"/>
            <a:ext cx="365760" cy="365760"/>
          </a:xfrm>
          <a:prstGeom prst="rect">
            <a:avLst/>
          </a:prstGeom>
        </p:spPr>
      </p:pic>
      <p:sp>
        <p:nvSpPr>
          <p:cNvPr id="6" name="Shape 3"/>
          <p:cNvSpPr/>
          <p:nvPr/>
        </p:nvSpPr>
        <p:spPr>
          <a:xfrm>
            <a:off x="457200" y="2377440"/>
            <a:ext cx="2651760" cy="1920240"/>
          </a:xfrm>
          <a:prstGeom prst="roundRect">
            <a:avLst>
              <a:gd name="adj" fmla="val 6667"/>
            </a:avLst>
          </a:prstGeom>
          <a:solidFill>
            <a:srgbClr val="FFF3E8"/>
          </a:solidFill>
          <a:ln w="9525">
            <a:solidFill>
              <a:srgbClr val="F0D6C3"/>
            </a:solidFill>
            <a:prstDash val="solid"/>
          </a:ln>
        </p:spPr>
      </p:sp>
      <p:sp>
        <p:nvSpPr>
          <p:cNvPr id="7" name="Text 4"/>
          <p:cNvSpPr txBox="1"/>
          <p:nvPr/>
        </p:nvSpPr>
        <p:spPr>
          <a:xfrm>
            <a:off x="685800" y="2560320"/>
            <a:ext cx="2194560" cy="274320"/>
          </a:xfrm>
          <a:prstGeom prst="rect">
            <a:avLst/>
          </a:prstGeom>
          <a:noFill/>
        </p:spPr>
        <p:txBody>
          <a:bodyPr wrap="square" lIns="0" tIns="0" rIns="0" bIns="0" rtlCol="0" anchor="t"/>
          <a:lstStyle/>
          <a:p>
            <a:pPr marL="0" indent="0">
              <a:buNone/>
            </a:pPr>
            <a:r>
              <a:rPr lang="en-US" sz="1400" b="1" kern="0" spc="300" dirty="0">
                <a:solidFill>
                  <a:srgbClr val="2F6B4F"/>
                </a:solidFill>
                <a:latin typeface="Calibri" panose="020F0502020204030204" pitchFamily="34" charset="0"/>
                <a:ea typeface="Calibri" panose="020F0502020204030204" pitchFamily="34" charset="-122"/>
                <a:cs typeface="Calibri" panose="020F0502020204030204" pitchFamily="34" charset="-120"/>
              </a:rPr>
              <a:t>TODAY</a:t>
            </a:r>
            <a:endParaRPr lang="en-US" sz="1400" dirty="0"/>
          </a:p>
        </p:txBody>
      </p:sp>
      <p:sp>
        <p:nvSpPr>
          <p:cNvPr id="8" name="Text 5"/>
          <p:cNvSpPr txBox="1"/>
          <p:nvPr/>
        </p:nvSpPr>
        <p:spPr>
          <a:xfrm>
            <a:off x="685800" y="2926080"/>
            <a:ext cx="2240280" cy="1554480"/>
          </a:xfrm>
          <a:prstGeom prst="rect">
            <a:avLst/>
          </a:prstGeom>
          <a:noFill/>
        </p:spPr>
        <p:txBody>
          <a:bodyPr wrap="square" lIns="0" tIns="0" rIns="0" bIns="0" rtlCol="0" anchor="t"/>
          <a:lstStyle/>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Installable web app</a:t>
            </a:r>
            <a:endParaRPr lang="en-US" sz="1400" dirty="0"/>
          </a:p>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Vision Lens + voice</a:t>
            </a:r>
            <a:endParaRPr lang="en-US" sz="1400" dirty="0"/>
          </a:p>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7 languages, SOS</a:t>
            </a:r>
            <a:endParaRPr lang="en-US" sz="1400" dirty="0"/>
          </a:p>
        </p:txBody>
      </p:sp>
      <p:sp>
        <p:nvSpPr>
          <p:cNvPr id="9" name="Shape 6"/>
          <p:cNvSpPr/>
          <p:nvPr/>
        </p:nvSpPr>
        <p:spPr>
          <a:xfrm>
            <a:off x="4297680" y="1417320"/>
            <a:ext cx="731520" cy="731520"/>
          </a:xfrm>
          <a:prstGeom prst="ellipse">
            <a:avLst/>
          </a:prstGeom>
          <a:solidFill>
            <a:srgbClr val="C2410C"/>
          </a:solidFill>
          <a:ln w="6350">
            <a:solidFill>
              <a:srgbClr val="C2410C"/>
            </a:solidFill>
            <a:prstDash val="solid"/>
          </a:ln>
        </p:spPr>
      </p:sp>
      <p:pic>
        <p:nvPicPr>
          <p:cNvPr id="10" name="Image 1" descr="preencoded.png"/>
          <p:cNvPicPr>
            <a:picLocks noChangeAspect="1"/>
          </p:cNvPicPr>
          <p:nvPr/>
        </p:nvPicPr>
        <p:blipFill>
          <a:blip r:embed="rId2"/>
          <a:stretch>
            <a:fillRect/>
          </a:stretch>
        </p:blipFill>
        <p:spPr>
          <a:xfrm>
            <a:off x="4480560" y="1600200"/>
            <a:ext cx="365760" cy="365760"/>
          </a:xfrm>
          <a:prstGeom prst="rect">
            <a:avLst/>
          </a:prstGeom>
        </p:spPr>
      </p:pic>
      <p:sp>
        <p:nvSpPr>
          <p:cNvPr id="11" name="Shape 7"/>
          <p:cNvSpPr/>
          <p:nvPr/>
        </p:nvSpPr>
        <p:spPr>
          <a:xfrm>
            <a:off x="3246120" y="2377440"/>
            <a:ext cx="2651760" cy="1920240"/>
          </a:xfrm>
          <a:prstGeom prst="roundRect">
            <a:avLst>
              <a:gd name="adj" fmla="val 6667"/>
            </a:avLst>
          </a:prstGeom>
          <a:solidFill>
            <a:srgbClr val="FFF3E8"/>
          </a:solidFill>
          <a:ln w="9525">
            <a:solidFill>
              <a:srgbClr val="F0D6C3"/>
            </a:solidFill>
            <a:prstDash val="solid"/>
          </a:ln>
        </p:spPr>
      </p:sp>
      <p:sp>
        <p:nvSpPr>
          <p:cNvPr id="12" name="Text 8"/>
          <p:cNvSpPr txBox="1"/>
          <p:nvPr/>
        </p:nvSpPr>
        <p:spPr>
          <a:xfrm>
            <a:off x="3474720" y="2560320"/>
            <a:ext cx="2194560" cy="274320"/>
          </a:xfrm>
          <a:prstGeom prst="rect">
            <a:avLst/>
          </a:prstGeom>
          <a:noFill/>
        </p:spPr>
        <p:txBody>
          <a:bodyPr wrap="square" lIns="0" tIns="0" rIns="0" bIns="0" rtlCol="0" anchor="t"/>
          <a:lstStyle/>
          <a:p>
            <a:pPr marL="0" indent="0">
              <a:buNone/>
            </a:pPr>
            <a:r>
              <a:rPr lang="en-US" sz="1400" b="1" kern="0" spc="300" dirty="0">
                <a:solidFill>
                  <a:srgbClr val="C2410C"/>
                </a:solidFill>
                <a:latin typeface="Calibri" panose="020F0502020204030204" pitchFamily="34" charset="0"/>
                <a:ea typeface="Calibri" panose="020F0502020204030204" pitchFamily="34" charset="-122"/>
                <a:cs typeface="Calibri" panose="020F0502020204030204" pitchFamily="34" charset="-120"/>
              </a:rPr>
              <a:t>NEXT</a:t>
            </a:r>
            <a:endParaRPr lang="en-US" sz="1400" dirty="0"/>
          </a:p>
        </p:txBody>
      </p:sp>
      <p:sp>
        <p:nvSpPr>
          <p:cNvPr id="13" name="Text 9"/>
          <p:cNvSpPr txBox="1"/>
          <p:nvPr/>
        </p:nvSpPr>
        <p:spPr>
          <a:xfrm>
            <a:off x="3474720" y="2926080"/>
            <a:ext cx="2240280" cy="1554480"/>
          </a:xfrm>
          <a:prstGeom prst="rect">
            <a:avLst/>
          </a:prstGeom>
          <a:noFill/>
        </p:spPr>
        <p:txBody>
          <a:bodyPr wrap="square" lIns="0" tIns="0" rIns="0" bIns="0" rtlCol="0" anchor="t"/>
          <a:lstStyle/>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Native Android app</a:t>
            </a:r>
            <a:endParaRPr lang="en-US" sz="1400" dirty="0"/>
          </a:p>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Volume-button shortcut</a:t>
            </a:r>
            <a:endParaRPr lang="en-US" sz="1400" dirty="0"/>
          </a:p>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Offline on-device OCR</a:t>
            </a:r>
            <a:endParaRPr lang="en-US" sz="1400" dirty="0"/>
          </a:p>
        </p:txBody>
      </p:sp>
      <p:sp>
        <p:nvSpPr>
          <p:cNvPr id="14" name="Shape 10"/>
          <p:cNvSpPr/>
          <p:nvPr/>
        </p:nvSpPr>
        <p:spPr>
          <a:xfrm>
            <a:off x="7086600" y="1417320"/>
            <a:ext cx="731520" cy="731520"/>
          </a:xfrm>
          <a:prstGeom prst="ellipse">
            <a:avLst/>
          </a:prstGeom>
          <a:solidFill>
            <a:srgbClr val="9A3412"/>
          </a:solidFill>
          <a:ln w="6350">
            <a:solidFill>
              <a:srgbClr val="9A3412"/>
            </a:solidFill>
            <a:prstDash val="solid"/>
          </a:ln>
        </p:spPr>
      </p:sp>
      <p:pic>
        <p:nvPicPr>
          <p:cNvPr id="15" name="Image 2" descr="preencoded.png"/>
          <p:cNvPicPr>
            <a:picLocks noChangeAspect="1"/>
          </p:cNvPicPr>
          <p:nvPr/>
        </p:nvPicPr>
        <p:blipFill>
          <a:blip r:embed="rId3"/>
          <a:stretch>
            <a:fillRect/>
          </a:stretch>
        </p:blipFill>
        <p:spPr>
          <a:xfrm>
            <a:off x="7269480" y="1600200"/>
            <a:ext cx="365760" cy="365760"/>
          </a:xfrm>
          <a:prstGeom prst="rect">
            <a:avLst/>
          </a:prstGeom>
        </p:spPr>
      </p:pic>
      <p:sp>
        <p:nvSpPr>
          <p:cNvPr id="16" name="Shape 11"/>
          <p:cNvSpPr/>
          <p:nvPr/>
        </p:nvSpPr>
        <p:spPr>
          <a:xfrm>
            <a:off x="6035040" y="2377440"/>
            <a:ext cx="2651760" cy="1920240"/>
          </a:xfrm>
          <a:prstGeom prst="roundRect">
            <a:avLst>
              <a:gd name="adj" fmla="val 6667"/>
            </a:avLst>
          </a:prstGeom>
          <a:solidFill>
            <a:srgbClr val="FFF3E8"/>
          </a:solidFill>
          <a:ln w="9525">
            <a:solidFill>
              <a:srgbClr val="F0D6C3"/>
            </a:solidFill>
            <a:prstDash val="solid"/>
          </a:ln>
        </p:spPr>
      </p:sp>
      <p:sp>
        <p:nvSpPr>
          <p:cNvPr id="17" name="Text 12"/>
          <p:cNvSpPr txBox="1"/>
          <p:nvPr/>
        </p:nvSpPr>
        <p:spPr>
          <a:xfrm>
            <a:off x="6263640" y="2560320"/>
            <a:ext cx="2194560" cy="274320"/>
          </a:xfrm>
          <a:prstGeom prst="rect">
            <a:avLst/>
          </a:prstGeom>
          <a:noFill/>
        </p:spPr>
        <p:txBody>
          <a:bodyPr wrap="square" lIns="0" tIns="0" rIns="0" bIns="0" rtlCol="0" anchor="t"/>
          <a:lstStyle/>
          <a:p>
            <a:pPr marL="0" indent="0">
              <a:buNone/>
            </a:pPr>
            <a:r>
              <a:rPr lang="en-US" sz="1400" b="1" kern="0" spc="300" dirty="0">
                <a:solidFill>
                  <a:srgbClr val="9A3412"/>
                </a:solidFill>
                <a:latin typeface="Calibri" panose="020F0502020204030204" pitchFamily="34" charset="0"/>
                <a:ea typeface="Calibri" panose="020F0502020204030204" pitchFamily="34" charset="-122"/>
                <a:cs typeface="Calibri" panose="020F0502020204030204" pitchFamily="34" charset="-120"/>
              </a:rPr>
              <a:t>LATER</a:t>
            </a:r>
            <a:endParaRPr lang="en-US" sz="1400" dirty="0"/>
          </a:p>
        </p:txBody>
      </p:sp>
      <p:sp>
        <p:nvSpPr>
          <p:cNvPr id="18" name="Text 13"/>
          <p:cNvSpPr txBox="1"/>
          <p:nvPr/>
        </p:nvSpPr>
        <p:spPr>
          <a:xfrm>
            <a:off x="6263640" y="2926080"/>
            <a:ext cx="2240280" cy="1554480"/>
          </a:xfrm>
          <a:prstGeom prst="rect">
            <a:avLst/>
          </a:prstGeom>
          <a:noFill/>
        </p:spPr>
        <p:txBody>
          <a:bodyPr wrap="square" lIns="0" tIns="0" rIns="0" bIns="0" rtlCol="0" anchor="t"/>
          <a:lstStyle/>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Validated turn-by-turn partner</a:t>
            </a:r>
            <a:endParaRPr lang="en-US" sz="1400" dirty="0"/>
          </a:p>
          <a:p>
            <a:pPr marL="342900" indent="-342900">
              <a:spcAft>
                <a:spcPts val="600"/>
              </a:spcAft>
              <a:buSzPct val="100000"/>
              <a:buChar char="•"/>
            </a:pPr>
            <a:r>
              <a:rPr lang="en-US" sz="1400" dirty="0">
                <a:solidFill>
                  <a:srgbClr val="1F1612"/>
                </a:solidFill>
                <a:latin typeface="Calibri" panose="020F0502020204030204" pitchFamily="34" charset="0"/>
                <a:ea typeface="Calibri" panose="020F0502020204030204" pitchFamily="34" charset="-122"/>
                <a:cs typeface="Calibri" panose="020F0502020204030204" pitchFamily="34" charset="-120"/>
              </a:rPr>
              <a:t>More languages and voices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p:spPr>
        <p:txBody>
          <a:bodyPr/>
          <a:lstStyle>
            <a:lvl1pPr>
              <a:defRPr sz="900">
                <a:solidFill>
                  <a:srgbClr val="8A7B70"/>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12080" y="457200"/>
            <a:ext cx="4206240" cy="4206240"/>
          </a:xfrm>
          <a:prstGeom prst="ellipse">
            <a:avLst/>
          </a:prstGeom>
          <a:solidFill>
            <a:srgbClr val="C2410C">
              <a:alpha val="18000"/>
            </a:srgbClr>
          </a:solidFill>
          <a:ln w="6350">
            <a:solidFill>
              <a:srgbClr val="C2410C"/>
            </a:solidFill>
            <a:prstDash val="solid"/>
          </a:ln>
        </p:spPr>
      </p:sp>
      <p:sp>
        <p:nvSpPr>
          <p:cNvPr id="3" name="Shape 1"/>
          <p:cNvSpPr/>
          <p:nvPr/>
        </p:nvSpPr>
        <p:spPr>
          <a:xfrm>
            <a:off x="5760720" y="1005840"/>
            <a:ext cx="3108960" cy="3108960"/>
          </a:xfrm>
          <a:prstGeom prst="ellipse">
            <a:avLst/>
          </a:prstGeom>
          <a:solidFill>
            <a:srgbClr val="C2410C">
              <a:alpha val="22000"/>
            </a:srgbClr>
          </a:solidFill>
          <a:ln w="6350">
            <a:solidFill>
              <a:srgbClr val="C2410C"/>
            </a:solidFill>
            <a:prstDash val="solid"/>
          </a:ln>
        </p:spPr>
      </p:sp>
      <p:pic>
        <p:nvPicPr>
          <p:cNvPr id="4" name="Image 0" descr="logo.png"/>
          <p:cNvPicPr>
            <a:picLocks noChangeAspect="1"/>
          </p:cNvPicPr>
          <p:nvPr/>
        </p:nvPicPr>
        <p:blipFill>
          <a:blip r:embed="rId1"/>
          <a:stretch>
            <a:fillRect/>
          </a:stretch>
        </p:blipFill>
        <p:spPr>
          <a:xfrm>
            <a:off x="548640" y="502920"/>
            <a:ext cx="457200" cy="404165"/>
          </a:xfrm>
          <a:prstGeom prst="rect">
            <a:avLst/>
          </a:prstGeom>
        </p:spPr>
      </p:pic>
      <p:sp>
        <p:nvSpPr>
          <p:cNvPr id="5" name="Text 2"/>
          <p:cNvSpPr txBox="1"/>
          <p:nvPr/>
        </p:nvSpPr>
        <p:spPr>
          <a:xfrm>
            <a:off x="548640" y="1371600"/>
            <a:ext cx="5029200" cy="822960"/>
          </a:xfrm>
          <a:prstGeom prst="rect">
            <a:avLst/>
          </a:prstGeom>
          <a:noFill/>
        </p:spPr>
        <p:txBody>
          <a:bodyPr wrap="square" lIns="0" tIns="0" rIns="0" bIns="0" rtlCol="0" anchor="t"/>
          <a:lstStyle/>
          <a:p>
            <a:pPr marL="0" indent="0">
              <a:buNone/>
            </a:pPr>
            <a:r>
              <a:rPr lang="en-US" sz="5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000" dirty="0"/>
          </a:p>
        </p:txBody>
      </p:sp>
      <p:sp>
        <p:nvSpPr>
          <p:cNvPr id="6" name="Text 3"/>
          <p:cNvSpPr txBox="1"/>
          <p:nvPr/>
        </p:nvSpPr>
        <p:spPr>
          <a:xfrm>
            <a:off x="548640" y="2240280"/>
            <a:ext cx="4572000" cy="411480"/>
          </a:xfrm>
          <a:prstGeom prst="rect">
            <a:avLst/>
          </a:prstGeom>
          <a:noFill/>
        </p:spPr>
        <p:txBody>
          <a:bodyPr wrap="square" lIns="0" tIns="0" rIns="0" bIns="0" rtlCol="0" anchor="t"/>
          <a:lstStyle/>
          <a:p>
            <a:pPr marL="0" indent="0">
              <a:buNone/>
            </a:pPr>
            <a:r>
              <a:rPr lang="en-US" sz="2200" b="1" dirty="0">
                <a:solidFill>
                  <a:srgbClr val="F59E6B"/>
                </a:solidFill>
                <a:latin typeface="Calibri" panose="020F0502020204030204" pitchFamily="34" charset="0"/>
                <a:ea typeface="Calibri" panose="020F0502020204030204" pitchFamily="34" charset="-122"/>
                <a:cs typeface="Calibri" panose="020F0502020204030204" pitchFamily="34" charset="-120"/>
              </a:rPr>
              <a:t>Let’s try it live.</a:t>
            </a:r>
            <a:endParaRPr lang="en-US" sz="2200" dirty="0"/>
          </a:p>
        </p:txBody>
      </p:sp>
      <p:sp>
        <p:nvSpPr>
          <p:cNvPr id="7" name="Shape 4"/>
          <p:cNvSpPr/>
          <p:nvPr/>
        </p:nvSpPr>
        <p:spPr>
          <a:xfrm>
            <a:off x="548640" y="2926080"/>
            <a:ext cx="3108960" cy="384048"/>
          </a:xfrm>
          <a:prstGeom prst="roundRect">
            <a:avLst>
              <a:gd name="adj" fmla="val 50000"/>
            </a:avLst>
          </a:prstGeom>
          <a:solidFill>
            <a:srgbClr val="1F1612"/>
          </a:solidFill>
          <a:ln w="12700">
            <a:solidFill>
              <a:srgbClr val="F59E6B"/>
            </a:solidFill>
            <a:prstDash val="solid"/>
          </a:ln>
        </p:spPr>
      </p:sp>
      <p:sp>
        <p:nvSpPr>
          <p:cNvPr id="8" name="Text 5"/>
          <p:cNvSpPr txBox="1"/>
          <p:nvPr/>
        </p:nvSpPr>
        <p:spPr>
          <a:xfrm>
            <a:off x="731520" y="2926080"/>
            <a:ext cx="2834640" cy="38404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Say “Open Vision Lens”</a:t>
            </a:r>
            <a:endParaRPr lang="en-US" sz="1400" dirty="0"/>
          </a:p>
        </p:txBody>
      </p:sp>
      <p:sp>
        <p:nvSpPr>
          <p:cNvPr id="9" name="Shape 6"/>
          <p:cNvSpPr/>
          <p:nvPr/>
        </p:nvSpPr>
        <p:spPr>
          <a:xfrm>
            <a:off x="548640" y="3401568"/>
            <a:ext cx="3108960" cy="384048"/>
          </a:xfrm>
          <a:prstGeom prst="roundRect">
            <a:avLst>
              <a:gd name="adj" fmla="val 50000"/>
            </a:avLst>
          </a:prstGeom>
          <a:solidFill>
            <a:srgbClr val="1F1612"/>
          </a:solidFill>
          <a:ln w="12700">
            <a:solidFill>
              <a:srgbClr val="F59E6B"/>
            </a:solidFill>
            <a:prstDash val="solid"/>
          </a:ln>
        </p:spPr>
      </p:sp>
      <p:sp>
        <p:nvSpPr>
          <p:cNvPr id="10" name="Text 7"/>
          <p:cNvSpPr txBox="1"/>
          <p:nvPr/>
        </p:nvSpPr>
        <p:spPr>
          <a:xfrm>
            <a:off x="731520" y="3401568"/>
            <a:ext cx="2834640" cy="38404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Say “Read this menu”</a:t>
            </a:r>
            <a:endParaRPr lang="en-US" sz="1400" dirty="0"/>
          </a:p>
        </p:txBody>
      </p:sp>
      <p:sp>
        <p:nvSpPr>
          <p:cNvPr id="11" name="Shape 8"/>
          <p:cNvSpPr/>
          <p:nvPr/>
        </p:nvSpPr>
        <p:spPr>
          <a:xfrm>
            <a:off x="548640" y="3877056"/>
            <a:ext cx="3108960" cy="384048"/>
          </a:xfrm>
          <a:prstGeom prst="roundRect">
            <a:avLst>
              <a:gd name="adj" fmla="val 50000"/>
            </a:avLst>
          </a:prstGeom>
          <a:solidFill>
            <a:srgbClr val="1F1612"/>
          </a:solidFill>
          <a:ln w="12700">
            <a:solidFill>
              <a:srgbClr val="F59E6B"/>
            </a:solidFill>
            <a:prstDash val="solid"/>
          </a:ln>
        </p:spPr>
      </p:sp>
      <p:sp>
        <p:nvSpPr>
          <p:cNvPr id="12" name="Text 9"/>
          <p:cNvSpPr txBox="1"/>
          <p:nvPr/>
        </p:nvSpPr>
        <p:spPr>
          <a:xfrm>
            <a:off x="731520" y="3877056"/>
            <a:ext cx="2834640" cy="384048"/>
          </a:xfrm>
          <a:prstGeom prst="rect">
            <a:avLst/>
          </a:prstGeom>
          <a:noFill/>
        </p:spPr>
        <p:txBody>
          <a:bodyPr wrap="square" lIns="0" tIns="0" rIns="0" bIns="0" rtlCol="0" anchor="ctr"/>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Tap SOS</a:t>
            </a:r>
            <a:endParaRPr lang="en-US" sz="1400" dirty="0"/>
          </a:p>
        </p:txBody>
      </p:sp>
      <p:sp>
        <p:nvSpPr>
          <p:cNvPr id="13" name="Text 10"/>
          <p:cNvSpPr txBox="1"/>
          <p:nvPr/>
        </p:nvSpPr>
        <p:spPr>
          <a:xfrm>
            <a:off x="548640" y="4480560"/>
            <a:ext cx="4572000" cy="274320"/>
          </a:xfrm>
          <a:prstGeom prst="rect">
            <a:avLst/>
          </a:prstGeom>
          <a:noFill/>
        </p:spPr>
        <p:txBody>
          <a:bodyPr wrap="square" lIns="0" tIns="0" rIns="0" bIns="0" rtlCol="0" anchor="t"/>
          <a:lstStyle/>
          <a:p>
            <a:pPr marL="0" indent="0">
              <a:buNone/>
            </a:pPr>
            <a:endParaRPr lang="en-US" sz="1300" dirty="0"/>
          </a:p>
        </p:txBody>
      </p:sp>
      <p:sp>
        <p:nvSpPr>
          <p:cNvPr id="14" name="Shape 11"/>
          <p:cNvSpPr/>
          <p:nvPr/>
        </p:nvSpPr>
        <p:spPr>
          <a:xfrm>
            <a:off x="6126480" y="347472"/>
            <a:ext cx="2286000" cy="4480560"/>
          </a:xfrm>
          <a:prstGeom prst="roundRect">
            <a:avLst>
              <a:gd name="adj" fmla="val 12800"/>
            </a:avLst>
          </a:prstGeom>
          <a:solidFill>
            <a:srgbClr val="1F1612"/>
          </a:solidFill>
          <a:ln w="6350">
            <a:solidFill>
              <a:srgbClr val="1F1612"/>
            </a:solidFill>
            <a:prstDash val="solid"/>
          </a:ln>
          <a:effectLst>
            <a:outerShdw blurRad="127000" dist="38100" dir="5400000" algn="bl" rotWithShape="0">
              <a:srgbClr val="000000">
                <a:alpha val="18000"/>
              </a:srgbClr>
            </a:outerShdw>
          </a:effectLst>
        </p:spPr>
      </p:sp>
      <p:sp>
        <p:nvSpPr>
          <p:cNvPr id="15" name="Shape 12"/>
          <p:cNvSpPr/>
          <p:nvPr/>
        </p:nvSpPr>
        <p:spPr>
          <a:xfrm>
            <a:off x="6199632" y="420624"/>
            <a:ext cx="2139696" cy="4334256"/>
          </a:xfrm>
          <a:prstGeom prst="roundRect">
            <a:avLst>
              <a:gd name="adj" fmla="val 11111"/>
            </a:avLst>
          </a:prstGeom>
          <a:solidFill>
            <a:srgbClr val="FFFAF5"/>
          </a:solidFill>
          <a:ln w="6350">
            <a:solidFill>
              <a:srgbClr val="FFFAF5"/>
            </a:solidFill>
            <a:prstDash val="solid"/>
          </a:ln>
        </p:spPr>
      </p:sp>
      <p:sp>
        <p:nvSpPr>
          <p:cNvPr id="16" name="Shape 13"/>
          <p:cNvSpPr/>
          <p:nvPr/>
        </p:nvSpPr>
        <p:spPr>
          <a:xfrm>
            <a:off x="6903720" y="475488"/>
            <a:ext cx="731520" cy="109728"/>
          </a:xfrm>
          <a:prstGeom prst="roundRect">
            <a:avLst>
              <a:gd name="adj" fmla="val 50000"/>
            </a:avLst>
          </a:prstGeom>
          <a:solidFill>
            <a:srgbClr val="1F1612"/>
          </a:solidFill>
          <a:ln w="6350">
            <a:solidFill>
              <a:srgbClr val="1F1612"/>
            </a:solidFill>
            <a:prstDash val="solid"/>
          </a:ln>
        </p:spPr>
      </p:sp>
      <p:sp>
        <p:nvSpPr>
          <p:cNvPr id="17" name="Text 14"/>
          <p:cNvSpPr txBox="1"/>
          <p:nvPr/>
        </p:nvSpPr>
        <p:spPr>
          <a:xfrm>
            <a:off x="6364224" y="786384"/>
            <a:ext cx="1865376" cy="137160"/>
          </a:xfrm>
          <a:prstGeom prst="rect">
            <a:avLst/>
          </a:prstGeom>
          <a:noFill/>
        </p:spPr>
        <p:txBody>
          <a:bodyPr wrap="square" lIns="0" tIns="0" rIns="0" bIns="0" rtlCol="0" anchor="t"/>
          <a:lstStyle/>
          <a:p>
            <a:pPr marL="0" indent="0">
              <a:buNone/>
            </a:pPr>
            <a:r>
              <a:rPr lang="en-US" sz="700" b="1" kern="0" spc="100" dirty="0">
                <a:solidFill>
                  <a:srgbClr val="B42318"/>
                </a:solidFill>
                <a:latin typeface="Calibri" panose="020F0502020204030204" pitchFamily="34" charset="0"/>
                <a:ea typeface="Calibri" panose="020F0502020204030204" pitchFamily="34" charset="-122"/>
                <a:cs typeface="Calibri" panose="020F0502020204030204" pitchFamily="34" charset="-120"/>
              </a:rPr>
              <a:t>EMERGENCY SUPPORT</a:t>
            </a:r>
            <a:endParaRPr lang="en-US" sz="700" dirty="0"/>
          </a:p>
        </p:txBody>
      </p:sp>
      <p:sp>
        <p:nvSpPr>
          <p:cNvPr id="18" name="Text 15"/>
          <p:cNvSpPr txBox="1"/>
          <p:nvPr/>
        </p:nvSpPr>
        <p:spPr>
          <a:xfrm>
            <a:off x="6364224" y="932688"/>
            <a:ext cx="1865376" cy="457200"/>
          </a:xfrm>
          <a:prstGeom prst="rect">
            <a:avLst/>
          </a:prstGeom>
          <a:noFill/>
        </p:spPr>
        <p:txBody>
          <a:bodyPr wrap="square" lIns="0" tIns="0" rIns="0" bIns="0" rtlCol="0" anchor="t"/>
          <a:lstStyle/>
          <a:p>
            <a:pPr marL="0" indent="0">
              <a:buNone/>
            </a:pPr>
            <a:r>
              <a:rPr lang="en-US" sz="1100" b="1" dirty="0">
                <a:solidFill>
                  <a:srgbClr val="1F1612"/>
                </a:solidFill>
                <a:latin typeface="Cambria" panose="02040503050406030204" pitchFamily="34" charset="0"/>
                <a:ea typeface="Cambria" panose="02040503050406030204" pitchFamily="34" charset="-122"/>
                <a:cs typeface="Cambria" panose="02040503050406030204" pitchFamily="34" charset="-120"/>
              </a:rPr>
              <a:t>Get help from someone you trust.</a:t>
            </a:r>
            <a:endParaRPr lang="en-US" sz="1100" dirty="0"/>
          </a:p>
        </p:txBody>
      </p:sp>
      <p:sp>
        <p:nvSpPr>
          <p:cNvPr id="19" name="Shape 16"/>
          <p:cNvSpPr/>
          <p:nvPr/>
        </p:nvSpPr>
        <p:spPr>
          <a:xfrm>
            <a:off x="6336792" y="1472184"/>
            <a:ext cx="1865376" cy="457200"/>
          </a:xfrm>
          <a:prstGeom prst="roundRect">
            <a:avLst>
              <a:gd name="adj" fmla="val 20000"/>
            </a:avLst>
          </a:prstGeom>
          <a:solidFill>
            <a:srgbClr val="FFF3E8"/>
          </a:solidFill>
          <a:ln w="6350">
            <a:solidFill>
              <a:srgbClr val="F0D6C3"/>
            </a:solidFill>
            <a:prstDash val="solid"/>
          </a:ln>
        </p:spPr>
      </p:sp>
      <p:sp>
        <p:nvSpPr>
          <p:cNvPr id="20" name="Shape 17"/>
          <p:cNvSpPr/>
          <p:nvPr/>
        </p:nvSpPr>
        <p:spPr>
          <a:xfrm>
            <a:off x="6437376" y="1664208"/>
            <a:ext cx="73152" cy="73152"/>
          </a:xfrm>
          <a:prstGeom prst="ellipse">
            <a:avLst/>
          </a:prstGeom>
          <a:solidFill>
            <a:srgbClr val="2F6B4F"/>
          </a:solidFill>
          <a:ln w="6350">
            <a:solidFill>
              <a:srgbClr val="2F6B4F"/>
            </a:solidFill>
            <a:prstDash val="solid"/>
          </a:ln>
        </p:spPr>
      </p:sp>
      <p:sp>
        <p:nvSpPr>
          <p:cNvPr id="21" name="Text 18"/>
          <p:cNvSpPr txBox="1"/>
          <p:nvPr/>
        </p:nvSpPr>
        <p:spPr>
          <a:xfrm>
            <a:off x="6583680" y="1609344"/>
            <a:ext cx="1499616" cy="182880"/>
          </a:xfrm>
          <a:prstGeom prst="rect">
            <a:avLst/>
          </a:prstGeom>
          <a:noFill/>
        </p:spPr>
        <p:txBody>
          <a:bodyPr wrap="square" lIns="0" tIns="0" rIns="0" bIns="0" rtlCol="0" anchor="t"/>
          <a:lstStyle/>
          <a:p>
            <a:pPr marL="0" indent="0">
              <a:buNone/>
            </a:pPr>
            <a:r>
              <a:rPr lang="en-US" sz="750" b="1" dirty="0">
                <a:solidFill>
                  <a:srgbClr val="1F1612"/>
                </a:solidFill>
                <a:latin typeface="Calibri" panose="020F0502020204030204" pitchFamily="34" charset="0"/>
                <a:ea typeface="Calibri" panose="020F0502020204030204" pitchFamily="34" charset="-122"/>
                <a:cs typeface="Calibri" panose="020F0502020204030204" pitchFamily="34" charset="-120"/>
              </a:rPr>
              <a:t>Online · emergency screen available</a:t>
            </a:r>
            <a:endParaRPr lang="en-US" sz="750" dirty="0"/>
          </a:p>
        </p:txBody>
      </p:sp>
      <p:sp>
        <p:nvSpPr>
          <p:cNvPr id="22" name="Text 19"/>
          <p:cNvSpPr txBox="1"/>
          <p:nvPr/>
        </p:nvSpPr>
        <p:spPr>
          <a:xfrm>
            <a:off x="6583680" y="1764792"/>
            <a:ext cx="1499616" cy="137160"/>
          </a:xfrm>
          <a:prstGeom prst="rect">
            <a:avLst/>
          </a:prstGeom>
          <a:noFill/>
        </p:spPr>
        <p:txBody>
          <a:bodyPr wrap="square" lIns="0" tIns="0" rIns="0" bIns="0" rtlCol="0" anchor="t"/>
          <a:lstStyle/>
          <a:p>
            <a:pPr marL="0" indent="0">
              <a:buNone/>
            </a:pPr>
            <a:r>
              <a:rPr lang="en-US" sz="650" dirty="0">
                <a:solidFill>
                  <a:srgbClr val="6E6057"/>
                </a:solidFill>
                <a:latin typeface="Calibri" panose="020F0502020204030204" pitchFamily="34" charset="0"/>
                <a:ea typeface="Calibri" panose="020F0502020204030204" pitchFamily="34" charset="-122"/>
                <a:cs typeface="Calibri" panose="020F0502020204030204" pitchFamily="34" charset="-120"/>
              </a:rPr>
              <a:t>Nothing is sent automatically.</a:t>
            </a:r>
            <a:endParaRPr lang="en-US" sz="650" dirty="0"/>
          </a:p>
        </p:txBody>
      </p:sp>
      <p:sp>
        <p:nvSpPr>
          <p:cNvPr id="23" name="Text 20"/>
          <p:cNvSpPr txBox="1"/>
          <p:nvPr/>
        </p:nvSpPr>
        <p:spPr>
          <a:xfrm>
            <a:off x="6364224" y="2048256"/>
            <a:ext cx="1865376" cy="182880"/>
          </a:xfrm>
          <a:prstGeom prst="rect">
            <a:avLst/>
          </a:prstGeom>
          <a:noFill/>
        </p:spPr>
        <p:txBody>
          <a:bodyPr wrap="square" lIns="0" tIns="0" rIns="0" bIns="0" rtlCol="0" anchor="t"/>
          <a:lstStyle/>
          <a:p>
            <a:pPr marL="0" indent="0">
              <a:buNone/>
            </a:pPr>
            <a:r>
              <a:rPr lang="en-US" sz="850" b="1" dirty="0">
                <a:solidFill>
                  <a:srgbClr val="1F1612"/>
                </a:solidFill>
                <a:latin typeface="Calibri" panose="020F0502020204030204" pitchFamily="34" charset="0"/>
                <a:ea typeface="Calibri" panose="020F0502020204030204" pitchFamily="34" charset="-122"/>
                <a:cs typeface="Calibri" panose="020F0502020204030204" pitchFamily="34" charset="-120"/>
              </a:rPr>
              <a:t>Trusted contact</a:t>
            </a:r>
            <a:endParaRPr lang="en-US" sz="850" dirty="0"/>
          </a:p>
        </p:txBody>
      </p:sp>
      <p:sp>
        <p:nvSpPr>
          <p:cNvPr id="24" name="Shape 21"/>
          <p:cNvSpPr/>
          <p:nvPr/>
        </p:nvSpPr>
        <p:spPr>
          <a:xfrm>
            <a:off x="6336792" y="2249424"/>
            <a:ext cx="1865376" cy="274320"/>
          </a:xfrm>
          <a:prstGeom prst="roundRect">
            <a:avLst>
              <a:gd name="adj" fmla="val 20000"/>
            </a:avLst>
          </a:prstGeom>
          <a:solidFill>
            <a:srgbClr val="FFFFFF"/>
          </a:solidFill>
          <a:ln w="9525">
            <a:solidFill>
              <a:srgbClr val="F0D6C3"/>
            </a:solidFill>
            <a:prstDash val="solid"/>
          </a:ln>
        </p:spPr>
      </p:sp>
      <p:sp>
        <p:nvSpPr>
          <p:cNvPr id="25" name="Text 22"/>
          <p:cNvSpPr txBox="1"/>
          <p:nvPr/>
        </p:nvSpPr>
        <p:spPr>
          <a:xfrm>
            <a:off x="6428232" y="2304288"/>
            <a:ext cx="1682496" cy="164592"/>
          </a:xfrm>
          <a:prstGeom prst="rect">
            <a:avLst/>
          </a:prstGeom>
          <a:noFill/>
        </p:spPr>
        <p:txBody>
          <a:bodyPr wrap="square" lIns="0" tIns="0" rIns="0" bIns="0" rtlCol="0" anchor="t"/>
          <a:lstStyle/>
          <a:p>
            <a:pPr marL="0" indent="0">
              <a:buNone/>
            </a:pPr>
            <a:r>
              <a:rPr lang="en-US" sz="800" dirty="0">
                <a:solidFill>
                  <a:srgbClr val="1F1612"/>
                </a:solidFill>
                <a:latin typeface="Calibri" panose="020F0502020204030204" pitchFamily="34" charset="0"/>
                <a:ea typeface="Calibri" panose="020F0502020204030204" pitchFamily="34" charset="-122"/>
                <a:cs typeface="Calibri" panose="020F0502020204030204" pitchFamily="34" charset="-120"/>
              </a:rPr>
              <a:t>+1 555 000 0000</a:t>
            </a:r>
            <a:endParaRPr lang="en-US" sz="800" dirty="0"/>
          </a:p>
        </p:txBody>
      </p:sp>
      <p:sp>
        <p:nvSpPr>
          <p:cNvPr id="26" name="Shape 23"/>
          <p:cNvSpPr/>
          <p:nvPr/>
        </p:nvSpPr>
        <p:spPr>
          <a:xfrm>
            <a:off x="6336792" y="2633472"/>
            <a:ext cx="1865376" cy="384048"/>
          </a:xfrm>
          <a:prstGeom prst="roundRect">
            <a:avLst>
              <a:gd name="adj" fmla="val 23810"/>
            </a:avLst>
          </a:prstGeom>
          <a:solidFill>
            <a:srgbClr val="B42318"/>
          </a:solidFill>
          <a:ln w="6350">
            <a:solidFill>
              <a:srgbClr val="B42318"/>
            </a:solidFill>
            <a:prstDash val="solid"/>
          </a:ln>
        </p:spPr>
      </p:sp>
      <p:pic>
        <p:nvPicPr>
          <p:cNvPr id="27" name="Image 1" descr="preencoded.png"/>
          <p:cNvPicPr>
            <a:picLocks noChangeAspect="1"/>
          </p:cNvPicPr>
          <p:nvPr/>
        </p:nvPicPr>
        <p:blipFill>
          <a:blip r:embed="rId2"/>
          <a:stretch>
            <a:fillRect/>
          </a:stretch>
        </p:blipFill>
        <p:spPr>
          <a:xfrm>
            <a:off x="6473952" y="2734056"/>
            <a:ext cx="182880" cy="182880"/>
          </a:xfrm>
          <a:prstGeom prst="rect">
            <a:avLst/>
          </a:prstGeom>
        </p:spPr>
      </p:pic>
      <p:sp>
        <p:nvSpPr>
          <p:cNvPr id="28" name="Text 24"/>
          <p:cNvSpPr txBox="1"/>
          <p:nvPr/>
        </p:nvSpPr>
        <p:spPr>
          <a:xfrm>
            <a:off x="6748272" y="2706624"/>
            <a:ext cx="1316736" cy="228600"/>
          </a:xfrm>
          <a:prstGeom prst="rect">
            <a:avLst/>
          </a:prstGeom>
          <a:noFill/>
        </p:spPr>
        <p:txBody>
          <a:bodyPr wrap="square" lIns="0" tIns="0" rIns="0" bIns="0" rtlCol="0" anchor="ctr"/>
          <a:lstStyle/>
          <a:p>
            <a:pPr marL="0" indent="0">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Call trusted contact</a:t>
            </a:r>
            <a:endParaRPr lang="en-US" sz="900" dirty="0"/>
          </a:p>
        </p:txBody>
      </p:sp>
      <p:sp>
        <p:nvSpPr>
          <p:cNvPr id="29" name="Shape 25"/>
          <p:cNvSpPr/>
          <p:nvPr/>
        </p:nvSpPr>
        <p:spPr>
          <a:xfrm>
            <a:off x="6336792" y="3108960"/>
            <a:ext cx="1865376" cy="347472"/>
          </a:xfrm>
          <a:prstGeom prst="roundRect">
            <a:avLst>
              <a:gd name="adj" fmla="val 26316"/>
            </a:avLst>
          </a:prstGeom>
          <a:solidFill>
            <a:srgbClr val="FFFFFF"/>
          </a:solidFill>
          <a:ln w="12700">
            <a:solidFill>
              <a:srgbClr val="C2410C"/>
            </a:solidFill>
            <a:prstDash val="solid"/>
          </a:ln>
        </p:spPr>
      </p:sp>
      <p:sp>
        <p:nvSpPr>
          <p:cNvPr id="30" name="Text 26"/>
          <p:cNvSpPr txBox="1"/>
          <p:nvPr/>
        </p:nvSpPr>
        <p:spPr>
          <a:xfrm>
            <a:off x="6336792" y="3182112"/>
            <a:ext cx="1865376" cy="201168"/>
          </a:xfrm>
          <a:prstGeom prst="rect">
            <a:avLst/>
          </a:prstGeom>
          <a:noFill/>
        </p:spPr>
        <p:txBody>
          <a:bodyPr wrap="square" lIns="0" tIns="0" rIns="0" bIns="0" rtlCol="0" anchor="t"/>
          <a:lstStyle/>
          <a:p>
            <a:pPr marL="0" indent="0" algn="ctr">
              <a:buNone/>
            </a:pPr>
            <a:r>
              <a:rPr lang="en-US" sz="850" b="1" dirty="0">
                <a:solidFill>
                  <a:srgbClr val="C2410C"/>
                </a:solidFill>
                <a:latin typeface="Calibri" panose="020F0502020204030204" pitchFamily="34" charset="0"/>
                <a:ea typeface="Calibri" panose="020F0502020204030204" pitchFamily="34" charset="-122"/>
                <a:cs typeface="Calibri" panose="020F0502020204030204" pitchFamily="34" charset="-120"/>
              </a:rPr>
              <a:t>Get my location</a:t>
            </a:r>
            <a:endParaRPr lang="en-US" sz="850" dirty="0"/>
          </a:p>
        </p:txBody>
      </p:sp>
      <p:sp>
        <p:nvSpPr>
          <p:cNvPr id="31" name="Shape 27"/>
          <p:cNvSpPr/>
          <p:nvPr/>
        </p:nvSpPr>
        <p:spPr>
          <a:xfrm>
            <a:off x="6336792" y="3547872"/>
            <a:ext cx="1865376" cy="347472"/>
          </a:xfrm>
          <a:prstGeom prst="roundRect">
            <a:avLst>
              <a:gd name="adj" fmla="val 26316"/>
            </a:avLst>
          </a:prstGeom>
          <a:solidFill>
            <a:srgbClr val="FFFFFF"/>
          </a:solidFill>
          <a:ln w="12700">
            <a:solidFill>
              <a:srgbClr val="C2410C"/>
            </a:solidFill>
            <a:prstDash val="solid"/>
          </a:ln>
        </p:spPr>
      </p:sp>
      <p:sp>
        <p:nvSpPr>
          <p:cNvPr id="32" name="Text 28"/>
          <p:cNvSpPr txBox="1"/>
          <p:nvPr/>
        </p:nvSpPr>
        <p:spPr>
          <a:xfrm>
            <a:off x="6336792" y="3621024"/>
            <a:ext cx="1865376" cy="201168"/>
          </a:xfrm>
          <a:prstGeom prst="rect">
            <a:avLst/>
          </a:prstGeom>
          <a:noFill/>
        </p:spPr>
        <p:txBody>
          <a:bodyPr wrap="square" lIns="0" tIns="0" rIns="0" bIns="0" rtlCol="0" anchor="t"/>
          <a:lstStyle/>
          <a:p>
            <a:pPr marL="0" indent="0" algn="ctr">
              <a:buNone/>
            </a:pPr>
            <a:r>
              <a:rPr lang="en-US" sz="850" b="1" dirty="0">
                <a:solidFill>
                  <a:srgbClr val="C2410C"/>
                </a:solidFill>
                <a:latin typeface="Calibri" panose="020F0502020204030204" pitchFamily="34" charset="0"/>
                <a:ea typeface="Calibri" panose="020F0502020204030204" pitchFamily="34" charset="-122"/>
                <a:cs typeface="Calibri" panose="020F0502020204030204" pitchFamily="34" charset="-120"/>
              </a:rPr>
              <a:t>Prepare location text</a:t>
            </a:r>
            <a:endParaRPr lang="en-US" sz="850" dirty="0"/>
          </a:p>
        </p:txBody>
      </p:sp>
      <p:sp>
        <p:nvSpPr>
          <p:cNvPr id="33" name="Shape 29"/>
          <p:cNvSpPr/>
          <p:nvPr/>
        </p:nvSpPr>
        <p:spPr>
          <a:xfrm>
            <a:off x="6291072" y="4334256"/>
            <a:ext cx="1956816" cy="0"/>
          </a:xfrm>
          <a:prstGeom prst="line">
            <a:avLst/>
          </a:prstGeom>
          <a:noFill/>
          <a:ln w="9525">
            <a:solidFill>
              <a:srgbClr val="F0D6C3"/>
            </a:solidFill>
            <a:prstDash val="solid"/>
          </a:ln>
        </p:spPr>
      </p:sp>
      <p:pic>
        <p:nvPicPr>
          <p:cNvPr id="34" name="Image 2" descr="preencoded.png"/>
          <p:cNvPicPr>
            <a:picLocks noChangeAspect="1"/>
          </p:cNvPicPr>
          <p:nvPr/>
        </p:nvPicPr>
        <p:blipFill>
          <a:blip r:embed="rId3"/>
          <a:stretch>
            <a:fillRect/>
          </a:stretch>
        </p:blipFill>
        <p:spPr>
          <a:xfrm>
            <a:off x="6371844" y="4462272"/>
            <a:ext cx="164592" cy="164592"/>
          </a:xfrm>
          <a:prstGeom prst="rect">
            <a:avLst/>
          </a:prstGeom>
        </p:spPr>
      </p:pic>
      <p:pic>
        <p:nvPicPr>
          <p:cNvPr id="35" name="Image 3" descr="preencoded.png"/>
          <p:cNvPicPr>
            <a:picLocks noChangeAspect="1"/>
          </p:cNvPicPr>
          <p:nvPr/>
        </p:nvPicPr>
        <p:blipFill>
          <a:blip r:embed="rId4"/>
          <a:stretch>
            <a:fillRect/>
          </a:stretch>
        </p:blipFill>
        <p:spPr>
          <a:xfrm>
            <a:off x="6697980" y="4462272"/>
            <a:ext cx="164592" cy="164592"/>
          </a:xfrm>
          <a:prstGeom prst="rect">
            <a:avLst/>
          </a:prstGeom>
        </p:spPr>
      </p:pic>
      <p:pic>
        <p:nvPicPr>
          <p:cNvPr id="36" name="Image 4" descr="preencoded.png"/>
          <p:cNvPicPr>
            <a:picLocks noChangeAspect="1"/>
          </p:cNvPicPr>
          <p:nvPr/>
        </p:nvPicPr>
        <p:blipFill>
          <a:blip r:embed="rId5"/>
          <a:stretch>
            <a:fillRect/>
          </a:stretch>
        </p:blipFill>
        <p:spPr>
          <a:xfrm>
            <a:off x="7024116" y="4462272"/>
            <a:ext cx="164592" cy="164592"/>
          </a:xfrm>
          <a:prstGeom prst="rect">
            <a:avLst/>
          </a:prstGeom>
        </p:spPr>
      </p:pic>
      <p:pic>
        <p:nvPicPr>
          <p:cNvPr id="37" name="Image 5" descr="preencoded.png"/>
          <p:cNvPicPr>
            <a:picLocks noChangeAspect="1"/>
          </p:cNvPicPr>
          <p:nvPr/>
        </p:nvPicPr>
        <p:blipFill>
          <a:blip r:embed="rId6"/>
          <a:stretch>
            <a:fillRect/>
          </a:stretch>
        </p:blipFill>
        <p:spPr>
          <a:xfrm>
            <a:off x="7350252" y="4462272"/>
            <a:ext cx="164592" cy="164592"/>
          </a:xfrm>
          <a:prstGeom prst="rect">
            <a:avLst/>
          </a:prstGeom>
        </p:spPr>
      </p:pic>
      <p:pic>
        <p:nvPicPr>
          <p:cNvPr id="38" name="Image 6" descr="preencoded.png"/>
          <p:cNvPicPr>
            <a:picLocks noChangeAspect="1"/>
          </p:cNvPicPr>
          <p:nvPr/>
        </p:nvPicPr>
        <p:blipFill>
          <a:blip r:embed="rId7"/>
          <a:stretch>
            <a:fillRect/>
          </a:stretch>
        </p:blipFill>
        <p:spPr>
          <a:xfrm>
            <a:off x="7676388" y="4462272"/>
            <a:ext cx="164592" cy="164592"/>
          </a:xfrm>
          <a:prstGeom prst="rect">
            <a:avLst/>
          </a:prstGeom>
        </p:spPr>
      </p:pic>
      <p:pic>
        <p:nvPicPr>
          <p:cNvPr id="39" name="Image 7" descr="preencoded.png"/>
          <p:cNvPicPr>
            <a:picLocks noChangeAspect="1"/>
          </p:cNvPicPr>
          <p:nvPr/>
        </p:nvPicPr>
        <p:blipFill>
          <a:blip r:embed="rId8"/>
          <a:stretch>
            <a:fillRect/>
          </a:stretch>
        </p:blipFill>
        <p:spPr>
          <a:xfrm>
            <a:off x="8002524" y="4462272"/>
            <a:ext cx="164592" cy="164592"/>
          </a:xfrm>
          <a:prstGeom prst="rect">
            <a:avLst/>
          </a:prstGeom>
        </p:spPr>
      </p:pic>
    </p:spTree>
  </p:cSld>
  <p:clrMapOvr>
    <a:masterClrMapping/>
  </p:clrMapOvr>
</p:sld>
</file>

<file path=ppt/theme/theme1.xml><?xml version="1.0" encoding="utf-8"?>
<a:theme xmlns:a="http://schemas.openxmlformats.org/drawingml/2006/main" name="VisionMate">
  <a:themeElements>
    <a:clrScheme name="VisionMate">
      <a:dk1>
        <a:srgbClr val="1F1612"/>
      </a:dk1>
      <a:lt1>
        <a:srgbClr val="FFFFFF"/>
      </a:lt1>
      <a:dk2>
        <a:srgbClr val="9A3412"/>
      </a:dk2>
      <a:lt2>
        <a:srgbClr val="FFF3E8"/>
      </a:lt2>
      <a:accent1>
        <a:srgbClr val="C2410C"/>
      </a:accent1>
      <a:accent2>
        <a:srgbClr val="B45309"/>
      </a:accent2>
      <a:accent3>
        <a:srgbClr val="2F6B4F"/>
      </a:accent3>
      <a:accent4>
        <a:srgbClr val="B42318"/>
      </a:accent4>
      <a:accent5>
        <a:srgbClr val="6E6057"/>
      </a:accent5>
      <a:accent6>
        <a:srgbClr val="F0D6C3"/>
      </a:accent6>
      <a:hlink>
        <a:srgbClr val="C2410C"/>
      </a:hlink>
      <a:folHlink>
        <a:srgbClr val="9A3412"/>
      </a:folHlink>
    </a:clrScheme>
    <a:fontScheme name="Vision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isionMate">
  <a:themeElements>
    <a:clrScheme name="VisionMate">
      <a:dk1>
        <a:srgbClr val="1F1612"/>
      </a:dk1>
      <a:lt1>
        <a:srgbClr val="FFFFFF"/>
      </a:lt1>
      <a:dk2>
        <a:srgbClr val="9A3412"/>
      </a:dk2>
      <a:lt2>
        <a:srgbClr val="FFF3E8"/>
      </a:lt2>
      <a:accent1>
        <a:srgbClr val="C2410C"/>
      </a:accent1>
      <a:accent2>
        <a:srgbClr val="B45309"/>
      </a:accent2>
      <a:accent3>
        <a:srgbClr val="2F6B4F"/>
      </a:accent3>
      <a:accent4>
        <a:srgbClr val="B42318"/>
      </a:accent4>
      <a:accent5>
        <a:srgbClr val="6E6057"/>
      </a:accent5>
      <a:accent6>
        <a:srgbClr val="F0D6C3"/>
      </a:accent6>
      <a:hlink>
        <a:srgbClr val="C2410C"/>
      </a:hlink>
      <a:folHlink>
        <a:srgbClr val="9A3412"/>
      </a:folHlink>
    </a:clrScheme>
    <a:fontScheme name="VisionM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4864</Words>
  <Application>WPS Presentation</Application>
  <PresentationFormat>On-screen Show (16:9)</PresentationFormat>
  <Paragraphs>415</Paragraphs>
  <Slides>13</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Calibri</vt:lpstr>
      <vt:lpstr>Cambria</vt:lpstr>
      <vt:lpstr>Cambria</vt:lpstr>
      <vt:lpstr>Cambria</vt:lpstr>
      <vt:lpstr>Calibri</vt:lpstr>
      <vt:lpstr>Calibri</vt:lpstr>
      <vt:lpstr>Calibri</vt:lpstr>
      <vt:lpstr>Microsoft YaHei</vt:lpstr>
      <vt:lpstr>Arial Unicode MS</vt:lpstr>
      <vt:lpstr>VisionMate</vt:lpstr>
      <vt:lpstr>PowerPoint 演示文稿</vt:lpstr>
      <vt:lpstr>The world assumes you can see</vt:lpstr>
      <vt:lpstr>Meet VisionMate</vt:lpstr>
      <vt:lpstr>Built for people who listen first</vt:lpstr>
      <vt:lpstr>Everything in one app</vt:lpstr>
      <vt:lpstr>Vision Lens: point, ask, listen</vt:lpstr>
      <vt:lpstr>Controls for thumbs and ears</vt:lpstr>
      <vt:lpstr>A web app that acts like an app</vt:lpstr>
      <vt:lpstr>How it works under the hood</vt:lpstr>
      <vt:lpstr>What changes for a blind user</vt:lpstr>
      <vt:lpstr>Honest by design</vt:lpstr>
      <vt:lpstr>Where it goes next</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VisionMate — Hackathon Review</dc:title>
  <dc:creator>VisionMate team</dc:creator>
  <dc:subject>PptxGenJS Presentation</dc:subject>
  <cp:lastModifiedBy>Lithish</cp:lastModifiedBy>
  <cp:revision>3</cp:revision>
  <dcterms:created xsi:type="dcterms:W3CDTF">2026-10-11T04:27:00Z</dcterms:created>
  <dcterms:modified xsi:type="dcterms:W3CDTF">2026-10-11T05:53:51Z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CABD145C6E6D4152B56CA70310BBF625_13</vt:lpwstr>
  </property>
</Properties>
</file>